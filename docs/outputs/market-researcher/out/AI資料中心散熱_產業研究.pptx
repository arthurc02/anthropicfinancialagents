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latin typeface="Microsoft JhengHei"/>
              </a:rPr>
              <a:t>液冷市場規模軌跡（Dell'Oro 製造商收入口徑）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液冷市場 (US$ B, Dell'Oro 口徑)</c:v>
                </c:pt>
              </c:strCache>
            </c:strRef>
          </c:tx>
          <c:spPr>
            <a:solidFill>
              <a:srgbClr val="2E9BD6"/>
            </a:solidFill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2027E</c:v>
                </c:pt>
                <c:pt idx="4">
                  <c:v>2029E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1.5</c:v>
                </c:pt>
                <c:pt idx="2">
                  <c:v>3.0</c:v>
                </c:pt>
                <c:pt idx="3">
                  <c:v>5.0</c:v>
                </c:pt>
                <c:pt idx="4">
                  <c:v>7.0</c:v>
                </c:pt>
              </c:numCache>
            </c:numRef>
          </c:val>
        </c:ser>
        <c:dLbls>
          <c:numFmt formatCode="&quot;$&quot;0.0&quot;B&quot;" sourceLinked="0"/>
          <c:txPr>
            <a:bodyPr/>
            <a:lstStyle/>
            <a:p>
              <a:pPr>
                <a:defRPr sz="1100" b="1">
                  <a:solidFill>
                    <a:srgbClr val="0B1F3A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Jheng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46304" cy="2377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9BD6"/>
                </a:solidFill>
                <a:latin typeface="Microsoft JhengHei"/>
              </a:rPr>
              <a:t>產業研究 SECTOR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7899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Microsoft JhengHei"/>
              </a:rPr>
              <a:t>AI 資料中心散熱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BBCDE0"/>
                </a:solidFill>
                <a:latin typeface="Microsoft JhengHei"/>
              </a:rPr>
              <a:t>Data Center Cooling / Thermal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D7E2EE"/>
                </a:solidFill>
                <a:latin typeface="Microsoft JhengHei"/>
              </a:rPr>
              <a:t>由「物理極限」強制驅動的結構性轉變 — 風冷在 ~20kW/機櫃觸頂，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D7E2EE"/>
                </a:solidFill>
                <a:latin typeface="Microsoft JhengHei"/>
              </a:rPr>
              <a:t>GB200 世代起所有機櫃級系統「非液冷不可」，由 2026 年約 $6,600–7,250 億雲端資本支出推動。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FB6CE"/>
                </a:solidFill>
                <a:latin typeface="Microsoft JhengHei"/>
              </a:rPr>
              <a:t>產業概覽 · 競爭格局 · 同業比較 · 標的清單      |      資料時點：2026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投資重點：一個確定性極高的結構性轉變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10972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0200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拐點已至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22A35"/>
                </a:solidFill>
                <a:latin typeface="Microsoft JhengHei"/>
              </a:rPr>
              <a:t>2025 = 拐點年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43200"/>
            <a:ext cx="2368296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Microsoft JhengHei"/>
              </a:rPr>
              <a:t>液冷從「尖端」變「基本盤」；NVIDIA GB200/GB300 參考架構直接把 D2C 液冷列為規格要求。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3716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371600"/>
            <a:ext cx="2697480" cy="109728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600200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A38C"/>
                </a:solidFill>
                <a:latin typeface="Microsoft JhengHei"/>
              </a:rPr>
              <a:t>成長動能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993392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22A35"/>
                </a:solidFill>
                <a:latin typeface="Microsoft JhengHei"/>
              </a:rPr>
              <a:t>液冷 ~20%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743200"/>
            <a:ext cx="2368296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Microsoft JhengHei"/>
              </a:rPr>
              <a:t>Dell'Oro：液冷 2025 ~$3B（年增約一倍）→ 2029 ~$7B；熱管理本世紀末規模追平 UPS。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3716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371600"/>
            <a:ext cx="269748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600200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E89A1C"/>
                </a:solidFill>
                <a:latin typeface="Microsoft JhengHei"/>
              </a:rPr>
              <a:t>資金引擎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22A35"/>
                </a:solidFill>
                <a:latin typeface="Microsoft JhengHei"/>
              </a:rPr>
              <a:t>2026 資本支出 ~$700B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743200"/>
            <a:ext cx="2368296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Microsoft JhengHei"/>
              </a:rPr>
              <a:t>四大 + Oracle 合計年增 ~77%，約 75% 與 AI 相關；Goldman 估 FY25–30 累計 5.3 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3716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371600"/>
            <a:ext cx="26974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600200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選股主軸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93392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22A35"/>
                </a:solidFill>
                <a:latin typeface="Microsoft JhengHei"/>
              </a:rPr>
              <a:t>純度決定估值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43200"/>
            <a:ext cx="2368296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5A5A"/>
                </a:solidFill>
                <a:latin typeface="Microsoft JhengHei"/>
              </a:rPr>
              <a:t>真正純散熱上市標的稀少：Vertiv、Auras、AVC、Envicool；倍數隨「散熱純度」走高。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112471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為何「非液冷不可」？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GPU 功耗階梯：H100 700W → B200 1,000W → GB300 1,400W → Vera Rubin ~1,800–2,300W → 2029 年預估 &gt;4,000W（Dell'Oro）。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機櫃密度階梯：企業 ~15kW → H100 風冷 ~40kW → GB200 NVL72 ~120kW → Rubin Ultra 'Kyber' ~600kW（2027）→ Feynman ~1MW。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• 風冷 ~20kW/機櫃即觸頂；GB200 起每一代都超出風冷上限 2–15 倍 → 液冷成為強制規格，而非選配。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MARKET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市場規模：液冷是核心成長向量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4297680" cy="4480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錨定數字（Dell'Oro 窄口徑）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icrosoft JhengHei"/>
              </a:rPr>
              <a:t>液冷 2025 約 $3B（年增約一倍），2029 達約 $7B。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icrosoft JhengHei"/>
              </a:rPr>
              <a:t>資料中心實體基礎設施 (DCPI) 2030 突破 $80B，中雙位數 CAGR。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6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廣口徑長天期（不可與上方混用）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icrosoft JhengHei"/>
              </a:rPr>
              <a:t>液冷 2031–2035 約 $18–29B，CAGR ~20%（Grand View / Mordor / Precedence）。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icrosoft JhengHei"/>
              </a:rPr>
              <a:t>AI 專用液冷 2036 約 $17.8B，CAGR ~17%（IDTechEx / FMI）。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6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C03A2B"/>
                </a:solidFill>
                <a:latin typeface="Microsoft JhengHei"/>
              </a:rPr>
              <a:t>⚠ 口徑差異約 2 倍 — 頭條用 Dell'Oro／Omdia，液冷深入用 IDTechEx／Mordor。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1417320"/>
          <a:ext cx="66751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TECHNOLOGY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技術分段：Direct-to-Chip 冷板式是贏家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2926080"/>
                <a:gridCol w="5440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技術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份額 / 現況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關鍵點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A35"/>
                          </a:solidFill>
                          <a:latin typeface="Microsoft JhengHei"/>
                        </a:rPr>
                        <a:t>風冷 (CRAC/CRAH)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2024 約 54% 市場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裝機主力，但 ~20kW/機櫃即達實用上限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A35"/>
                          </a:solidFill>
                          <a:latin typeface="Microsoft JhengHei"/>
                        </a:rPr>
                        <a:t>D2C 冷板式 ✓</a:t>
                      </a:r>
                    </a:p>
                  </a:txBody>
                  <a:tcPr marL="63500" marR="50800" marT="25400" marB="25400" anchor="ctr">
                    <a:solidFill>
                      <a:srgbClr val="E3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佔液冷市場 73–75%</a:t>
                      </a:r>
                    </a:p>
                  </a:txBody>
                  <a:tcPr marL="63500" marR="50800" marT="25400" marB="25400" anchor="ctr">
                    <a:solidFill>
                      <a:srgbClr val="E3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雲端建置主流；單相為主、雙相隨 TDP 滲透</a:t>
                      </a:r>
                    </a:p>
                  </a:txBody>
                  <a:tcPr marL="63500" marR="50800" marT="25400" marB="25400" anchor="ctr">
                    <a:solidFill>
                      <a:srgbClr val="E3F1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A35"/>
                          </a:solidFill>
                          <a:latin typeface="Microsoft JhengHei"/>
                        </a:rPr>
                        <a:t>浸沒式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2024 約佔液冷投資 17%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利基；需機櫃密度穩定 &gt;150–200kW 才放量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A35"/>
                          </a:solidFill>
                          <a:latin typeface="Microsoft JhengHei"/>
                        </a:rPr>
                        <a:t>後門熱交換器 RDHx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83% 新建案一年內導入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A35"/>
                          </a:solidFill>
                          <a:latin typeface="Microsoft JhengHei"/>
                        </a:rPr>
                        <a:t>過渡/改造方案，常作為導入液冷的橋接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34840"/>
            <a:ext cx="112471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採用率與口徑提醒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DLC 企業採用率 2025 約 22%（與 2024 持平）；58% colo 業者回報客戶有液冷需求（Uptime Institute 2025）。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「70% 液冷 / 30% 風冷」是描述單一高密度 AI 新建案內部組合；「30% 液冷」才是整體市場收入占比（2027–28）。兩者勿混淆。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• 結論：D2C 冷板式吃下液冷主流；浸沒式短期維持利基，待密度再上一階。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DEMAND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需求驅動：功耗與密度的雙重階梯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GPU 功耗 (TDP) 階梯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H100/H200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773936"/>
            <a:ext cx="1123754623200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3756982352" y="173736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700W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B200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249424"/>
            <a:ext cx="1580280710400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0283069552" y="2212848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1,000W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88336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GB300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724912"/>
            <a:ext cx="2107040947200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7043306352" y="2688336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1,400W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63824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Vera Rubin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200400"/>
            <a:ext cx="2879622079200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9624438352" y="3163824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1,800–2,300W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39312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2029E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675888"/>
            <a:ext cx="3511734912000" cy="2743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737271152" y="3639312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&gt;4,000W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2801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機櫃功率密度階梯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企業傳統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773936"/>
            <a:ext cx="52258005720" cy="27432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66281040" y="1737360"/>
            <a:ext cx="12801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~15kW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12848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H100 風冷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249424"/>
            <a:ext cx="146322333720" cy="27432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30609040" y="2212848"/>
            <a:ext cx="12801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~40kW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88336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GB200 NVL72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724912"/>
            <a:ext cx="418063725720" cy="27432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072001040" y="2688336"/>
            <a:ext cx="12801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~120kW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163824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Rubin 'Kyber'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00400"/>
            <a:ext cx="1254191085720" cy="27432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54199361040" y="3163824"/>
            <a:ext cx="12801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~600kW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639312"/>
            <a:ext cx="17373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Feynman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675888"/>
            <a:ext cx="2090318445720" cy="27432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90326721040" y="3639312"/>
            <a:ext cx="12801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~1MW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26280"/>
            <a:ext cx="11201400" cy="14173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663440"/>
            <a:ext cx="107899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四大驅動力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icrosoft JhengHei"/>
              </a:rPr>
              <a:t>① 資本支出引擎：2026 四大 + Oracle ~$660–725B（年增 ~77%），75% 與 AI 相關   ② PUE 連 6 年停滯（~1.54），液冷省 10–50% 能耗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icrosoft JhengHei"/>
              </a:rPr>
              <a:t>③ 用水壓力：AI 資料中心 2028 用水估達 1.07 兆公升（約 11 倍）   ④ NVIDIA 參考架構直接把 D2C 液冷列為規格要求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競爭格局：價值鏈與領導者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743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元件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EAF2F8"/>
                </a:solidFill>
                <a:latin typeface="Microsoft JhengHei"/>
              </a:rPr>
              <a:t>冷板 / 快接頭 / 歧管 / 泵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423160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Boyd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2990088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0088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CoolIT→Ecolab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557016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AVC 3017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123944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23944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Auras 3324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4690872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90872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Parker / Danfoss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5257800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Lotes 3533 · Fositek 6805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832" y="329184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A5A5A"/>
                </a:solidFill>
                <a:latin typeface="Microsoft JhengHe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1371600"/>
            <a:ext cx="2743200" cy="8686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146304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CDU / 熱系統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EAF2F8"/>
                </a:solidFill>
                <a:latin typeface="Microsoft JhengHei"/>
              </a:rPr>
              <a:t>冷卻液分配與全套液冷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5848" y="22860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65576" y="2423160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2423160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2A35"/>
                </a:solidFill>
                <a:latin typeface="Microsoft JhengHei"/>
              </a:rPr>
              <a:t>Vertiv VRT 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2990088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2990088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Schneider (Motivair)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5576" y="3557016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3557016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nVent NVT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5576" y="4123944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8" y="4123944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Boyd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4690872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4690872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Envicool 002837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29184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A5A5A"/>
                </a:solidFill>
                <a:latin typeface="Microsoft JhengHei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1371600"/>
            <a:ext cx="2743200" cy="86868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146304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伺服器 / 機櫃 ODM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EAF2F8"/>
                </a:solidFill>
                <a:latin typeface="Microsoft JhengHei"/>
              </a:rPr>
              <a:t>機櫃級整合與組裝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08776" y="22860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18504" y="2423160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2423160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Foxconn 2317 ~40%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18504" y="2990088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2990088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Quanta 2382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18504" y="3557016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3557016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Wiwynn 6669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18504" y="4123944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7376" y="4123944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Supermicro SMCI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33688" y="329184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A5A5A"/>
                </a:solidFill>
                <a:latin typeface="Microsoft JhengHei"/>
              </a:rPr>
              <a:t>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704" y="1371600"/>
            <a:ext cx="2743200" cy="86868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146304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使能者 / 服務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98864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EAF2F8"/>
                </a:solidFill>
                <a:latin typeface="Microsoft JhengHei"/>
              </a:rPr>
              <a:t>熱交換器 · 快接 · 部署服務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61704" y="22860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71432" y="2423160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0304" y="2423160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Kaori 8210/8996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71432" y="2990088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0304" y="2990088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Fositek 6805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71432" y="3557016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90304" y="3557016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Vertiv 服務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71432" y="4123944"/>
            <a:ext cx="2523744" cy="47548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0304" y="4123944"/>
            <a:ext cx="23774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浸沒：GRC·Submer·LiquidStack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571500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誰在搶份額：</a:t>
            </a:r>
            <a:r>
              <a:rPr sz="1150" b="0">
                <a:solidFill>
                  <a:srgbClr val="222A35"/>
                </a:solidFill>
                <a:latin typeface="Microsoft JhengHei"/>
              </a:rPr>
              <a:t>Vertiv（份額第一）· nVent（backlog 約 3× 最突出新晉）· Schneider（整併中的老二）· 台灣 AVC/Auras（純散熱直接受惠）。  </a:t>
            </a:r>
            <a:r>
              <a:rPr sz="1200" b="1">
                <a:solidFill>
                  <a:srgbClr val="C03A2B"/>
                </a:solidFill>
                <a:latin typeface="Microsoft JhengHei"/>
              </a:rPr>
              <a:t>警示：</a:t>
            </a:r>
            <a:r>
              <a:rPr sz="1150" b="0">
                <a:solidFill>
                  <a:srgbClr val="222A35"/>
                </a:solidFill>
                <a:latin typeface="Microsoft JhengHei"/>
              </a:rPr>
              <a:t>Asetek（已淡出 DC）· Parker（散熱僅 ~1%）。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PEER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同業比較 (Comps)  —  資料約 2026/6/17–18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6132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868680"/>
                <a:gridCol w="1234440"/>
                <a:gridCol w="960120"/>
                <a:gridCol w="914400"/>
                <a:gridCol w="960120"/>
                <a:gridCol w="1188720"/>
                <a:gridCol w="10058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公司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代碼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市值(USD)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營收YoY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營益率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Fwd P/E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EV/EBITDA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1年報酬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純度</a:t>
                      </a:r>
                    </a:p>
                  </a:txBody>
                  <a:tcPr marL="63500" marR="50800" marT="25400" marB="25400" anchor="ctr"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Vertiv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VRT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~$122B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+28%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18.8%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~46x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~51x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+173%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純(高)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nVent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NVT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~$28B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+11%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16.2%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~35x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~32x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+143%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多元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Schneider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SU.PA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~$160B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+5%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17.4%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~28x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~21x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+27%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多元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Supermicro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SMCI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~$18B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+123%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4.5%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~9x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~16x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03A2B"/>
                          </a:solidFill>
                          <a:latin typeface="Microsoft JhengHei"/>
                        </a:rPr>
                        <a:t>−36%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伺服器OEM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Delta 台達電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2308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~$187B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+33%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17.8%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~46x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+454%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多元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Auras 奇鋐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3324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~$3.2B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+48%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14.1%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~21x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+132%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純散熱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AVC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3017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~$31B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+107%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~23x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+217%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DC散熱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Wiwynn 緯穎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6669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~$30B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+129%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6.6%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~13.5x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~13.6x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+103%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ODM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Lotes 嘉澤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3533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~$8.2B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+12%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30.0%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~22.8x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~18.5x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+67%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連接器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Envicool 英維克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002837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~$15B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+32%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8.6%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~77x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+237%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純(最近)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Microsoft JhengHei"/>
                        </a:rPr>
                        <a:t>Parker ⚠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PH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~$119B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+6%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21.7%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~28x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~23x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A38C"/>
                          </a:solidFill>
                          <a:latin typeface="Microsoft JhengHei"/>
                        </a:rPr>
                        <a:t>+43%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A35"/>
                          </a:solidFill>
                          <a:latin typeface="Microsoft JhengHei"/>
                        </a:rPr>
                        <a:t>~1%散熱</a:t>
                      </a:r>
                    </a:p>
                  </a:txBody>
                  <a:tcPr marL="63500" marR="50800" marT="25400" marB="25400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715000"/>
            <a:ext cx="11430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讀法：</a:t>
            </a:r>
            <a:r>
              <a:rPr sz="1000" b="0">
                <a:solidFill>
                  <a:srgbClr val="5A5A5A"/>
                </a:solidFill>
                <a:latin typeface="Microsoft JhengHei"/>
              </a:rPr>
              <a:t>① 估值隨「散熱純度」走高（Vertiv ~51x vs. Schneider ~21x）；② 元件 vs. 系統的 EV/Rev 不可直接比（ODM 為低毛利轉手）；③ 台股中小型 EV 倍數免費源缺漏，標 n/a。代碼校正：Auras=3324、AVC=3017。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WATCHLIST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值得關注標的清單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657600" cy="777240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44752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核心持有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3383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最乾淨的曝險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365760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Vertiv (VRT)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AI 散熱領頭羊；端到端 + NVIDIA 綁定；backlog &gt;$15B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Auras 奇鋐 (3324)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64992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台灣純散熱高 beta；2026 指引 +60–70%；CDU 放量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9624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AVC (3017)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23944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台灣熱模組龍頭；BOM 最廣；能見度看到 2029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371600"/>
            <a:ext cx="3657600" cy="7772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444752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強力觀察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828800"/>
            <a:ext cx="3383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搶份額 / 轉機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194560"/>
            <a:ext cx="365760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331720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nVent (NVT)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06040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最突出新晉搶份額；backlog 約 3×；估值較合理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90672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Schneider (SU.PA)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64992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整併中的老二(Motivair)；grid-to-chip；大型股最便宜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849624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Delta 台達電 (2308)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123944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電源+散熱一體；切入 800VDC AI 工廠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08576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Kaori 高力 (8996)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82896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GB200 板式熱交換器隱形冠軍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67528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Fositek/Lotes (6805/3533)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641848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快接頭/連接器卡點；Rubin 世代受惠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1371600"/>
            <a:ext cx="3657600" cy="77724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1444752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注意風險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1828800"/>
            <a:ext cx="3383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瑕疵 / 不純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194560"/>
            <a:ext cx="365760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2331720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Supermicro (SMCI)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06040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DLC 領先但毛利薄、治理爭議；唯一負報酬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090672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Envicool (002837)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364992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最接近純散熱，但 Q1 淨利 −82%、估值高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849624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Parker / Asetek / INVT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123944"/>
            <a:ext cx="3383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5A5A5A"/>
                </a:solidFill>
                <a:latin typeface="Microsoft JhengHei"/>
              </a:rPr>
              <a:t>散熱曝險過小或業務休眠 — 非純標的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RISKS &amp; DISCLOSURES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JhengHei"/>
              </a:rPr>
              <a:t>風險、方法論與來源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486400" cy="457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關鍵風險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改造經濟性：改造比新建貴 50–100%，每 MW $2–3M，週期 18–36 月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缺乏標準：~40 家做 CDU、品質不一；漏液佔事故 19% 且上升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整併：Dell'Oro 估本世紀末存活 &lt;10 家拿走絕大多數份額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電網瓶頸：美國併網佇列卡關 ~2,300 GW；電力已取代硬體成瓶頸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消化風險：資本支出(~$700B) vs. 直接 AI 營收(~$51B)落差，2027–28 疑慮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6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方法論注意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市場規模勿跨機構混用（口徑差約 2 倍）；頭條用 Dell'Oro／Omdia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微流道、Rubin 600kW/1MW 機櫃屬路線圖/原型，非已出貨規格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台股/中國中小型 EV 倍數與散熱營收占比多為估計值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主要來源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Dell'Oro Group — DCPI / 液冷市場 / GPU TDP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Omdia — 市場規模與 CAGR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IDTechEx — 技術分段份額（D2C ~75%、浸沒 ~17%）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Uptime Institute 2025 — DLC 採用率、PUE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JLL / McKinsey / SemiAnalysis — 需求與機櫃密度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NVIDIA GTC/CES — 路線圖（GB300 / Rubin / Feynman）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公司 IR / SEC 8-K / Digitimes / TrendForce — 公司財務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C03A2B"/>
                </a:solidFill>
                <a:latin typeface="Microsoft JhengHei"/>
              </a:rPr>
              <a:t>免責聲明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Microsoft JhengHei"/>
              </a:rPr>
              <a:t>本資料彙整自第三方研究與公開資訊，僅供內部研究參考，不構成投資建議。估值與股價為即時變動數據，下單前請核對主要申報文件與中文公司名/代碼（3324 奇鋐 vs 3017 AVC）。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AI 資料中心散熱 — 產業研究  |  資料時點 2026 年 6 月  |  僅供內部研究參考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