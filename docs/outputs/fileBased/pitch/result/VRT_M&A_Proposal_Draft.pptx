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146304" cy="2286000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2E9BD6"/>
                </a:solidFill>
                <a:latin typeface="Microsoft JhengHei"/>
              </a:rPr>
              <a:t>併購提案初稿 M&amp;A PROPOSAL — DRAFT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Microsoft JhengHei"/>
              </a:rPr>
              <a:t>收購 Vertiv (VRT) 之評估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000" b="0">
                <a:solidFill>
                  <a:srgbClr val="BBCDE0"/>
                </a:solidFill>
                <a:latin typeface="Microsoft JhengHei"/>
              </a:rPr>
              <a:t>Project Coolwater — 策略與財務買方視角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34340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D7E2EE"/>
                </a:solidFill>
                <a:latin typeface="Microsoft JhengHei"/>
              </a:rPr>
              <a:t>同業比較 · 先例交易 · DCF · 示意 LBO · 足球場估值區間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9D8E8"/>
                </a:solidFill>
                <a:latin typeface="Microsoft JhengHei"/>
              </a:rPr>
              <a:t>核心結論:VRT 為 AI 散熱龍頭,但現價已 price in 完美成長;內在/交易法公允值 $158–$245(DCF 低端 $100)vs 現價 $320,</a:t>
            </a:r>
          </a:p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200" b="0">
                <a:solidFill>
                  <a:srgbClr val="C9D8E8"/>
                </a:solidFill>
                <a:latin typeface="Microsoft JhengHei"/>
              </a:rPr>
              <a:t>控制溢價難以在基本面上 justify,且傳統 LBO 因規模/倍數不可行。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12648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9FB6CE"/>
                </a:solidFill>
                <a:latin typeface="Microsoft JhengHei"/>
              </a:rPr>
              <a:t>資料時點 2026 年 6 月 · 僅供內部討論,非投資建議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FRAMING &amp; DISCLAIMER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框架假設與重要聲明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24712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icrosoft JhengHei"/>
              </a:rPr>
              <a:t>本提案的框架假設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視角:以「潛在收購方評估收購 VRT」為框架。DCF/Comps/先例交易為策略買方視角;示意 LBO 為財務買方(PE)視角。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VRT 現況:市值 ~$122bn、企業價值 ~$124bn、FY26E EV/EBITDA ~40x(trailing ~51x)——估值已屬全球同業最高。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示意控制報價設為 $400/股(對現價 $320 之 +25% 溢價),用於示範交易與報酬數學。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500" b="1">
                <a:solidFill>
                  <a:srgbClr val="C03A2B"/>
                </a:solidFill>
                <a:latin typeface="Microsoft JhengHei"/>
              </a:rPr>
              <a:t>重要聲明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本檔為初稿,所有財務數字為公開資訊與第三方彙整之估計值(現價、股數、淨負債、EBITDA、同業/交易倍數),正式提案前須以 FactSet/Bloomberg 與公司申報文件校正。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足球場圖中『52週區間』與『分析師目標價』為示意值;LBO 因 VRT 規模 ~$122bn 在實務上不可行,僅作報酬數學示範。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• 本資料不構成投資建議或要約。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執行摘要:策略誘人,但估值是硬傷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2697480" cy="109728"/>
          </a:xfrm>
          <a:prstGeom prst="rect">
            <a:avLst/>
          </a:prstGeom>
          <a:solidFill>
            <a:srgbClr val="14A3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536192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4A38C"/>
                </a:solidFill>
                <a:latin typeface="Microsoft JhengHei"/>
              </a:rPr>
              <a:t>策略理由 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938528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2A35"/>
                </a:solidFill>
                <a:latin typeface="Microsoft JhengHei"/>
              </a:rPr>
              <a:t>AI 散熱龍頭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697480"/>
            <a:ext cx="2368296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Microsoft JhengHei"/>
              </a:rPr>
              <a:t>端到端組合 + NVIDIA 參考設計綁定;backlog &gt;$15bn;液冷 ~40% CAGR。稀缺的純標的。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64992" y="132588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325880"/>
            <a:ext cx="2697480" cy="109728"/>
          </a:xfrm>
          <a:prstGeom prst="rect">
            <a:avLst/>
          </a:prstGeom>
          <a:solidFill>
            <a:srgbClr val="C03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536192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C03A2B"/>
                </a:solidFill>
                <a:latin typeface="Microsoft JhengHei"/>
              </a:rPr>
              <a:t>估值缺口 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1938528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2A35"/>
                </a:solidFill>
                <a:latin typeface="Microsoft JhengHei"/>
              </a:rPr>
              <a:t>公允值 &lt; 現價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9584" y="2697480"/>
            <a:ext cx="2368296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Microsoft JhengHei"/>
              </a:rPr>
              <a:t>DCF/先例/LBO 指向 $158–$245(DCF 低端 $100),低於現價 $320;再加控制溢價更難 justify。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27064" y="132588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27064" y="1325880"/>
            <a:ext cx="2697480" cy="109728"/>
          </a:xfrm>
          <a:prstGeom prst="rect">
            <a:avLst/>
          </a:prstGeom>
          <a:solidFill>
            <a:srgbClr val="E89A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91656" y="1536192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E89A1C"/>
                </a:solidFill>
                <a:latin typeface="Microsoft JhengHei"/>
              </a:rPr>
              <a:t>LBO 不可行 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1656" y="1938528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2A35"/>
                </a:solidFill>
                <a:latin typeface="Microsoft JhengHei"/>
              </a:rPr>
              <a:t>規模/倍數障礙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697480"/>
            <a:ext cx="2368296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Microsoft JhengHei"/>
              </a:rPr>
              <a:t>~$122bn 規模 + 40x EBITDA,槓桿空間極小;示意 $400 報價 IRR ~0–1%。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89136" y="1325880"/>
            <a:ext cx="2697480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CEF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89136" y="1325880"/>
            <a:ext cx="2697480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53728" y="1536192"/>
            <a:ext cx="2368296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建議方向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3728" y="1938528"/>
            <a:ext cx="2368296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700" b="1">
                <a:solidFill>
                  <a:srgbClr val="222A35"/>
                </a:solidFill>
                <a:latin typeface="Microsoft JhengHei"/>
              </a:rPr>
              <a:t>結構性替代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53728" y="2697480"/>
            <a:ext cx="2368296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Microsoft JhengHei"/>
              </a:rPr>
              <a:t>直接全現金收購報酬不佳;宜考慮少數股權/合資/可轉換結構,或等待更佳進場點。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434840"/>
            <a:ext cx="11247120" cy="1737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一句話建議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VRT 是同題材中品質最高的資產,但市場定價已充分(甚至過度)反映其成長。以併購角度,在 $320 之上再付控制溢價,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無法以 DCF、先例交易或 LBO 報酬支撐。建議:① 暫不推進全額收購;② 探索結構性/少數股權合作;③ 將 VRT 列入觀察,等待估值修正後的進場窗口。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TARGET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標的快照:Vertiv (VRT)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3291840"/>
                <a:gridCol w="48006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指標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數值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說明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FY25 營收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~$10.84bn (+28% YoY)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AI 資料中心基礎設施(電力+散熱+服務)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FY26E 營收(指引中點)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~$13.75bn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年增約 27%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EBITDA 利潤率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~22–23%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營運槓桿持續擴張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Backlog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&gt; $15bn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翻倍以上;訂單能見度高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市值 / 企業價值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~$122bn / ~$124bn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股數 ~0.382bn,淨負債 ~$1.9bn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EV/EBITDA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~40x fwd(~51x trailing)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全球同業最高,反映 AI 純度與龍頭地位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護城河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端到端 + NVIDIA 綁定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CoolTera/PurgeRite 等併購擴張液冷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806440"/>
            <a:ext cx="1124712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icrosoft JhengHei"/>
              </a:rPr>
              <a:t>為何是標的:</a:t>
            </a:r>
            <a:r>
              <a:rPr sz="1100" b="0">
                <a:solidFill>
                  <a:srgbClr val="222A35"/>
                </a:solidFill>
                <a:latin typeface="Microsoft JhengHei"/>
              </a:rPr>
              <a:t>AI 散熱最乾淨的純標的、龍頭份額、與 NVIDIA 路線圖綁定——對欲切入 AI 基礎設施的策略買方具高度吸引力。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VALUATION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估值區間總覽:足球場圖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5</a:t>
            </a:r>
          </a:p>
        </p:txBody>
      </p:sp>
      <p:pic>
        <p:nvPicPr>
          <p:cNvPr id="8" name="Picture 7" descr="vrt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7863840" cy="25263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03920" y="1371600"/>
            <a:ext cx="338328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讀法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內在(DCF)、先例交易、LBO ability-to-pay 三法群聚 $158–$245(DCF 低端達 $100)。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C03A2B"/>
                </a:solidFill>
                <a:latin typeface="Microsoft JhengHei"/>
              </a:rPr>
              <a:t>• 現價 $320 已在多數方法之上。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控制溢價(→$400)僅情緒類參考(52週高、樂觀PT)可及。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意涵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收購 VRT = 對『已偏貴的價格』再付溢價;除非有龐大綜效或極長期 AI 跑道,否則難以創造收購方價值。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TRADING COMPS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同業比較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6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01399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1737360"/>
                <a:gridCol w="1737360"/>
                <a:gridCol w="2103120"/>
                <a:gridCol w="1874519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公司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代碼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市值$bn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營收YoY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EV/EBITDA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Fwd P/E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Vertiv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VRT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~122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+28%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~40–51x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~46x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nVent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NVT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~28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+11%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~32x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~35x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Schneider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SU.PA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~160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+5%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~21x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~28x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Delta 台達電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2308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~187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+33%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n/a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~46x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Supermicro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SMCI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~18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+123%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~16x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~9x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同業中位(參考)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~26x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~30x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754880"/>
            <a:ext cx="112471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Comps 隱含區間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套用同業 25–40x 於 VRT FY26E EBITDA ~$3.1bn → 每股約 $198–$320。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注意:VRT 本身即同業最高倍數;以 comps 反推時其『區間頂端』本質上就是現價,故 comps 對收購溢價的支撐有限。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PRECEDENT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先例交易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20140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2926080"/>
                <a:gridCol w="1828800"/>
                <a:gridCol w="3337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日期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買方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標的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EV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JhengHei"/>
                        </a:rPr>
                        <a:t>EV/EBITDA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2026-03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Ecolab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CoolIT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$4.75bn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29x NTM / 24x'27E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2025-12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Eaton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Boyd Thermal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$9.5bn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22.5x '26E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2024-10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Schneider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Motivair (75%)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$0.85bn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中個位數(rev)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2025-11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Vertiv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PurgeRite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~$1.0bn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~10x(含綜效)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2023-04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Carrier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Viessmann(參考)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~$13bn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~13x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2A35"/>
                          </a:solidFill>
                          <a:latin typeface="Microsoft JhengHei"/>
                        </a:rPr>
                        <a:t>2025-03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nVent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Avail EPG(電力)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$0.975bn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22A35"/>
                          </a:solidFill>
                          <a:latin typeface="Microsoft JhengHei"/>
                        </a:rPr>
                        <a:t>~2.6x(rev)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800600"/>
            <a:ext cx="112471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先例隱含區間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純散熱控制交易 EV/EBITDA ~10–29x(前瞻);套 20–28x 於 VRT FY26E EBITDA → 每股約 $158–$223。</a:t>
            </a:r>
          </a:p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注意:CoolIT/Boyd 為前瞻倍數且標的更小、成長更快;VRT 規模大、成長較緩,直接類比會高估。資料為第三方彙整,須查核。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DCF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DCF 估值摘要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8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567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2194560"/>
                <a:gridCol w="2194560"/>
                <a:gridCol w="324612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方法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WACC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終值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隱含每股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備註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永續成長法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11.4%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g=3.5%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~$102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紀律性;終值占EV偏高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出場倍數法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11.4%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22x EBITDA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~$245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較寬鬆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DCF 區間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$100–$245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中樞遠低於現價 $320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3840480"/>
            <a:ext cx="11247120" cy="21945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關鍵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WACC 11.4% 反映 VRT 高 beta(~1.45);5 年顯性期 + 永續法對高成長股偏保守。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即便用寬鬆的 22x 出場倍數,DCF 上限 ~$245 仍低於現價 $320。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• 結論:以紀律性 DCF,VRT 內在價值中樞 $100–$245,顯著低於現價——市場已 price in 高度完美成長。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0">
                <a:solidFill>
                  <a:srgbClr val="5A5A5A"/>
                </a:solidFill>
                <a:latin typeface="Microsoft JhengHei"/>
              </a:rPr>
              <a:t>• 完整模型(含三情境/敏感度)見隨附 Vertiv_VRT_DCF.xlsx。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ILLUSTRATIVE LBO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示意 LBO 與 Ability-to-Pay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6035040" cy="2414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201168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示意 LBO(報價 $400 / +25%)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值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進場 EV / EV-EBITDA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~$155bn / ~50x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新負債(6x EBITDA)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~$18.6bn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發起人股權(plug)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~$140bn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出場(FY31,22x)股權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~$145bn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MOIC / IRR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1.04x / ~0.7%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766560" y="1371600"/>
          <a:ext cx="48463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</a:tblGrid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Ability-to-Pay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</a:rPr>
                        <a:t>每股 $</a:t>
                      </a:r>
                    </a:p>
                  </a:txBody>
                  <a:tcPr marL="63500" marR="50800" marT="12700" marB="12700" anchor="ctr">
                    <a:solidFill>
                      <a:srgbClr val="0B1F3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15% IRR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~$233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20% IRR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~$196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25% IRR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~$168</a:t>
                      </a:r>
                    </a:p>
                  </a:txBody>
                  <a:tcPr marL="63500" marR="50800" marT="12700" marB="12700" anchor="ctr">
                    <a:solidFill>
                      <a:srgbClr val="ECEFF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222A35"/>
                          </a:solidFill>
                          <a:latin typeface="Microsoft JhengHei"/>
                        </a:rPr>
                        <a:t>現價(對照)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22A35"/>
                          </a:solidFill>
                          <a:latin typeface="Microsoft JhengHei"/>
                        </a:rPr>
                        <a:t>$320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4754880"/>
            <a:ext cx="112471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解讀(含綜效情境)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示意 $400 報價 IRR ~0–1%(進場 ~50x、槓桿空間極小、發起人需寫 ~$140bn 股權)。要達 20–25% IRR 進場價需 ~$168–$196。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綜效情境(@20% IRR):綜效 $0 → $196;$1.0bn → $220;$2.0bn → $243——即便 $2bn 綜效(≈進場 EBITDA 64%)仍 &lt; 現價 $320。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200" b="1">
                <a:solidFill>
                  <a:srgbClr val="C03A2B"/>
                </a:solidFill>
                <a:latin typeface="Microsoft JhengHei"/>
              </a:rPr>
              <a:t>• 反推:要 justify $320 需 run-rate 綜效 ~$5.3bn(不切實際)。完整綜效表與 5×5 IRR 敏感度見工作簿 Synergies 分頁。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LBO SENSITIVITY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LBO IRR 敏感度:報價 × 出場倍數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10</a:t>
            </a:r>
          </a:p>
        </p:txBody>
      </p:sp>
      <p:pic>
        <p:nvPicPr>
          <p:cNvPr id="8" name="Picture 7" descr="vrt_i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7680960" cy="390378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12480" y="1371600"/>
            <a:ext cx="347472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讀法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縱軸=報價/股,橫軸=出場 EV/EBITDA;格內為 5 年 IRR。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C03A2B"/>
                </a:solidFill>
                <a:latin typeface="Microsoft JhengHei"/>
              </a:rPr>
              <a:t>• 基準($400 / 22x,框線)= ~0.7% IRR。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整張表無任一組合達 PE 門檻(~20–25%)。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0">
                <a:solidFill>
                  <a:srgbClr val="222A35"/>
                </a:solidFill>
                <a:latin typeface="Microsoft JhengHei"/>
              </a:rPr>
              <a:t>• 即便報價降至 $320 + 出場 26x,IRR 也僅 ~10%。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600" b="0">
                <a:solidFill>
                  <a:srgbClr val="222A35"/>
                </a:solidFill>
                <a:latin typeface="Microsoft JhengHei"/>
              </a:rPr>
              <a:t/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icrosoft JhengHei"/>
              </a:rPr>
              <a:t>意涵</a:t>
            </a:r>
          </a:p>
          <a:p>
            <a:pPr algn="l">
              <a:lnSpc>
                <a:spcPct val="116000"/>
              </a:lnSpc>
              <a:spcAft>
                <a:spcPts val="400"/>
              </a:spcAft>
            </a:pPr>
            <a:r>
              <a:rPr sz="1100" b="1">
                <a:solidFill>
                  <a:srgbClr val="1F4E79"/>
                </a:solidFill>
                <a:latin typeface="Microsoft JhengHei"/>
              </a:rPr>
              <a:t>LBO 報酬對『進場價』高度敏感,但 VRT 在現價附近的進場根本無法產生 PE 等級報酬——財務買方路徑不通。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292"/>
          </a:xfrm>
          <a:prstGeom prst="rect">
            <a:avLst/>
          </a:prstGeom>
          <a:solidFill>
            <a:srgbClr val="2E9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2E9BD6"/>
                </a:solidFill>
                <a:latin typeface="Microsoft JhengHei"/>
              </a:rPr>
              <a:t>RECOMMENDATION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11480"/>
            <a:ext cx="1124712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Microsoft JhengHei"/>
              </a:rPr>
              <a:t>結論、風險與後續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10058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800" b="0">
                <a:solidFill>
                  <a:srgbClr val="5A5A5A"/>
                </a:solidFill>
                <a:latin typeface="Microsoft JhengHei"/>
              </a:rPr>
              <a:t>Vertiv (VRT) 併購提案初稿 · 僅供內部討論 · 示意性,非投資建議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455664"/>
            <a:ext cx="54864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5A5A"/>
                </a:solidFill>
                <a:latin typeface="Microsoft JhengHe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557784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建議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① 暫不推進對 VRT 的全額現金收購——估值缺口過大。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② 若策略上必須布局,優先考慮:少數股權、合資、商業合作或可轉換結構,降低進場估值風險。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③ 將 VRT 列入觀察名單,設定估值修正後的進場觸發(如 EV/EBITDA 回落至 ~25–30x)。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④ 平行評估較小、估值合理的純標的(如台股 Auras 3324、AVC 3017,或私有液冷資產)作為替代切入。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394960" cy="47548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icrosoft JhengHei"/>
              </a:rPr>
              <a:t>風險與後續工作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數據校正:現價/股數/淨負債/EBITDA/同業與交易倍數以 FactSet/Bloomberg 與申報文件核實。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綜效量化:策略買方若有明確成本/營收綜效,可上修 ability-to-pay——下一步應建綜效情境。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222A35"/>
                </a:solidFill>
                <a:latin typeface="Microsoft JhengHei"/>
              </a:rPr>
              <a:t>• 反向風險:若 AI 需求與液冷滲透超預期,VRT 成長跑道可能比 5 年 DCF 更長,內在價值上修。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1">
                <a:solidFill>
                  <a:srgbClr val="1F4E79"/>
                </a:solidFill>
                <a:latin typeface="Microsoft JhengHei"/>
              </a:rPr>
              <a:t>• 後續:① 校正數據 ② 建綜效情境 ③ 結構性方案設計 ④ 與內部投委會討論進場觸發。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989320"/>
            <a:ext cx="1120140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5A5A5A"/>
                </a:solidFill>
                <a:latin typeface="Microsoft JhengHei"/>
              </a:rPr>
              <a:t>免責:初稿,示意性,非投資建議或要約;財務數字為估計值,須獨立查核。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