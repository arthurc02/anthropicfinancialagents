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100584" cy="13716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3258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icrosoft JhengHei"/>
              </a:rPr>
              <a:t>Agent 開發與設計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212848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9FC2E8"/>
                </a:solidFill>
                <a:latin typeface="Microsoft JhengHei"/>
              </a:rPr>
              <a:t>從根本出發、對照實作、展望趨勢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154680"/>
            <a:ext cx="6035040" cy="18288"/>
          </a:xfrm>
          <a:prstGeom prst="rect">
            <a:avLst/>
          </a:prstGeom>
          <a:solidFill>
            <a:srgbClr val="35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364992"/>
            <a:ext cx="8778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C3D4E6"/>
                </a:solidFill>
                <a:latin typeface="Microsoft JhengHei"/>
              </a:rPr>
              <a:t>從一套真實的金融 AI 助理實作出發，</a:t>
            </a:r>
          </a:p>
          <a:p>
            <a:pPr>
              <a:spcBef>
                <a:spcPts val="400"/>
              </a:spcBef>
            </a:pPr>
            <a:r>
              <a:rPr sz="1500" b="0" i="0">
                <a:solidFill>
                  <a:srgbClr val="C3D4E6"/>
                </a:solidFill>
                <a:latin typeface="Microsoft JhengHei"/>
              </a:rPr>
              <a:t>說明「AI 助理」到底是怎麼被設計出來的，以及這個領域正往哪裡走。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892040"/>
            <a:ext cx="36576" cy="566928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35024" y="4828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7EA6CE"/>
                </a:solidFill>
                <a:latin typeface="Microsoft JhengHei"/>
              </a:rPr>
              <a:t>涵蓋主題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51023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Microsoft JhengHei"/>
              </a:rPr>
              <a:t>設計原理 ／ 專案實作 ／ 產業趨勢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846320"/>
            <a:ext cx="36576" cy="566928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52544" y="47823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7EA6CE"/>
                </a:solidFill>
                <a:latin typeface="Microsoft JhengHei"/>
              </a:rPr>
              <a:t>資料時點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50566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 i="0">
                <a:solidFill>
                  <a:srgbClr val="FFFFFF"/>
                </a:solidFill>
                <a:latin typeface="Microsoft JhengHei"/>
              </a:rPr>
              <a:t>2026 年 7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怎麼讀這份報告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三個閱讀約定，先講在前面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505200" cy="157276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350520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3212592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 dirty="0">
                <a:solidFill>
                  <a:srgbClr val="2E8B57"/>
                </a:solidFill>
                <a:latin typeface="Microsoft JhengHei"/>
              </a:rPr>
              <a:t>① </a:t>
            </a:r>
            <a:r>
              <a:rPr lang="zh-TW" altLang="en-US" sz="1450" b="1" i="0" dirty="0">
                <a:solidFill>
                  <a:srgbClr val="2E8B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白話描述</a:t>
            </a:r>
            <a:endParaRPr sz="1450" b="1" i="0" dirty="0">
              <a:solidFill>
                <a:srgbClr val="2E8B5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技術名詞第一次出現時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，</a:t>
            </a: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旁邊會有一個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💡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小方塊做「一句話解釋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」。</a:t>
            </a: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不熟術語也能一路讀完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5320" y="1755648"/>
            <a:ext cx="3505200" cy="157276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5320" y="1755648"/>
            <a:ext cx="350520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1624" y="1901952"/>
            <a:ext cx="3212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 dirty="0">
                <a:solidFill>
                  <a:srgbClr val="D9772B"/>
                </a:solidFill>
                <a:latin typeface="Microsoft JhengHei"/>
              </a:rPr>
              <a:t>② </a:t>
            </a:r>
            <a:r>
              <a:rPr sz="1450" b="1" i="0" dirty="0" err="1">
                <a:solidFill>
                  <a:srgbClr val="D9772B"/>
                </a:solidFill>
                <a:latin typeface="Microsoft JhengHei"/>
              </a:rPr>
              <a:t>標註資訊新鮮度</a:t>
            </a:r>
            <a:endParaRPr sz="1450" b="1" i="0" dirty="0">
              <a:solidFill>
                <a:srgbClr val="D9772B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凡是掛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⚠️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的，代表該功能仍在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預覽／測試階段，或是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2026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年才發表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不可當成「今天就能上線」看待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3399" y="1755648"/>
            <a:ext cx="3505200" cy="157276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53399" y="1755648"/>
            <a:ext cx="350520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9704" y="1901952"/>
            <a:ext cx="321259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③ 區分事實與說法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廠商自己公布的數字會註明來源，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與獨立機構（如 Gartner）的資料分開呈現。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避免把行銷語言當成結論。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12463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本報告的三個部分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Part 1　Agent 到底是什麼、該怎麼設計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　── 不談特定產品，先把底層道理講清楚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07408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Part 2　這個專案是怎麼做的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　── 用一套真實的金融 AI 助理，逐項拆解它的設計手法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73168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Part 3　未來會往哪走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　── 對照 AWS、Google、Microsoft、Anthropic 四家的路線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7EB2F0"/>
                </a:solidFill>
                <a:latin typeface="Microsoft JhengHe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JhengHei"/>
              </a:rPr>
              <a:t>Agent 到底是什麼？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B9CCE0"/>
                </a:solidFill>
                <a:latin typeface="Microsoft JhengHei"/>
              </a:rPr>
              <a:t>先把「它為什麼會這樣運作」講清楚，
後面所有設計選擇才有依據。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48840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20939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最小定義：模型 ＋ 工具 ＋ 迴圈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624328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2569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關鍵分界：誰在決定下一步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99816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0449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脈絡是有限資源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575304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5204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工具設計就是產品設計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050791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9959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評測、護欄與成本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最小定義：Agent 不是更聰明的模型，是一種「執行結構」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把語言模型放進一個「能動手、看得到結果、再決定下一步」的迴圈裡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>
                <a:solidFill>
                  <a:srgbClr val="8A5D0F"/>
                </a:solidFill>
                <a:latin typeface="Microsoft JhengHei"/>
              </a:rPr>
              <a:t>💡 LLM（大型語言模型）　</a:t>
            </a:r>
            <a:r>
              <a:rPr sz="1250" b="0" i="0">
                <a:solidFill>
                  <a:srgbClr val="5F4A1E"/>
                </a:solidFill>
                <a:latin typeface="Microsoft JhengHei"/>
              </a:rPr>
              <a:t>就是 ChatGPT、Claude 這類會生成文字的模型本身。它只會「讀進文字、產出文字」，不會自己動手做事。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478024"/>
            <a:ext cx="24871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478024"/>
            <a:ext cx="2487168" cy="64008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" y="2642616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① 蒐集脈絡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008376"/>
            <a:ext cx="2231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先去讀資料、查系統、找出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這件事需要的背景資訊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3026664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478024"/>
            <a:ext cx="24871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20440" y="2478024"/>
            <a:ext cx="2487168" cy="64008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48456" y="2642616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1868C"/>
                </a:solidFill>
                <a:latin typeface="Microsoft JhengHei"/>
              </a:rPr>
              <a:t>② 採取行動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008376"/>
            <a:ext cx="2231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呼叫工具：查資料庫、寫檔案、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跑程式、call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026664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478024"/>
            <a:ext cx="24871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2478024"/>
            <a:ext cx="2487168" cy="64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1655" y="2642616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③ 驗證成果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5" y="3008376"/>
            <a:ext cx="2231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檢查自己做出來的東西對不對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（跑測試、對帳、交叉比對）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59952" y="3026664"/>
            <a:ext cx="256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478024"/>
            <a:ext cx="24871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06840" y="2478024"/>
            <a:ext cx="2487168" cy="64008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34856" y="2642616"/>
            <a:ext cx="22311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④ 重複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34856" y="3008376"/>
            <a:ext cx="22311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沒過就修，過了才收工。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這個迴圈才是 Agent 的本體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78224"/>
            <a:ext cx="45720" cy="530352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41832" y="4041648"/>
            <a:ext cx="10698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1" i="0">
                <a:solidFill>
                  <a:srgbClr val="1B2633"/>
                </a:solidFill>
                <a:latin typeface="Microsoft JhengHei"/>
              </a:rPr>
              <a:t>「gather context → take action → verify work → repeat」</a:t>
            </a:r>
          </a:p>
          <a:p>
            <a:r>
              <a:rPr sz="1050" b="0" i="0">
                <a:solidFill>
                  <a:srgbClr val="8A94A0"/>
                </a:solidFill>
                <a:latin typeface="Microsoft JhengHei"/>
              </a:rPr>
              <a:t>Anthropic《Building agents with the Claude Agent SDK》2025-09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18304"/>
            <a:ext cx="10881360" cy="512064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718304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關鍵：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「有沒有回饋迴圈」就是 Agent 與「問一句答一句」的唯一本質差異。沒有可靠的驗證訊號，就不會有可靠的 Agent。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700" b="1" dirty="0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設計樣式</a:t>
            </a:r>
            <a:endParaRPr sz="2700" b="1" i="0" dirty="0">
              <a:solidFill>
                <a:srgbClr val="0F2E4C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3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雖然是三家不同的公司，但是它們的結構卻是相同，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這代表它是結構性事實，不是誰的風格偏好</a:t>
            </a:r>
            <a:endParaRPr sz="13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17739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提出者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他們的拆法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白話講就是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Anthropic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Gather context → Take action → Verify work → Repeat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找資料 → 動手 → 檢查 → 再來一次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OpenAI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Model（推理）＋ Tools（工具）＋ Instructions（規則）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一顆腦袋、一雙手、一本工作守則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Google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模型層（決策）＋ 編排層（流程）＋ 工具層（對外）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誰在想、誰在管流程、誰在做事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3758183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所以，設計一個 Agent 實際上就是在設計這三件事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087368"/>
            <a:ext cx="350520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4087368"/>
            <a:ext cx="350520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4233672"/>
            <a:ext cx="321259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它知道什麼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該讓它看到哪些資料？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什麼時候給？給多少？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（這叫「脈絡工程」，稍後詳談）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65320" y="4087368"/>
            <a:ext cx="350520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65320" y="4087368"/>
            <a:ext cx="3505200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1624" y="4233672"/>
            <a:ext cx="321259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1868C"/>
                </a:solidFill>
                <a:latin typeface="Microsoft JhengHei"/>
              </a:rPr>
              <a:t>它能做什麼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開放哪些工具給它？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每個工具怎麼設計才不會用錯？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（工具＝它跟外界的唯一接口）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3399" y="4087368"/>
            <a:ext cx="3505200" cy="12984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53399" y="4087368"/>
            <a:ext cx="350520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9704" y="4233672"/>
            <a:ext cx="3212592" cy="104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它怎麼知道做對了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用什麼方式驗證產出？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誰來覆核？出錯怎麼被擋下？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（沒有這一塊就不能上線）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96711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換句話說：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Agent 專案的成敗，主要不取決於用哪個模型，而取決於這三件事有沒有被認真設計。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最關鍵的一條分界線：下一步是「誰」決定的？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這條線決定了你要付出多少成本、失去多少可預測性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349240" cy="2286000"/>
          </a:xfrm>
          <a:prstGeom prst="rect">
            <a:avLst/>
          </a:prstGeom>
          <a:solidFill>
            <a:srgbClr val="EEF6F1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49834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 dirty="0">
                <a:solidFill>
                  <a:srgbClr val="2E8B57"/>
                </a:solidFill>
                <a:latin typeface="Microsoft JhengHei"/>
              </a:rPr>
              <a:t>Workflow（</a:t>
            </a:r>
            <a:r>
              <a:rPr lang="zh-TW" altLang="en-US" b="1" dirty="0">
                <a:solidFill>
                  <a:srgbClr val="2E8B5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</a:t>
            </a:r>
            <a:r>
              <a:rPr sz="1800" b="1" i="0" dirty="0">
                <a:solidFill>
                  <a:srgbClr val="2E8B57"/>
                </a:solidFill>
                <a:latin typeface="Microsoft JhengHei"/>
              </a:rPr>
              <a:t>流）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22576"/>
            <a:ext cx="49834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B2633"/>
                </a:solidFill>
                <a:latin typeface="Microsoft JhengHei"/>
              </a:rPr>
              <a:t>路徑是「工程師寫死在程式裡」的。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B2633"/>
                </a:solidFill>
                <a:latin typeface="Microsoft JhengHei"/>
              </a:rPr>
              <a:t>先做 A、再做 B、若符合條件就做 C。</a:t>
            </a:r>
          </a:p>
          <a:p>
            <a:pPr>
              <a:spcBef>
                <a:spcPts val="300"/>
              </a:spcBef>
            </a:pPr>
            <a:endParaRPr sz="1300" b="0" i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✓  結果可預測、可重現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✓  出錯容易查、容易稽核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✗  遇到沒設想過的情況就卡住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19" y="1755648"/>
            <a:ext cx="5349240" cy="2286000"/>
          </a:xfrm>
          <a:prstGeom prst="rect">
            <a:avLst/>
          </a:prstGeom>
          <a:solidFill>
            <a:srgbClr val="FDF2EA"/>
          </a:solidFill>
          <a:ln w="1524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399" y="1901952"/>
            <a:ext cx="49834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D9772B"/>
                </a:solidFill>
                <a:latin typeface="Microsoft JhengHei"/>
              </a:rPr>
              <a:t>Agent（自主代理）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399" y="2322576"/>
            <a:ext cx="49834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 i="0">
                <a:solidFill>
                  <a:srgbClr val="1B2633"/>
                </a:solidFill>
                <a:latin typeface="Microsoft JhengHei"/>
              </a:rPr>
              <a:t>路徑是「模型自己在執行當下決定」的。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1B2633"/>
                </a:solidFill>
                <a:latin typeface="Microsoft JhengHei"/>
              </a:rPr>
              <a:t>它自己判斷要用哪個工具、要做幾輪。</a:t>
            </a:r>
          </a:p>
          <a:p>
            <a:pPr>
              <a:spcBef>
                <a:spcPts val="300"/>
              </a:spcBef>
            </a:pPr>
            <a:endParaRPr sz="1300" b="0" i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✓  能處理事先列舉不完的情況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✗  同樣的輸入不保證走同樣的路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D6875"/>
                </a:solidFill>
                <a:latin typeface="Microsoft JhengHei"/>
              </a:rPr>
              <a:t>✗  比較貴、比較慢、比較難稽核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242816"/>
            <a:ext cx="10881360" cy="54864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4242816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判斷方法只有一句話：</a:t>
            </a:r>
            <a:r>
              <a:rPr sz="1500" b="0" i="0">
                <a:solidFill>
                  <a:srgbClr val="FFFFFF"/>
                </a:solidFill>
                <a:latin typeface="Microsoft JhengHei"/>
              </a:rPr>
              <a:t>　路徑由你的程式碼決定 → 那是 Workflow；由模型當場決定 → 那才是 Agent。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19472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對金融業特別重要：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自主性越高，可稽核性越低。這不是可以靠工具補救的取捨，是必須在設計階段就想清楚的取捨。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很重要但常被跳過的一步：先確認「真的需要 Agent 嗎」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業界共識是：能用簡單方案解決的，就不要上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45720" cy="54864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「我們建議找到最簡單的可行解，只在必要時才增加複雜度。這可能意味著——根本不要蓋 Agent 系統。」</a:t>
            </a:r>
          </a:p>
          <a:p>
            <a:r>
              <a:rPr sz="1050" b="0" i="0">
                <a:solidFill>
                  <a:srgbClr val="8A94A0"/>
                </a:solidFill>
                <a:latin typeface="Microsoft JhengHei"/>
              </a:rPr>
              <a:t>Anthropic《Building Effective Agents》2024-12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414015"/>
            <a:ext cx="45720" cy="54864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41832" y="2377439"/>
            <a:ext cx="10698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「Agent 系統經常是拿延遲與成本，去換取任務表現。你應該思考這個交換在什麼時候才划算。」</a:t>
            </a:r>
          </a:p>
          <a:p>
            <a:r>
              <a:rPr sz="1050" b="0" i="0">
                <a:solidFill>
                  <a:srgbClr val="8A94A0"/>
                </a:solidFill>
                <a:latin typeface="Microsoft JhengHei"/>
              </a:rPr>
              <a:t>同上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5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建議的決策順序：由簡到繁，每往下一階都要付出代價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474719"/>
            <a:ext cx="3401568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3474719"/>
            <a:ext cx="384048" cy="13716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19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7592" y="3657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單次模型呼叫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402335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加上檢索與範例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多數應用這樣就夠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9776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3474719"/>
            <a:ext cx="3401568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11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498848" y="3474719"/>
            <a:ext cx="384048" cy="1371600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98848" y="3931919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57599"/>
            <a:ext cx="2743200" cy="3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50" b="1" dirty="0">
                <a:solidFill>
                  <a:srgbClr val="11868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</a:t>
            </a:r>
            <a:r>
              <a:rPr sz="1450" b="1" i="0" dirty="0">
                <a:solidFill>
                  <a:srgbClr val="11868C"/>
                </a:solidFill>
                <a:latin typeface="Microsoft JhengHei"/>
              </a:rPr>
              <a:t>流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02335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把任務拆成固定步驟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中間設程式化的關卡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27848" y="397763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0456" y="3474719"/>
            <a:ext cx="3401568" cy="13716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0456" y="3474719"/>
            <a:ext cx="384048" cy="1371600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0456" y="3931919"/>
            <a:ext cx="384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0808" y="3657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自主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023359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只有在「子任務無法事先列舉」</a:t>
            </a:r>
          </a:p>
          <a:p>
            <a:r>
              <a:rPr sz="1150" b="0" i="0">
                <a:solidFill>
                  <a:srgbClr val="5D6875"/>
                </a:solidFill>
                <a:latin typeface="Microsoft JhengHei"/>
              </a:rPr>
              <a:t>時才值得走到這一階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047488"/>
            <a:ext cx="10881360" cy="51206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5047488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反過來說，什麼時候值得做 Agent？　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當既有規則系統已經複雜到難以維護、輸入是非結構化文件、或每個案子的處理步驟都不一樣時。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六種常見的組裝模式：從簡單到複雜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多數實際系統是這幾種的組合，而不是單一一種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29809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模式</a:t>
                      </a:r>
                      <a:endParaRPr sz="1150" b="1" i="0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怎麼運作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什麼時候用它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增強型模型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 ＋ 檢索 ＋ 工具 ＋ 記憶（其他模式的基本單元）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所有 Agent 的起點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提示鏈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 dirty="0" err="1">
                          <a:solidFill>
                            <a:srgbClr val="1B2633"/>
                          </a:solidFill>
                          <a:latin typeface="Microsoft JhengHei"/>
                        </a:rPr>
                        <a:t>拆成固定的順序步驟，中間設程式化的檢查關卡</a:t>
                      </a:r>
                      <a:endParaRPr sz="1250" b="0" i="0" dirty="0">
                        <a:solidFill>
                          <a:srgbClr val="1B2633"/>
                        </a:solidFill>
                        <a:latin typeface="Microsoft JhengHei"/>
                      </a:endParaRP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 dirty="0" err="1">
                          <a:solidFill>
                            <a:srgbClr val="1B2633"/>
                          </a:solidFill>
                          <a:latin typeface="Microsoft JhengHei"/>
                        </a:rPr>
                        <a:t>任務能被乾淨地拆成固定子步驟</a:t>
                      </a:r>
                      <a:endParaRPr sz="1250" b="0" i="0" dirty="0">
                        <a:solidFill>
                          <a:srgbClr val="1B2633"/>
                        </a:solidFill>
                        <a:latin typeface="Microsoft JhengHei"/>
                      </a:endParaRP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路由分流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先分類，再送給各自專門的處理流程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任務有明顯不同的類別，分開處理比較好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平行處理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拆成互不相干的子任務同時跑；或同一題跑多次投票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要加速，或要多個角度提高信心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協調者—工作者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一個主控模型當場拆解任務、分派給工作者、再合成結果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你「無法事先預測」需要哪些子任務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評估—優化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一個負責產出、一個負責挑毛病，反覆迭代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有明確的評分標準，且反覆修改真的會變好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965192"/>
            <a:ext cx="1088136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96519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最容易混淆的一組</a:t>
            </a:r>
            <a:r>
              <a:rPr sz="1500" b="1" i="0" dirty="0">
                <a:solidFill>
                  <a:srgbClr val="0F2E4C"/>
                </a:solidFill>
                <a:latin typeface="Microsoft JhengHei"/>
              </a:rPr>
              <a:t>：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「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平行處理」的子任務是</a:t>
            </a:r>
            <a:r>
              <a:rPr sz="1500" b="1" i="0" dirty="0" err="1">
                <a:solidFill>
                  <a:srgbClr val="2E8B57"/>
                </a:solidFill>
                <a:latin typeface="Microsoft JhengHei"/>
              </a:rPr>
              <a:t>你事先定義好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的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；「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協調者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—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工作者」的子任務是</a:t>
            </a:r>
            <a:r>
              <a:rPr sz="1500" b="1" i="0" dirty="0" err="1">
                <a:solidFill>
                  <a:srgbClr val="D9772B"/>
                </a:solidFill>
                <a:latin typeface="Microsoft JhengHei"/>
              </a:rPr>
              <a:t>模型執行時才決定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的。前者仍是</a:t>
            </a:r>
            <a:r>
              <a:rPr lang="zh-TW" altLang="en-US" sz="1500" b="0" i="0" dirty="0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工作</a:t>
            </a:r>
            <a:r>
              <a:rPr sz="1500" b="0" i="0" dirty="0" err="1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流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，後者才真正跨進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 Agent。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4999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這六種模式在 Part 2 都會看到實例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　—— 這個專案主要用的是「協調者—工作者」＋「評估—優化」的組合。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脈絡工程：2025 年之後最重要的觀念轉變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從「這句話怎麼寫」，變成「第 N 步時模型眼前該有哪些資訊」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55648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 dirty="0">
                <a:solidFill>
                  <a:srgbClr val="8A5D0F"/>
                </a:solidFill>
                <a:latin typeface="Microsoft JhengHei"/>
              </a:rPr>
              <a:t>💡 </a:t>
            </a:r>
            <a:r>
              <a:rPr lang="zh-TW" altLang="en-US" sz="1250" b="1" dirty="0">
                <a:solidFill>
                  <a:srgbClr val="8A5D0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250" b="1" i="0" dirty="0">
                <a:solidFill>
                  <a:srgbClr val="8A5D0F"/>
                </a:solidFill>
                <a:latin typeface="Microsoft JhengHei"/>
              </a:rPr>
              <a:t>（Context）　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模型一次能「看到」的所有文字總量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——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包含你的指示、對話紀錄、查到的資料、工具說明。它有上限，就像人的短期記憶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兩個反直覺、但已被證實的事實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16352"/>
            <a:ext cx="5349240" cy="1170432"/>
          </a:xfrm>
          <a:prstGeom prst="rect">
            <a:avLst/>
          </a:prstGeom>
          <a:solidFill>
            <a:srgbClr val="FDF0EF"/>
          </a:solidFill>
          <a:ln w="1397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944368"/>
            <a:ext cx="4983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 err="1">
                <a:solidFill>
                  <a:srgbClr val="B03830"/>
                </a:solidFill>
                <a:latin typeface="Microsoft JhengHei"/>
              </a:rPr>
              <a:t>事實一</a:t>
            </a:r>
            <a:r>
              <a:rPr sz="1400" b="1" i="0" dirty="0">
                <a:solidFill>
                  <a:srgbClr val="B03830"/>
                </a:solidFill>
                <a:latin typeface="Microsoft JhengHei"/>
              </a:rPr>
              <a:t>：</a:t>
            </a:r>
            <a:r>
              <a:rPr lang="zh-TW" altLang="en-US" sz="1400" b="1" i="0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400" b="1" i="0" dirty="0" err="1">
                <a:solidFill>
                  <a:srgbClr val="B03830"/>
                </a:solidFill>
                <a:latin typeface="Microsoft JhengHei"/>
              </a:rPr>
              <a:t>是有限資源，而且邊際效益遞減</a:t>
            </a:r>
            <a:endParaRPr sz="1400" b="1" i="0" dirty="0">
              <a:solidFill>
                <a:srgbClr val="B03830"/>
              </a:solidFill>
              <a:latin typeface="Microsoft Jheng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0120" y="3346704"/>
            <a:ext cx="49834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633"/>
                </a:solidFill>
                <a:latin typeface="Microsoft JhengHei"/>
              </a:rPr>
              <a:t>模型有類似人類「注意力預算」的東西。塞得越多，</a:t>
            </a:r>
          </a:p>
          <a:p>
            <a:r>
              <a:rPr sz="1200" b="0" i="0">
                <a:solidFill>
                  <a:srgbClr val="1B2633"/>
                </a:solidFill>
                <a:latin typeface="Microsoft JhengHei"/>
              </a:rPr>
              <a:t>每一項被真正用到的機率就越低。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19" y="2816352"/>
            <a:ext cx="5349240" cy="1170432"/>
          </a:xfrm>
          <a:prstGeom prst="rect">
            <a:avLst/>
          </a:prstGeom>
          <a:solidFill>
            <a:srgbClr val="FDF0EF"/>
          </a:solidFill>
          <a:ln w="1397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399" y="2944368"/>
            <a:ext cx="4983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 err="1">
                <a:solidFill>
                  <a:srgbClr val="B03830"/>
                </a:solidFill>
                <a:latin typeface="Microsoft JhengHei"/>
              </a:rPr>
              <a:t>事實二</a:t>
            </a:r>
            <a:r>
              <a:rPr sz="1400" b="1" i="0" dirty="0">
                <a:solidFill>
                  <a:srgbClr val="B03830"/>
                </a:solidFill>
                <a:latin typeface="Microsoft JhengHei"/>
              </a:rPr>
              <a:t>：</a:t>
            </a:r>
            <a:r>
              <a:rPr lang="zh-TW" altLang="en-US" sz="1400" b="1" i="0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</a:t>
            </a:r>
            <a:r>
              <a:rPr sz="1400" b="1" i="0" dirty="0">
                <a:solidFill>
                  <a:srgbClr val="B03830"/>
                </a:solidFill>
                <a:latin typeface="Microsoft JhengHei"/>
              </a:rPr>
              <a:t>塞</a:t>
            </a:r>
            <a:r>
              <a:rPr lang="zh-TW" altLang="en-US" sz="1400" b="1" i="0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得</a:t>
            </a:r>
            <a:r>
              <a:rPr sz="1400" b="1" i="0" dirty="0" err="1">
                <a:solidFill>
                  <a:srgbClr val="B03830"/>
                </a:solidFill>
                <a:latin typeface="Microsoft JhengHei"/>
              </a:rPr>
              <a:t>越多，反而記得越差</a:t>
            </a:r>
            <a:r>
              <a:rPr sz="1400" b="1" i="0" dirty="0">
                <a:solidFill>
                  <a:srgbClr val="B03830"/>
                </a:solidFill>
                <a:latin typeface="Microsoft JhengHei"/>
              </a:rPr>
              <a:t>（</a:t>
            </a:r>
            <a:r>
              <a:rPr lang="zh-TW" altLang="en-US" sz="1400" b="1" i="0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400" b="1" i="0" dirty="0" err="1">
                <a:solidFill>
                  <a:srgbClr val="B03830"/>
                </a:solidFill>
                <a:latin typeface="Microsoft JhengHei"/>
              </a:rPr>
              <a:t>腐化</a:t>
            </a:r>
            <a:r>
              <a:rPr sz="1400" b="1" i="0" dirty="0">
                <a:solidFill>
                  <a:srgbClr val="B03830"/>
                </a:solidFill>
                <a:latin typeface="Microsoft JhengHei"/>
              </a:rPr>
              <a:t>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399" y="3346704"/>
            <a:ext cx="49834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B2633"/>
                </a:solidFill>
                <a:latin typeface="Microsoft JhengHei"/>
              </a:rPr>
              <a:t>隨著資訊量增加，模型從中「準確回想」特定內容的</a:t>
            </a:r>
          </a:p>
          <a:p>
            <a:r>
              <a:rPr sz="1200" b="0" i="0">
                <a:solidFill>
                  <a:srgbClr val="1B2633"/>
                </a:solidFill>
                <a:latin typeface="Microsoft JhengHei"/>
              </a:rPr>
              <a:t>能力會下降。這是模型架構本身造成的。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187952"/>
            <a:ext cx="10881360" cy="603504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187952"/>
            <a:ext cx="1051560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Microsoft JhengHei"/>
              </a:rPr>
              <a:t>所以「模型視窗變大了，全部塞進去就好」是錯的。</a:t>
            </a:r>
            <a:r>
              <a:rPr sz="1500" b="0" i="0">
                <a:solidFill>
                  <a:srgbClr val="C9DAEC"/>
                </a:solidFill>
                <a:latin typeface="Microsoft JhengHei"/>
              </a:rPr>
              <a:t>　真正要做的，是精挑細選在每一步該讓它看到什麼。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19472"/>
            <a:ext cx="10881360" cy="24622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 err="1">
                <a:solidFill>
                  <a:srgbClr val="2E6FD6"/>
                </a:solidFill>
                <a:latin typeface="Microsoft JhengHei"/>
              </a:rPr>
              <a:t>這也是為什麼</a:t>
            </a:r>
            <a:r>
              <a:rPr sz="1600" b="1" i="0" dirty="0">
                <a:solidFill>
                  <a:srgbClr val="2E6FD6"/>
                </a:solidFill>
                <a:latin typeface="Microsoft JhengHei"/>
              </a:rPr>
              <a:t> </a:t>
            </a:r>
            <a:r>
              <a:rPr lang="en-US" sz="1600" b="1" dirty="0">
                <a:solidFill>
                  <a:srgbClr val="2E6FD6"/>
                </a:solidFill>
                <a:latin typeface="Microsoft JhengHei"/>
              </a:rPr>
              <a:t>Anthropic Financial Agent</a:t>
            </a:r>
            <a:r>
              <a:rPr sz="1600" b="1" i="0" dirty="0">
                <a:solidFill>
                  <a:srgbClr val="2E6FD6"/>
                </a:solidFill>
                <a:latin typeface="Microsoft JhengHei"/>
              </a:rPr>
              <a:t> </a:t>
            </a:r>
            <a:r>
              <a:rPr lang="zh-TW" altLang="en-US" sz="1600" b="1" dirty="0">
                <a:solidFill>
                  <a:srgbClr val="2E6F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</a:t>
            </a:r>
            <a:r>
              <a:rPr sz="1600" b="1" i="0" dirty="0">
                <a:solidFill>
                  <a:srgbClr val="2E6FD6"/>
                </a:solidFill>
                <a:latin typeface="Microsoft JhengHei"/>
              </a:rPr>
              <a:t>，</a:t>
            </a:r>
            <a:r>
              <a:rPr sz="1600" b="1" i="0" dirty="0" err="1">
                <a:solidFill>
                  <a:srgbClr val="2E6FD6"/>
                </a:solidFill>
                <a:latin typeface="Microsoft JhengHei"/>
              </a:rPr>
              <a:t>會把提示</a:t>
            </a:r>
            <a:r>
              <a:rPr lang="zh-TW" altLang="en-US" sz="1600" b="1" i="0" dirty="0">
                <a:solidFill>
                  <a:srgbClr val="2E6F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詞</a:t>
            </a:r>
            <a:r>
              <a:rPr sz="1600" b="1" i="0" dirty="0" err="1">
                <a:solidFill>
                  <a:srgbClr val="2E6FD6"/>
                </a:solidFill>
                <a:latin typeface="Microsoft JhengHei"/>
              </a:rPr>
              <a:t>壓到只有</a:t>
            </a:r>
            <a:r>
              <a:rPr sz="1600" b="1" i="0" dirty="0">
                <a:solidFill>
                  <a:srgbClr val="2E6FD6"/>
                </a:solidFill>
                <a:latin typeface="Microsoft JhengHei"/>
              </a:rPr>
              <a:t> 30 行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　—— 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那不是偷懶，是刻意的設計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 dirty="0" err="1">
                <a:solidFill>
                  <a:srgbClr val="0F2E4C"/>
                </a:solidFill>
                <a:latin typeface="Microsoft JhengHei"/>
              </a:rPr>
              <a:t>管理</a:t>
            </a:r>
            <a:r>
              <a:rPr lang="zh-TW" altLang="en-US" sz="2700" b="1" i="0" dirty="0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2700" b="1" i="0" dirty="0" err="1">
                <a:solidFill>
                  <a:srgbClr val="0F2E4C"/>
                </a:solidFill>
                <a:latin typeface="Microsoft JhengHei"/>
              </a:rPr>
              <a:t>的四種手法</a:t>
            </a:r>
            <a:endParaRPr sz="2700" b="1" i="0" dirty="0">
              <a:solidFill>
                <a:srgbClr val="0F2E4C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業界已收斂出的標準做法，</a:t>
            </a:r>
            <a:r>
              <a:rPr lang="en-US" sz="1350" b="0" i="0" dirty="0" err="1">
                <a:solidFill>
                  <a:srgbClr val="5D6875"/>
                </a:solidFill>
              </a:rPr>
              <a:t>Anthropic</a:t>
            </a:r>
            <a:r>
              <a:rPr lang="en-US" sz="1350" b="0" i="0" dirty="0">
                <a:solidFill>
                  <a:srgbClr val="5D6875"/>
                </a:solidFill>
              </a:rPr>
              <a:t> Financial </a:t>
            </a:r>
            <a:r>
              <a:rPr lang="en-US" sz="1350" b="0" i="0" dirty="0" err="1">
                <a:solidFill>
                  <a:srgbClr val="5D6875"/>
                </a:solidFill>
              </a:rPr>
              <a:t>Agent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四種全用上了</a:t>
            </a:r>
            <a:endParaRPr sz="13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280660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28066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498805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① 壓縮（Compaction）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對話快接近上限時，先把前面的內容摘要成一段，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再用這段摘要重新開一個乾淨的視窗繼續。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例：Claude Code 在用到約 95% 時會自動做這件事。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7940" y="1755648"/>
            <a:ext cx="5280660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7940" y="1755648"/>
            <a:ext cx="5280660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4244" y="1901952"/>
            <a:ext cx="498805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1868C"/>
                </a:solidFill>
                <a:latin typeface="Microsoft JhengHei"/>
              </a:rPr>
              <a:t>② 用到才去拿（即時檢索）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不要事先把整個資料庫塞進去。只保留「輕量的索引」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（檔案路徑、查詢語句、連結），需要時才呼叫工具去載入。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這模仿人的做法：需要時才去查，而不是先全背起來。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5280660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675887"/>
            <a:ext cx="528066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3822191"/>
            <a:ext cx="498805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③ 寫到視窗外面（外部記憶）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讓 Agent 把進度、待辦、已確認的結論寫成筆記檔案，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存在脈絡視窗之外，需要時再讀回來。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長時間任務（跑好幾小時）幾乎必須這樣做。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7940" y="3675887"/>
            <a:ext cx="5280660" cy="175564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77940" y="3675887"/>
            <a:ext cx="528066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4244" y="3822191"/>
            <a:ext cx="4988052" cy="1499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④ 用子代理隔離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把聚焦的子任務丟給「子代理」，它用自己乾淨的視窗做完，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只回傳一份濃縮結果給主控，細節不污染主脈絡。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這正是 Part 2 那個專案的核心架構。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760720"/>
            <a:ext cx="10881360" cy="603504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 dirty="0">
                <a:solidFill>
                  <a:srgbClr val="8A5D0F"/>
                </a:solidFill>
                <a:latin typeface="Microsoft JhengHei"/>
              </a:rPr>
              <a:t>💡 </a:t>
            </a:r>
            <a:r>
              <a:rPr sz="1250" b="1" i="0" dirty="0" err="1">
                <a:solidFill>
                  <a:srgbClr val="8A5D0F"/>
                </a:solidFill>
                <a:latin typeface="Microsoft JhengHei"/>
              </a:rPr>
              <a:t>子代理（Subagent</a:t>
            </a:r>
            <a:r>
              <a:rPr sz="1250" b="1" i="0" dirty="0">
                <a:solidFill>
                  <a:srgbClr val="8A5D0F"/>
                </a:solidFill>
                <a:latin typeface="Microsoft JhengHei"/>
              </a:rPr>
              <a:t>）　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由主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 Agent 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派出去、負責單一小任務的「分身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」。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它有自己獨立的視窗和權限，做完把結果交回來就結束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——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這同時解決了</a:t>
            </a:r>
            <a:r>
              <a:rPr lang="zh-TW" altLang="en-US" sz="1250" dirty="0">
                <a:solidFill>
                  <a:srgbClr val="5F4A1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250" b="0" i="0" dirty="0" err="1">
                <a:solidFill>
                  <a:srgbClr val="5F4A1E"/>
                </a:solidFill>
                <a:latin typeface="Microsoft JhengHei"/>
              </a:rPr>
              <a:t>擁擠與權限隔離兩個問題</a:t>
            </a:r>
            <a:r>
              <a:rPr sz="1250" b="0" i="0" dirty="0">
                <a:solidFill>
                  <a:srgbClr val="5F4A1E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工具設計：Agent 與世界之間的唯一契約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模型只能做「你給它的工具能做的事」，所以工具設計就是產品設計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45720" cy="530352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719072"/>
            <a:ext cx="1069848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「我們花在優化工具上的時間，實際超過花在優化整體提示上的時間。」</a:t>
            </a:r>
          </a:p>
          <a:p>
            <a:r>
              <a:rPr sz="1050" b="0" i="0">
                <a:solidFill>
                  <a:srgbClr val="8A94A0"/>
                </a:solidFill>
                <a:latin typeface="Microsoft JhengHei"/>
              </a:rPr>
              <a:t>Anthropic《Building Effective Agents》2024-12（來自 SWE-bench 開發經驗）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95728"/>
            <a:ext cx="10881360" cy="713232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>
                <a:solidFill>
                  <a:srgbClr val="8A5D0F"/>
                </a:solidFill>
                <a:latin typeface="Microsoft JhengHei"/>
              </a:rPr>
              <a:t>💡 MCP（模型情境協定）　</a:t>
            </a:r>
            <a:r>
              <a:rPr sz="1250" b="0" i="0">
                <a:solidFill>
                  <a:srgbClr val="5F4A1E"/>
                </a:solidFill>
                <a:latin typeface="Microsoft JhengHei"/>
              </a:rPr>
              <a:t>讓 AI 助理接上外部系統（總帳、CRM、行情資料）的「標準插座」。有了它，接一個新資料來源不用為每個模型各寫一次。2025 年 12 月已捐給 Linux Foundation，成為跨廠商中立標準。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77240" y="3264408"/>
          <a:ext cx="10881360" cy="25420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原則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為什麼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具體做法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回傳要精簡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工具回傳的每個字都在吃脈絡預算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內建分頁、篩選、截斷，並給合理的預設值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名字要分群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工具一多，模型就會挑錯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相關工具用共同前綴命名（如 gl_ 開頭）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寧少勿多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不要把每個 API 端點都變成一個工具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一個工具可以在底層做掉好幾個呼叫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錯誤訊息要會教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錯誤是模型唯一的學習訊號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寫「你少了什麼、該怎麼改」，不要丟錯誤代碼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讓呼叫端能挑詳略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同一個工具，不同情境需要的量不同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加一個「簡要／詳細」的參數讓模型自己選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工具本身也要測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模型用錯工具，通常是工具設計的問題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用大量真實案例跑，看它會犯什麼錯，然後改工具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評測：怎麼知道這個 Agent 到底行不行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讓 Agent 有用的三個特質，同時也讓它變得難評估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881360" cy="566928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77529"/>
            <a:ext cx="1065276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 err="1">
                <a:solidFill>
                  <a:srgbClr val="FFFFFF"/>
                </a:solidFill>
                <a:latin typeface="Microsoft JhengHei"/>
              </a:rPr>
              <a:t>自主、聰明、靈活</a:t>
            </a:r>
            <a:r>
              <a:rPr sz="1350" b="0" i="0" dirty="0">
                <a:solidFill>
                  <a:srgbClr val="C9DAEC"/>
                </a:solidFill>
                <a:latin typeface="Microsoft JhengHei"/>
              </a:rPr>
              <a:t>　—— </a:t>
            </a:r>
            <a:r>
              <a:rPr sz="1350" b="0" i="0" dirty="0" err="1">
                <a:solidFill>
                  <a:srgbClr val="C9DAEC"/>
                </a:solidFill>
                <a:latin typeface="Microsoft JhengHei"/>
              </a:rPr>
              <a:t>正是這三點讓它有價值，也正是這三點讓它難以測試：它每次可能走不同的路，而且會找到你沒想過的解法</a:t>
            </a:r>
            <a:r>
              <a:rPr sz="1350" b="0" i="0" dirty="0">
                <a:solidFill>
                  <a:srgbClr val="C9DAEC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50591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四個實務原則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79775"/>
            <a:ext cx="10881360" cy="5852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評「結果」，不要過度評「路徑」　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硬性規定它必須怎麼走，只會做出很脆弱的測試——因為 Agent 常會找到你沒預料到、但同樣正確的做法。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73551"/>
            <a:ext cx="10881360" cy="5852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20～50 個真實失敗案例就能起步　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不需要幾千筆。開發早期問題很明顯，小樣本就足以看出差異。把客訴單、bug 回報直接變成測試題就是最好的起點。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7"/>
            <a:ext cx="10881360" cy="5852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用模型當評審時，一個維度一個評審　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不要用一個綜合分數。另外務必給它「不知道」這個選項，否則資訊不足時它會硬掰一個分數。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61103"/>
            <a:ext cx="10881360" cy="5852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一定要有人親自讀執行紀錄　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自動化評分抓不到偏誤。實例：人工檢查才發現早期系統一直偏好「SEO 農場文」而不是權威來源。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809743"/>
            <a:ext cx="10881360" cy="512064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809743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B03830"/>
                </a:solidFill>
                <a:latin typeface="Microsoft JhengHei"/>
              </a:rPr>
              <a:t>⚠️ 一個真實教訓：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某次評測顯示模型只拿 42 分，修好「評分程式本身的 bug」之後，實際是 95 分。評分器沒被驗證過，等於沒有評測。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護欄與人為把關：為什麼「都讓人核准」其實不安全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一個被實際量化出來的問題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881360" cy="768096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51560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⚠️ 2026-03 實測數據：使用者核准了約 </a:t>
            </a:r>
            <a:r>
              <a:rPr sz="2200" b="1" i="0">
                <a:solidFill>
                  <a:srgbClr val="B03830"/>
                </a:solidFill>
                <a:latin typeface="Microsoft JhengHei"/>
              </a:rPr>
              <a:t>93%</a:t>
            </a:r>
            <a:r>
              <a:rPr sz="1500" b="1" i="0">
                <a:solidFill>
                  <a:srgbClr val="0F2E4C"/>
                </a:solidFill>
                <a:latin typeface="Microsoft JhengHei"/>
              </a:rPr>
              <a:t> 的權限提示。</a:t>
            </a:r>
            <a:r>
              <a:rPr sz="1350" b="0" i="0">
                <a:solidFill>
                  <a:srgbClr val="5D6875"/>
                </a:solidFill>
                <a:latin typeface="Microsoft JhengHei"/>
              </a:rPr>
              <a:t>　「使用者看到的核准提示越多，對每一個就越不專心。」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結論很直接：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把所有決定都丟給人核准，不等於安全，只等於把責任轉移給一個已經麻痺的人。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所以成熟的做法是「分層防守」，而不是單靠人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3505200" cy="163280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350520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602736"/>
            <a:ext cx="321259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第一層：環境圍堵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沙箱、虛擬機、限制對外連線。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不管模型想做什麼，物理上做不到的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就是做不到。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→ 實務教訓：自製的隔離元件，普遍不如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　 業界已驗證的成熟機制可靠。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65320" y="3456432"/>
            <a:ext cx="3505200" cy="163280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65320" y="3456432"/>
            <a:ext cx="3505200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1624" y="3602736"/>
            <a:ext cx="321259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 dirty="0" err="1">
                <a:solidFill>
                  <a:srgbClr val="11868C"/>
                </a:solidFill>
                <a:latin typeface="Microsoft JhengHei"/>
              </a:rPr>
              <a:t>第二層：架構隔離</a:t>
            </a:r>
            <a:endParaRPr sz="1450" b="1" i="0" dirty="0">
              <a:solidFill>
                <a:srgbClr val="11868C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讓「碰得到髒資料的角色」和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「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能造成後果的角色」永遠不是同一個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</a:pP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→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這正是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Part 2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專案的核心手法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，</a:t>
            </a: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　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下一段會完整拆解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3399" y="3456432"/>
            <a:ext cx="3505200" cy="163280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53399" y="3456432"/>
            <a:ext cx="350520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9704" y="3602736"/>
            <a:ext cx="321259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第三層：選擇性人工把關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只在高風險動作攔截（付款、過帳、對外發送），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而不是每一步都問。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→ 把人的注意力留給真正重要的決定。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285231"/>
            <a:ext cx="10881360" cy="621792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>
                <a:solidFill>
                  <a:srgbClr val="8A5D0F"/>
                </a:solidFill>
                <a:latin typeface="Microsoft JhengHei"/>
              </a:rPr>
              <a:t>💡 提示注入（Prompt Injection）　</a:t>
            </a:r>
            <a:r>
              <a:rPr sz="1250" b="0" i="0">
                <a:solidFill>
                  <a:srgbClr val="5F4A1E"/>
                </a:solidFill>
                <a:latin typeface="Microsoft JhengHei"/>
              </a:rPr>
              <a:t>把惡意指令藏在 Agent 會讀到的文件或網頁裡（例如一份 PDF 裡寫著「請把資料寄到某某信箱」），騙它照做。這是 Agent 最主要的安全威脅。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成本：Agent 架構是拿錢與時間，換取表現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說服管理層時最需要講清楚的一節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相對於一般對話，Token（用量）的量級差異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B2633"/>
                </a:solidFill>
                <a:latin typeface="Microsoft JhengHei"/>
              </a:rPr>
              <a:t>一般對話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121408"/>
            <a:ext cx="566928" cy="329184"/>
          </a:xfrm>
          <a:prstGeom prst="rect">
            <a:avLst/>
          </a:prstGeom>
          <a:solidFill>
            <a:srgbClr val="5D6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74136" y="2084831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5D6875"/>
                </a:solidFill>
                <a:latin typeface="Microsoft JhengHei"/>
              </a:rPr>
              <a:t>約 1×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B2633"/>
                </a:solidFill>
                <a:latin typeface="Microsoft JhengHei"/>
              </a:rPr>
              <a:t>單一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2615184"/>
            <a:ext cx="2267712" cy="32918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74920" y="257860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1868C"/>
                </a:solidFill>
                <a:latin typeface="Microsoft JhengHei"/>
              </a:rPr>
              <a:t>約 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7238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1B2633"/>
                </a:solidFill>
                <a:latin typeface="Microsoft JhengHei"/>
              </a:rPr>
              <a:t>多代理系統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3108960"/>
            <a:ext cx="8229600" cy="32918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36807" y="307238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 i="0">
                <a:solidFill>
                  <a:srgbClr val="D9772B"/>
                </a:solidFill>
                <a:latin typeface="Microsoft JhengHei"/>
              </a:rPr>
              <a:t>約 15×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75887"/>
            <a:ext cx="45720" cy="5120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" y="3639311"/>
            <a:ext cx="10698480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「光是 token 使用量本身，就解釋了 80% 的表現差異。」</a:t>
            </a:r>
          </a:p>
          <a:p>
            <a:r>
              <a:rPr sz="1050" b="0" i="0">
                <a:solidFill>
                  <a:srgbClr val="8A94A0"/>
                </a:solidFill>
                <a:latin typeface="Microsoft JhengHei"/>
              </a:rPr>
              <a:t>Anthropic《多代理研究系統》2025-06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79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這句話有兩面意義：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多代理之所以表現好，很大程度是因為它「買了更多的思考量」。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18303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B03830"/>
                </a:solidFill>
                <a:latin typeface="Microsoft JhengHei"/>
              </a:rPr>
              <a:t>所以問題永遠是——這個表現增益，值不值這個價？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193791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兩個實務對策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522975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模型分層：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貴的模型負責規劃與統整，便宜的模型負責可平行的檢索苦工。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943599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認清多代理不是升級版：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它只適合「可以拆開平行做」的任務。子任務彼此高度依賴時，多代理只會放大成本與協調失敗。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 dirty="0" err="1">
                <a:solidFill>
                  <a:srgbClr val="0F2E4C"/>
                </a:solidFill>
                <a:latin typeface="Microsoft JhengHei"/>
              </a:rPr>
              <a:t>小結：從「它是什麼」推出「該怎麼做</a:t>
            </a:r>
            <a:r>
              <a:rPr sz="2700" b="1" i="0" dirty="0">
                <a:solidFill>
                  <a:srgbClr val="0F2E4C"/>
                </a:solidFill>
                <a:latin typeface="Microsoft JhengHei"/>
              </a:rPr>
              <a:t>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 dirty="0" err="1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這七條會在</a:t>
            </a:r>
            <a:r>
              <a:rPr lang="zh-TW" altLang="en-US" sz="13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下一章</a:t>
            </a:r>
            <a:r>
              <a:rPr sz="13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一一對應到實際的設計手法</a:t>
            </a:r>
            <a:endParaRPr sz="13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1018520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7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從這個事實</a:t>
                      </a:r>
                      <a:endParaRPr sz="1150" b="1" i="0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推出這個設計準則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Agent ＝ 模型在迴圈中用工具並取得回饋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沒有可靠的驗證訊號，就沒有可靠的 Agent。先投資「怎麼檢查」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路徑由模型決定 ＝ 自主 ＝ 不可預測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 dirty="0" err="1">
                          <a:solidFill>
                            <a:srgbClr val="1B2633"/>
                          </a:solidFill>
                          <a:latin typeface="Microsoft JhengHei"/>
                        </a:rPr>
                        <a:t>能用固定流程解決的就別上</a:t>
                      </a:r>
                      <a:r>
                        <a:rPr sz="1250" b="0" i="0" dirty="0">
                          <a:solidFill>
                            <a:srgbClr val="1B2633"/>
                          </a:solidFill>
                          <a:latin typeface="Microsoft JhengHei"/>
                        </a:rPr>
                        <a:t> </a:t>
                      </a:r>
                      <a:r>
                        <a:rPr sz="1250" b="0" i="0" dirty="0" err="1">
                          <a:solidFill>
                            <a:srgbClr val="1B2633"/>
                          </a:solidFill>
                          <a:latin typeface="Microsoft JhengHei"/>
                        </a:rPr>
                        <a:t>Agent；自主性只在必要時才值得</a:t>
                      </a:r>
                      <a:endParaRPr sz="1250" b="0" i="0" dirty="0">
                        <a:solidFill>
                          <a:srgbClr val="1B2633"/>
                        </a:solidFill>
                        <a:latin typeface="Microsoft JhengHei"/>
                      </a:endParaRP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脈絡是有限資源，而且會腐化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不要預先塞滿；要用時才取、主動壓縮、用子代理隔離、寫到視窗外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工具是模型唯一的行動集合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工具設計就是產品設計：少而整併、回傳精簡、錯誤訊息會教學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Agent 會找到你沒預料到的路徑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評結果不評路徑；20～50 個真實案例就能起步；一定要人工讀紀錄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人類會核准 93% 的提示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人工把關必須是「選擇性」的，並且要有環境沙箱與架構隔離兜底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多代理成本約 15×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先問值不值得；用模型分層；不可平行的任務不要用多代理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7EB2F0"/>
                </a:solidFill>
                <a:latin typeface="Microsoft JhengHe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6583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dirty="0" err="1">
                <a:solidFill>
                  <a:srgbClr val="FFFFFF"/>
                </a:solidFill>
                <a:latin typeface="+mj-lt"/>
              </a:rPr>
              <a:t>Anthropic</a:t>
            </a:r>
            <a:r>
              <a:rPr sz="4000" b="1" i="0" dirty="0" err="1">
                <a:solidFill>
                  <a:srgbClr val="FFFFFF"/>
                </a:solidFill>
                <a:latin typeface="Microsoft JhengHei"/>
              </a:rPr>
              <a:t>怎麼設計</a:t>
            </a:r>
            <a:r>
              <a:rPr sz="4000" b="1" i="0" dirty="0">
                <a:solidFill>
                  <a:srgbClr val="FFFFFF"/>
                </a:solidFill>
                <a:latin typeface="Microsoft JhengHei"/>
              </a:rPr>
              <a:t>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B9CCE0"/>
                </a:solidFill>
                <a:latin typeface="Microsoft JhengHei"/>
              </a:rPr>
              <a:t>一套涵蓋前中後台的金融 AI 助理，
已經完整實作、可以逐項檢視的設計手法。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48840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20939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一份原稿，兩種封裝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624328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2569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薄提示、厚技能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99816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0449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用架構保證安全，不靠模型自制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575304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5204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四眼原則被寫進拓撲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050791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9959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散文說謊會讓 CI 失敗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先看全貌：這套專案裡有什麼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十個具名</a:t>
            </a:r>
            <a:r>
              <a:rPr lang="zh-TW" altLang="en-US" sz="135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理</a:t>
            </a:r>
            <a:r>
              <a:rPr lang="en-US" sz="1350" b="0" i="0" dirty="0">
                <a:solidFill>
                  <a:srgbClr val="5D6875"/>
                </a:solidFill>
                <a:latin typeface="Microsoft JhengHei"/>
              </a:rPr>
              <a:t>(</a:t>
            </a:r>
            <a:r>
              <a:rPr lang="en-US" sz="1350" b="0" i="0" dirty="0">
                <a:solidFill>
                  <a:srgbClr val="5D6875"/>
                </a:solidFill>
              </a:rPr>
              <a:t>Named Agent</a:t>
            </a:r>
            <a:r>
              <a:rPr lang="en-US" sz="1350" b="0" i="0" dirty="0">
                <a:solidFill>
                  <a:srgbClr val="5D6875"/>
                </a:solidFill>
                <a:latin typeface="Microsoft JhengHei"/>
              </a:rPr>
              <a:t>)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，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覆蓋一家金融公司從前台到後台的完整作業鏈</a:t>
            </a:r>
            <a:endParaRPr sz="13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2615184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2615184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E6FD6"/>
                </a:solidFill>
                <a:latin typeface="Microsoft JhengHe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14015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 dirty="0" err="1">
                <a:solidFill>
                  <a:srgbClr val="0F2E4C"/>
                </a:solidFill>
                <a:latin typeface="Microsoft JhengHei"/>
              </a:rPr>
              <a:t>個具名</a:t>
            </a:r>
            <a:r>
              <a:rPr lang="zh-TW" altLang="en-US" sz="1300" b="1" dirty="0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300" b="1" i="0" dirty="0">
                <a:solidFill>
                  <a:srgbClr val="0F2E4C"/>
                </a:solidFill>
                <a:latin typeface="Microsoft JhengHei"/>
              </a:rPr>
              <a:t>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670048"/>
            <a:ext cx="2340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5D6875"/>
                </a:solidFill>
                <a:latin typeface="Microsoft JhengHei"/>
              </a:rPr>
              <a:t>每個都是完整可用的角色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30168" y="1755648"/>
            <a:ext cx="2615184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30168" y="1755648"/>
            <a:ext cx="2615184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6472" y="19019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1868C"/>
                </a:solidFill>
                <a:latin typeface="Microsoft JhengHei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414015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2E4C"/>
                </a:solidFill>
                <a:latin typeface="Microsoft JhengHei"/>
              </a:rPr>
              <a:t>個業務領域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2670048"/>
            <a:ext cx="2340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 dirty="0" err="1">
                <a:solidFill>
                  <a:srgbClr val="5D6875"/>
                </a:solidFill>
                <a:latin typeface="Microsoft JhengHei"/>
              </a:rPr>
              <a:t>投行、研究、財管、基金行政、私募、作業、財務分析</a:t>
            </a:r>
            <a:endParaRPr sz="10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83096" y="1755648"/>
            <a:ext cx="2615184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83096" y="1755648"/>
            <a:ext cx="2615184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19019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2E8B57"/>
                </a:solidFill>
                <a:latin typeface="Microsoft JhengHei"/>
              </a:rPr>
              <a:t>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414015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2E4C"/>
                </a:solidFill>
                <a:latin typeface="Microsoft JhengHei"/>
              </a:rPr>
              <a:t>個技能（Skill）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70048"/>
            <a:ext cx="2340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5D6875"/>
                </a:solidFill>
                <a:latin typeface="Microsoft JhengHei"/>
              </a:rPr>
              <a:t>共 9,448 行的專業作業知識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6024" y="1755648"/>
            <a:ext cx="2615184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336024" y="1755648"/>
            <a:ext cx="2615184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2328" y="1901952"/>
            <a:ext cx="2340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D9772B"/>
                </a:solidFill>
                <a:latin typeface="Microsoft Jheng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82328" y="2414015"/>
            <a:ext cx="23408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F2E4C"/>
                </a:solidFill>
                <a:latin typeface="Microsoft JhengHei"/>
              </a:rPr>
              <a:t>種交付形式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670048"/>
            <a:ext cx="23408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5D6875"/>
                </a:solidFill>
                <a:latin typeface="Microsoft JhengHei"/>
              </a:rPr>
              <a:t>同一份原稿，兩種封裝方式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777240" y="3273552"/>
          <a:ext cx="11018520" cy="19933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前台：贏得業務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中台：開戶審查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後台：基金日常與交代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🤝 會前準備　客戶會議前的資料包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🔍 開戶審查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⚖️ 總帳對帳　每日帳目核對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🔭 市場研究　產業與競爭格局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解析開戶文件、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📅 月底結帳　應計、結轉、差異說明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📊 財報追蹤　法說會解讀與模型更新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套用反洗錢規則、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💰 估值複核　季末估值與收益分配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🧮 估值建模　現金流折現、槓桿收購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比對制裁與政治人物名單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🧾 對帳單稽核　寄送前的最後把關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🎯 投行提案　同業比較與提案簡報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777240" y="5394960"/>
            <a:ext cx="10881360" cy="493776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60120" y="5394960"/>
            <a:ext cx="1051560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貫穿全部的一句話：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每個助理都只負責「起草、建議」，從不自己下決定——最後一定有人覆核、簽核。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①：一份原稿，兩種封裝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同一個</a:t>
            </a:r>
            <a:r>
              <a:rPr lang="zh-TW" altLang="en-US" sz="13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理只寫一次「工作守則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」，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外面套兩層不同的殼，變成兩種產品</a:t>
            </a:r>
            <a:endParaRPr sz="135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703320" y="1801368"/>
            <a:ext cx="4754880" cy="105156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86200" y="1911095"/>
            <a:ext cx="43891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 err="1">
                <a:solidFill>
                  <a:srgbClr val="FFFFFF"/>
                </a:solidFill>
                <a:latin typeface="Microsoft JhengHei"/>
              </a:rPr>
              <a:t>唯一來源：一份</a:t>
            </a:r>
            <a:r>
              <a:rPr lang="zh-TW" altLang="en-US" sz="1500" b="1" i="0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代</a:t>
            </a:r>
            <a:r>
              <a:rPr sz="1500" b="1" i="0" dirty="0" err="1">
                <a:solidFill>
                  <a:srgbClr val="FFFFFF"/>
                </a:solidFill>
                <a:latin typeface="Microsoft JhengHei"/>
              </a:rPr>
              <a:t>理的「工作守則</a:t>
            </a:r>
            <a:r>
              <a:rPr sz="1500" b="1" i="0" dirty="0">
                <a:solidFill>
                  <a:srgbClr val="FFFFFF"/>
                </a:solidFill>
                <a:latin typeface="Microsoft JhengHei"/>
              </a:rPr>
              <a:t>」</a:t>
            </a:r>
          </a:p>
          <a:p>
            <a:pPr algn="ctr"/>
            <a:r>
              <a:rPr sz="1200" b="0" i="0" dirty="0" err="1">
                <a:solidFill>
                  <a:srgbClr val="B9CCE0"/>
                </a:solidFill>
                <a:latin typeface="Microsoft JhengHei"/>
              </a:rPr>
              <a:t>角色、產出、工作流程、護欄、子代理拓撲</a:t>
            </a:r>
            <a:endParaRPr sz="1200" b="0" i="0" dirty="0">
              <a:solidFill>
                <a:srgbClr val="B9CCE0"/>
              </a:solidFill>
              <a:latin typeface="Microsoft Jheng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3320" y="288036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A94A0"/>
                </a:solidFill>
                <a:latin typeface="Microsoft JhengHei"/>
              </a:rPr>
              <a:t>▼　同一份內容，套兩種殼　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227832"/>
            <a:ext cx="5349240" cy="1572768"/>
          </a:xfrm>
          <a:prstGeom prst="rect">
            <a:avLst/>
          </a:prstGeom>
          <a:solidFill>
            <a:srgbClr val="FFFFFF"/>
          </a:solidFill>
          <a:ln w="1651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227832"/>
            <a:ext cx="534924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374136"/>
            <a:ext cx="498347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rgbClr val="2E6FD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r>
              <a:rPr sz="1500" b="1" i="0" dirty="0">
                <a:solidFill>
                  <a:srgbClr val="2E6FD6"/>
                </a:solidFill>
                <a:latin typeface="Microsoft JhengHei"/>
              </a:rPr>
              <a:t> </a:t>
            </a:r>
            <a:r>
              <a:rPr sz="1500" b="1" i="0" dirty="0" err="1">
                <a:solidFill>
                  <a:srgbClr val="2E6FD6"/>
                </a:solidFill>
                <a:latin typeface="Microsoft JhengHei"/>
              </a:rPr>
              <a:t>A：互動協作模式</a:t>
            </a:r>
            <a:endParaRPr sz="1500" b="1" i="0" dirty="0">
              <a:solidFill>
                <a:srgbClr val="2E6FD6"/>
              </a:solidFill>
              <a:latin typeface="Microsoft Jheng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0120" y="3739896"/>
            <a:ext cx="4983479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1B2633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1B2633"/>
                </a:solidFill>
                <a:latin typeface="Microsoft JhengHei"/>
              </a:rPr>
              <a:t>在工具中與</a:t>
            </a:r>
            <a:r>
              <a:rPr lang="zh-TW" altLang="en-US" sz="1200" b="0" i="0" dirty="0">
                <a:solidFill>
                  <a:srgbClr val="1B263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使用者</a:t>
            </a:r>
            <a:r>
              <a:rPr sz="1200" b="0" i="0" dirty="0" err="1">
                <a:solidFill>
                  <a:srgbClr val="1B2633"/>
                </a:solidFill>
                <a:latin typeface="Microsoft JhengHei"/>
              </a:rPr>
              <a:t>一起操作，過程由人逐步確認</a:t>
            </a:r>
            <a:endParaRPr sz="1200" b="0" i="0" dirty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1B2633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1B2633"/>
                </a:solidFill>
                <a:latin typeface="Microsoft JhengHei"/>
              </a:rPr>
              <a:t>分析師本人就能裝來用，今天就能上手</a:t>
            </a:r>
            <a:endParaRPr sz="1200" b="0" i="0" dirty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人全程在旁邊，每一步都能攔下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安全靠「人」這道閘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46519" y="3227832"/>
            <a:ext cx="5349240" cy="1572768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46519" y="3227832"/>
            <a:ext cx="534924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399" y="3374136"/>
            <a:ext cx="498347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500" b="1" dirty="0">
                <a:solidFill>
                  <a:srgbClr val="D9772B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模式</a:t>
            </a:r>
            <a:r>
              <a:rPr sz="1500" b="1" i="0" dirty="0">
                <a:solidFill>
                  <a:srgbClr val="D9772B"/>
                </a:solidFill>
                <a:latin typeface="Microsoft JhengHei"/>
              </a:rPr>
              <a:t> </a:t>
            </a:r>
            <a:r>
              <a:rPr sz="1500" b="1" i="0" dirty="0" err="1">
                <a:solidFill>
                  <a:srgbClr val="D9772B"/>
                </a:solidFill>
                <a:latin typeface="Microsoft JhengHei"/>
              </a:rPr>
              <a:t>B：雲端自動執行</a:t>
            </a:r>
            <a:endParaRPr sz="1500" b="1" i="0" dirty="0">
              <a:solidFill>
                <a:srgbClr val="D9772B"/>
              </a:solidFill>
              <a:latin typeface="Microsoft Jheng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399" y="3739896"/>
            <a:ext cx="498347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1B2633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1B2633"/>
                </a:solidFill>
                <a:latin typeface="Microsoft JhengHei"/>
              </a:rPr>
              <a:t>部署到雲端自動運行，由後端程式呼叫</a:t>
            </a:r>
            <a:endParaRPr sz="1200" b="0" i="0" dirty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1B2633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1B2633"/>
                </a:solidFill>
                <a:latin typeface="Microsoft JhengHei"/>
              </a:rPr>
              <a:t>平台團隊掛在自家工作流引擎後面</a:t>
            </a:r>
            <a:endParaRPr sz="1200" b="0" i="0" dirty="0">
              <a:solidFill>
                <a:srgbClr val="1B2633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無人值守，沒有人可以攔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2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安全只能靠「架構」這道閘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983480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為什麼要這樣做？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　金融機構的採用有兩段：分析師個人先裝來試，IT 平台團隊再把同一個助理產品化部署。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85816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0" i="0">
                <a:solidFill>
                  <a:srgbClr val="1B2633"/>
                </a:solidFill>
                <a:latin typeface="Microsoft JhengHei"/>
              </a:rPr>
              <a:t>如果兩邊各自維護提示，行為會漂移，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合規審查等於要做兩次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。這個設計讓「行為的唯一真相」只有一份檔案。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19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②：薄提示、厚技能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最反直覺的發現：每個助理的主提示只有 30～37 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行數對比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633"/>
                </a:solidFill>
                <a:latin typeface="Microsoft JhengHei"/>
              </a:rPr>
              <a:t>10 個助理的主提示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029967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2E6FD6"/>
                </a:solidFill>
                <a:latin typeface="Microsoft JhengHei"/>
              </a:rPr>
              <a:t>331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084831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D6875"/>
                </a:solidFill>
                <a:latin typeface="Microsoft JhengHei"/>
              </a:rPr>
              <a:t>行（平均每個 33 行）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633"/>
                </a:solidFill>
                <a:latin typeface="Microsoft JhengHei"/>
              </a:rPr>
              <a:t>單一個技能檔（估值建模）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42032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D9772B"/>
                </a:solidFill>
                <a:latin typeface="Microsoft JhengHei"/>
              </a:rPr>
              <a:t>1,265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59689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D6875"/>
                </a:solidFill>
                <a:latin typeface="Microsoft JhengHei"/>
              </a:rPr>
              <a:t>行（是所有主提示加總的 4 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1B2633"/>
                </a:solidFill>
                <a:latin typeface="Microsoft JhengHei"/>
              </a:rPr>
              <a:t>全部 55 個技能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054096"/>
            <a:ext cx="1463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100" b="1" i="0">
                <a:solidFill>
                  <a:srgbClr val="2E8B57"/>
                </a:solidFill>
                <a:latin typeface="Microsoft JhengHei"/>
              </a:rPr>
              <a:t>9,448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1089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D6875"/>
                </a:solidFill>
                <a:latin typeface="Microsoft JhengHei"/>
              </a:rPr>
              <a:t>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712463"/>
            <a:ext cx="10881360" cy="512064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712463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Microsoft JhengHei"/>
              </a:rPr>
              <a:t>這不是「還沒寫完」，是刻意的職責分層。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352544"/>
            <a:ext cx="5280660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352544"/>
            <a:ext cx="528066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4498848"/>
            <a:ext cx="49880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主提示 ＝ 「憲法」（30 行）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我是誰、我負責到哪裡、我不能做什麼、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我底下有哪些工人。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好處：治理與合規審查只需要看一頁。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7940" y="4352544"/>
            <a:ext cx="5280660" cy="151790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77940" y="4352544"/>
            <a:ext cx="528066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24244" y="4498848"/>
            <a:ext cx="4988052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技能 ＝ 「作業手冊」（可達 1,265 行）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現金流折現該怎麼建、哪些是常見錯誤、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算出來要怎麼驗證。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好處：專業知識可以獨立更新，不動到憲法。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199631"/>
            <a:ext cx="10881360" cy="603504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>
                <a:solidFill>
                  <a:srgbClr val="8A5D0F"/>
                </a:solidFill>
                <a:latin typeface="Microsoft JhengHei"/>
              </a:rPr>
              <a:t>💡 技能（Skill）　</a:t>
            </a:r>
            <a:r>
              <a:rPr sz="1250" b="0" i="0">
                <a:solidFill>
                  <a:srgbClr val="5F4A1E"/>
                </a:solidFill>
                <a:latin typeface="Microsoft JhengHei"/>
              </a:rPr>
              <a:t>一個資料夾，裡面放「做某件專業工作的完整步驟說明」，可以被多個助理共用。它不會一直佔著模型的記憶體——只有在真的用到時才被載入。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每份主提示都是同一個五段式模板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十個助理的結構完全一致，所以可以被稽核、被複製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972800" cy="29077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區塊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作用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實際內容（摘錄）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① 工具白名單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先宣告這個助理准許使用哪些工具與資料來源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「唯讀類工具 ＋ 總帳、明細帳兩個資料來源」——其餘一律不給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② 角色定位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永遠一句話，而且用「真實職稱」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「你是總帳對帳員 —— 一位負責每日對帳的基金會計控制員」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③ 你要產出什麼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輸出規格放在流程之前，先講交付物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「給定交易日與資產類別，你要交付：① 差異清單 ② 根因追溯 ③ 例外報告」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④ 工作流程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編號步驟，動詞開頭，明確點名要用哪個技能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「2. 比對並隔離差異。每個資產類別派一個讀取工人…」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⑤ 護欄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三到四條，永遠是最後一段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「不做過帳。本助理只產出報告，帳務調整需人工核准。」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846320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注意 ② 的用字：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角色一律寫成「你是 X —— 一位負責 Y 的〈真實職稱〉」，並且都說「負責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初稿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248656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用行內既有的職級語彙（分析師、控制員、資深協理），讓模型繼承那個職級隱含的專業標準與謹慎程度；「初稿」則預先設定了期待值——它交的不是終稿。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一個小而聰明的手法：負向路由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每個助理不只說「我能做什麼」，還明確說「我不做什麼，該找誰」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 dirty="0" err="1">
                <a:solidFill>
                  <a:srgbClr val="11868C"/>
                </a:solidFill>
                <a:latin typeface="Microsoft JhengHei"/>
              </a:rPr>
              <a:t>固定句型：Use</a:t>
            </a:r>
            <a:r>
              <a:rPr sz="1500" b="1" i="0" dirty="0">
                <a:solidFill>
                  <a:srgbClr val="11868C"/>
                </a:solidFill>
                <a:latin typeface="Microsoft JhengHei"/>
              </a:rPr>
              <a:t> for X — not for Y (use Z instead)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84831"/>
          <a:ext cx="10972800" cy="23591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助理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我負責的範圍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超出範圍時，去哪裡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⚖️ 總帳對帳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用於每日或月結對帳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不做傳票過帳 → 請找「月底結帳」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🔭 市場研究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用於產業或主題研究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不做單一個股追蹤 → 請找「財報追蹤」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🧮 估值建模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用於從零建一份新模型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不做既有模型更新 → 請找「財報追蹤」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🎯 投行提案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用於做第一版提案包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不做既有簡報編輯 → 直接用技能就好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🔍 開戶審查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用於新客戶開戶審查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不做交易監控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7240" y="4672583"/>
            <a:ext cx="10881360" cy="56692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672583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為什麼值得學：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使用者常常會把事情交給錯的助理。與其讓它勉強做一個爛結果，不如讓它明確把人導向正確的地方——這是很低成本、但顯著提升可用性的設計。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40679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同時也是一種風險控制：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「不做交易監控」「不做過帳」這類句子，等於在提示層就把責任邊界寫死，避免它越界做出沒被審查過的事。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③：十個助理，同一套三工人拓撲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這不是十個各自為政的原型，而是一個被模板化、可稽核的生產模式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972800" cy="30723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助理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① 讀取者（碰外來髒資料）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② 中間處理者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③ 產出者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🎯 投行提案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資料蒐集者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建模者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簡報撰寫者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🔭 市場研究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產業閱讀者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同業比較者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筆記撰寫者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📊 財報追蹤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逐字稿閱讀者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模型更新者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筆記撰寫者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🤝 會前準備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客戶側寫者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新聞閱讀者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資料包撰寫者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🧮 估值建模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資料調取者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模型建置者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獨立稽核者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⚖️ 總帳對帳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對帳單閱讀者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獨立複核者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例外報告撰寫者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🔍 開戶審查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文件閱讀者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規則引擎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呈報撰寫者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💰 估值複核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估值包閱讀者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估值計算者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報告撰寫者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📅 月底結帳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總帳閱讀者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結轉計算者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結帳包撰寫者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🧾 對帳單稽核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對帳單閱讀者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逐欄核對者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★ 例外標記者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4992624"/>
            <a:ext cx="10881360" cy="5486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499262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>
                <a:solidFill>
                  <a:srgbClr val="B03830"/>
                </a:solidFill>
                <a:latin typeface="Microsoft JhengHei"/>
              </a:rPr>
              <a:t>★ ＝ </a:t>
            </a:r>
            <a:r>
              <a:rPr sz="1500" b="1" i="0" dirty="0" err="1">
                <a:solidFill>
                  <a:srgbClr val="B03830"/>
                </a:solidFill>
                <a:latin typeface="Microsoft JhengHei"/>
              </a:rPr>
              <a:t>該助理中「唯一持有寫入權」的工人</a:t>
            </a:r>
            <a:r>
              <a:rPr sz="1500" b="1" i="0" dirty="0">
                <a:solidFill>
                  <a:srgbClr val="B03830"/>
                </a:solidFill>
                <a:latin typeface="Microsoft JhengHei"/>
              </a:rPr>
              <a:t>。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　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三個角色、固定分工、</a:t>
            </a:r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深度只有一層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——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主代理可以呼叫工人，但工人不能再往下呼叫別的工人。這條限制被自動化測試強制檢查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④：安全靠架構保證，不靠模型的自制力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整套設計最核心的一句話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881360" cy="658368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515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Microsoft JhengHei"/>
              </a:rPr>
              <a:t>沒有任何一個角色，同時擁有「讀取不可信內容」與「造成實際後果」的能力。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87751"/>
            <a:ext cx="3520440" cy="2212848"/>
          </a:xfrm>
          <a:prstGeom prst="rect">
            <a:avLst/>
          </a:prstGeom>
          <a:solidFill>
            <a:srgbClr val="FFFFFF"/>
          </a:solidFill>
          <a:ln w="1651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2587751"/>
            <a:ext cx="3520440" cy="54864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2715768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B03830"/>
                </a:solidFill>
                <a:latin typeface="Microsoft JhengHei"/>
              </a:rPr>
              <a:t>① 隔離讀取子代理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026663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5D6875"/>
                </a:solidFill>
                <a:latin typeface="Microsoft JhengHei"/>
              </a:rPr>
              <a:t>碰髒資料，但沒有出口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319272"/>
            <a:ext cx="32278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✓ 讀取外來文件（對手對帳單、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　 護照、法說會逐字稿、發票）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沒有任何對外連線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沒有寫入權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不能執行程式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98848" y="2587751"/>
            <a:ext cx="3520440" cy="2212848"/>
          </a:xfrm>
          <a:prstGeom prst="rect">
            <a:avLst/>
          </a:prstGeom>
          <a:solidFill>
            <a:srgbClr val="FFFFFF"/>
          </a:solidFill>
          <a:ln w="1651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98848" y="2587751"/>
            <a:ext cx="352044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45152" y="2715768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D9772B"/>
                </a:solidFill>
                <a:latin typeface="Microsoft JhengHei"/>
              </a:rPr>
              <a:t>② 主代理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3026663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5D6875"/>
                </a:solidFill>
                <a:latin typeface="Microsoft JhengHei"/>
              </a:rPr>
              <a:t>兩邊都不完整具備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3319272"/>
            <a:ext cx="32278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✓ 連唯讀的內部系統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✓ 派工、彙整、決定流程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自己不寫任何檔案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不直接讀外來髒文件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→ 只收「通過格式驗證的 JSON」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2587751"/>
            <a:ext cx="3520440" cy="2212848"/>
          </a:xfrm>
          <a:prstGeom prst="rect">
            <a:avLst/>
          </a:prstGeom>
          <a:solidFill>
            <a:srgbClr val="FFFFFF"/>
          </a:solidFill>
          <a:ln w="1651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0456" y="2587751"/>
            <a:ext cx="352044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2715768"/>
            <a:ext cx="32278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2E8B57"/>
                </a:solidFill>
                <a:latin typeface="Microsoft JhengHei"/>
              </a:rPr>
              <a:t>③ 唯一可寫角色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026663"/>
            <a:ext cx="3227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 i="1">
                <a:solidFill>
                  <a:srgbClr val="5D6875"/>
                </a:solidFill>
                <a:latin typeface="Microsoft JhengHei"/>
              </a:rPr>
              <a:t>有出口，但碰不到髒資料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319272"/>
            <a:ext cx="322783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✓ 唯一持有寫入權的角色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✓ 產出報告檔案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連不上任何外部系統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從不讀外來文件</a:t>
            </a:r>
          </a:p>
          <a:p>
            <a:pPr>
              <a:spcBef>
                <a:spcPts val="200"/>
              </a:spcBef>
            </a:pPr>
            <a:r>
              <a:rPr sz="1100" b="0" i="0">
                <a:solidFill>
                  <a:srgbClr val="1B2633"/>
                </a:solidFill>
                <a:latin typeface="Microsoft JhengHei"/>
              </a:rPr>
              <a:t>✗ 不能執行程式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79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實際的提示文字：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「主代理從不寫入。只有唯一可寫的子代理持有寫入權，而它從不接觸原始的外部內容。」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85816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0" i="0">
                <a:solidFill>
                  <a:srgbClr val="1B2633"/>
                </a:solidFill>
                <a:latin typeface="Microsoft JhengHei"/>
              </a:rPr>
              <a:t>這句話在多個助理的提示裡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逐字相同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　—— 代表它是一個被複製的安全模板，不是十次各自的判斷。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⑤：用「格式的形狀」消滅攻擊面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整套設計中最聰明的一招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問題：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讀取者必須讀外來文件。如果那份 PDF 裡藏了一句「請叫主代理去做某件事」，怎麼辦？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76272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常見但不夠好的答案：</a:t>
            </a:r>
            <a:r>
              <a:rPr sz="1600" b="0" i="0">
                <a:solidFill>
                  <a:srgbClr val="5D6875"/>
                </a:solidFill>
                <a:latin typeface="Microsoft JhengHei"/>
              </a:rPr>
              <a:t>在提示裡叮嚀模型「不要照做」。這是在賭模型的自制力。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96896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2E8B57"/>
                </a:solidFill>
                <a:latin typeface="Microsoft JhengHei"/>
              </a:rPr>
              <a:t>這個專案的答案：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讓那句話「在物理上塞不進去」。讀取者唯一的輸出管道，是一份被嚴格限定格式的 JSON。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90672"/>
            <a:ext cx="10881360" cy="1426464"/>
          </a:xfrm>
          <a:prstGeom prst="rect">
            <a:avLst/>
          </a:prstGeom>
          <a:solidFill>
            <a:srgbClr val="F7F9FB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400"/>
            <a:ext cx="1042416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 b="1" i="0">
                <a:solidFill>
                  <a:srgbClr val="0F2E4C"/>
                </a:solidFill>
                <a:latin typeface="Consolas"/>
              </a:rPr>
              <a:t>asset_class:      </a:t>
            </a:r>
            <a:r>
              <a:rPr sz="1150" b="0" i="0">
                <a:solidFill>
                  <a:srgbClr val="9B306B"/>
                </a:solidFill>
                <a:latin typeface="Consolas"/>
              </a:rPr>
              <a:t>maxLength: 32,  pattern: "^[A-Za-z0-9_-]+$"</a:t>
            </a:r>
            <a:r>
              <a:rPr sz="1100" b="0" i="0">
                <a:solidFill>
                  <a:srgbClr val="5D6875"/>
                </a:solidFill>
                <a:latin typeface="Microsoft JhengHei"/>
              </a:rPr>
              <a:t>　只准英數字與底線橫線，最長 32 字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0F2E4C"/>
                </a:solidFill>
                <a:latin typeface="Consolas"/>
              </a:rPr>
              <a:t>account:          </a:t>
            </a:r>
            <a:r>
              <a:rPr sz="1150" b="0" i="0">
                <a:solidFill>
                  <a:srgbClr val="9B306B"/>
                </a:solidFill>
                <a:latin typeface="Consolas"/>
              </a:rPr>
              <a:t>maxLength: 64,  pattern: "^[A-Za-z0-9._:-]+$"</a:t>
            </a:r>
            <a:r>
              <a:rPr sz="1100" b="0" i="0">
                <a:solidFill>
                  <a:srgbClr val="5D6875"/>
                </a:solidFill>
                <a:latin typeface="Microsoft JhengHei"/>
              </a:rPr>
              <a:t>　科目代號的形狀，塞不下一句話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0F2E4C"/>
                </a:solidFill>
                <a:latin typeface="Consolas"/>
              </a:rPr>
              <a:t>suspected_cause:  </a:t>
            </a:r>
            <a:r>
              <a:rPr sz="1150" b="0" i="0">
                <a:solidFill>
                  <a:srgbClr val="9B306B"/>
                </a:solidFill>
                <a:latin typeface="Consolas"/>
              </a:rPr>
              <a:t>enum: [temporal_cutoff, system_drift, reclass, unknown]</a:t>
            </a:r>
            <a:r>
              <a:rPr sz="1100" b="0" i="0">
                <a:solidFill>
                  <a:srgbClr val="5D6875"/>
                </a:solidFill>
                <a:latin typeface="Microsoft JhengHei"/>
              </a:rPr>
              <a:t>　只有四個合法值，無法夾帶自然語言</a:t>
            </a:r>
          </a:p>
          <a:p>
            <a:pPr>
              <a:spcBef>
                <a:spcPts val="400"/>
              </a:spcBef>
            </a:pPr>
            <a:r>
              <a:rPr sz="1150" b="1" i="0">
                <a:solidFill>
                  <a:srgbClr val="0F2E4C"/>
                </a:solidFill>
                <a:latin typeface="Consolas"/>
              </a:rPr>
              <a:t>country_code:     </a:t>
            </a:r>
            <a:r>
              <a:rPr sz="1150" b="0" i="0">
                <a:solidFill>
                  <a:srgbClr val="9B306B"/>
                </a:solidFill>
                <a:latin typeface="Consolas"/>
              </a:rPr>
              <a:t>pattern: "^[A-Z]{2}$"</a:t>
            </a:r>
            <a:r>
              <a:rPr sz="1100" b="0" i="0">
                <a:solidFill>
                  <a:srgbClr val="5D6875"/>
                </a:solidFill>
                <a:latin typeface="Microsoft JhengHei"/>
              </a:rPr>
              <a:t>　就是兩個大寫字母，沒有別的可能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681728"/>
            <a:ext cx="10881360" cy="658368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681728"/>
            <a:ext cx="105156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即使惡意文件成功說服了讀取者，那句話也塞不進一個「最長 64 字、只准英數字」的欄位。</a:t>
            </a:r>
            <a:r>
              <a:rPr sz="1300" b="0" i="0">
                <a:solidFill>
                  <a:srgbClr val="C9DAEC"/>
                </a:solidFill>
                <a:latin typeface="Microsoft JhengHei"/>
              </a:rPr>
              <a:t>　攻擊面被格式的形狀本身消滅了，而不是靠模型「記得不要照做」。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⑥：金融業既有的內控範式，被直接寫進拓撲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不是發明新規矩，是把行之有年的規矩映射成 Agent 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四眼原則（複核制）被編碼成一個「獨立複核者」角色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84831"/>
            <a:ext cx="45720" cy="658368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48255"/>
            <a:ext cx="106984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「你獨立地拿總帳與明細帳重新查核每一筆被回報的差異。你只讀可信的內部來源，絕不打開對手方的檔案。逐筆回傳確認／否決。唯讀。」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52927"/>
            <a:ext cx="1088136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關鍵在於它的權限設計：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複核者有內部系統的存取權（因為它只碰可信來源），但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沒有寫入權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。它構成一道「不可信輸入 → 可信來源交叉驗證」的關卡。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40156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而且每個助理的驗證方式，是依它的工作性質量身設計的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77240" y="3730752"/>
          <a:ext cx="10881360" cy="221284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助理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驗證怎麼做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🧮 估值建模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由獨立稽核者重新查核那份試算表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⚖️ 總帳對帳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獨立複核者拿可信來源重算，濾掉誤報（對抗式覆核）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📅 月底結帳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自我加總檢查（期初 ＋ 變動 ＝ 期末），不另設複核者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🧾 對帳單稽核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助理本身就是驗證者（逐欄核對就是它的工作）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💰 估值複核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拿實際估值對照政策規定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🔍 開戶審查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規則引擎 ＋ 名單篩查，最後由合規officer 判定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⑦：人永遠最後拍板，簽核層級隨風險升高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每個助理都有明確的「不做終局決策」條款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提示裡的實際文字（每個助理都有一條）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⚖️ 總帳對帳：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「不做過帳。本助理只產出報告；帳務調整需要在助理之外經人工核准。」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79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🔍 開戶審查：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「不做風險評級決定。本助理只建議；</a:t>
            </a:r>
            <a:r>
              <a:rPr sz="1350" b="1" i="0">
                <a:solidFill>
                  <a:srgbClr val="B03830"/>
                </a:solidFill>
                <a:latin typeface="Microsoft JhengHei"/>
              </a:rPr>
              <a:t>由合規人員決定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52927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🎯 投行提案：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「不做對外溝通。本助理沒有郵件或訊息工具；客戶聯繫在助理之外進行。」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36975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🔭 市場研究：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「不做發布。本助理只起草；發布與分送在助理之外進行。」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12463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而且簽核者的層級，隨著「離錢與法規多近」而升高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41648"/>
            <a:ext cx="20482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041648"/>
            <a:ext cx="2048256" cy="45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16966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E4C"/>
                </a:solidFill>
                <a:latin typeface="Microsoft JhengHei"/>
              </a:rPr>
              <a:t>🤝 會前準備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480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8B57"/>
                </a:solidFill>
                <a:latin typeface="Microsoft JhengHei"/>
              </a:rPr>
              <a:t>顧問自己覆核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8064" y="431596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4041648"/>
            <a:ext cx="20482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71800" y="4041648"/>
            <a:ext cx="2048256" cy="45720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63240" y="416966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E4C"/>
                </a:solidFill>
                <a:latin typeface="Microsoft JhengHei"/>
              </a:rPr>
              <a:t>📊 財報追蹤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4952" y="4480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1868C"/>
                </a:solidFill>
                <a:latin typeface="Microsoft JhengHei"/>
              </a:rPr>
              <a:t>資深分析師簽核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431596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66360" y="4041648"/>
            <a:ext cx="20482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66360" y="4041648"/>
            <a:ext cx="2048256" cy="45720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416966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E4C"/>
                </a:solidFill>
                <a:latin typeface="Microsoft JhengHei"/>
              </a:rPr>
              <a:t>⚖️ 總帳對帳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480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772B"/>
                </a:solidFill>
                <a:latin typeface="Microsoft JhengHei"/>
              </a:rPr>
              <a:t>控制員簽核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87184" y="431596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4041648"/>
            <a:ext cx="20482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360920" y="4041648"/>
            <a:ext cx="2048256" cy="45720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52360" y="416966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E4C"/>
                </a:solidFill>
                <a:latin typeface="Microsoft JhengHei"/>
              </a:rPr>
              <a:t>🧾 對帳單稽核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4480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3830"/>
                </a:solidFill>
                <a:latin typeface="Microsoft JhengHei"/>
              </a:rPr>
              <a:t>投資人關係簽核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81744" y="4315968"/>
            <a:ext cx="20116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8A94A0"/>
                </a:solidFill>
                <a:latin typeface="Microsoft JhengHe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55480" y="4041648"/>
            <a:ext cx="2048256" cy="841248"/>
          </a:xfrm>
          <a:prstGeom prst="rect">
            <a:avLst/>
          </a:prstGeom>
          <a:solidFill>
            <a:srgbClr val="FFFFFF"/>
          </a:solidFill>
          <a:ln w="1524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55480" y="4041648"/>
            <a:ext cx="2048256" cy="45720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46920" y="4169663"/>
            <a:ext cx="18653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2E4C"/>
                </a:solidFill>
                <a:latin typeface="Microsoft JhengHei"/>
              </a:rPr>
              <a:t>💰 估值複核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28632" y="4480560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03830"/>
                </a:solidFill>
                <a:latin typeface="Microsoft JhengHei"/>
              </a:rPr>
              <a:t>IR ＋ 法遵長雙簽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010912"/>
            <a:ext cx="1088136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" y="5010912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規律：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前台＝同一個人下指令兼覆核；中後台＝</a:t>
            </a:r>
            <a:r>
              <a:rPr sz="1500" b="1" i="0">
                <a:solidFill>
                  <a:srgbClr val="B03830"/>
                </a:solidFill>
                <a:latin typeface="Microsoft JhengHei"/>
              </a:rPr>
              <a:t>建立者 ≠ 簽核者（職責分離）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，而且越靠近錢與法規，簽核者層級越高。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⑧：風險決定權限，而不是能力決定權限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同一套架構，但寫入權的鬆緊隨風險等級變化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280660" cy="193852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28066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🟢🟡 前台／研究類（低～中風險）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產出只是「內部草稿」，後面一定有人覆核能攔錯。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主代理可以自己存檔（權限較寬鬆）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資料來自外部市場資料商（訂閱就有）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導入成本低、見效快、試錯成本低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例：會前準備、市場研究、財報追蹤、估值建模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7940" y="1755647"/>
            <a:ext cx="5280660" cy="1938525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7940" y="1755648"/>
            <a:ext cx="5280660" cy="54864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4244" y="1901952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B03830"/>
                </a:solidFill>
                <a:latin typeface="Microsoft JhengHei"/>
              </a:rPr>
              <a:t>🔴 中後台／合規類（高風險）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牽涉法規遵循與帳目正確性，錯不得。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主代理一律「無寫入權」，動作嚴格切開、分權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要接公司內部系統（總帳、明細帳、名單庫）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導入成本高、門檻高，但省下的人工也最多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例：開戶審查、總帳對帳、月底結帳、對帳單稽核、估值複核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03903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因此導入順序的建議也是從左下往右上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33087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2E8B57"/>
                </a:solidFill>
                <a:latin typeface="Microsoft JhengHei"/>
              </a:rPr>
              <a:t>第一批：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研究與顧問四支——風險低到中、不必接內部系統，最快見效。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17136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D9772B"/>
                </a:solidFill>
                <a:latin typeface="Microsoft JhengHei"/>
              </a:rPr>
              <a:t>第二批：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投行提案——成果會對外，且要大量客製簡報範本與檢查規則。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01183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第三批：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中後台五支——價值最高但門檻也最高，建議在前兩批累積信任後再上。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技能的設計：漸進揭露，而且明確編碼「錯誤示範」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專業知識放在這一層，才能獨立迭代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① 漸進揭露：1,265 行的技能，不會一直佔著模型的記憶體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84831"/>
            <a:ext cx="45720" cy="402336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0574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6FD6"/>
                </a:solidFill>
                <a:latin typeface="Microsoft JhengHei"/>
              </a:rPr>
              <a:t>第一層　一句話描述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057400"/>
            <a:ext cx="740664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 dirty="0" err="1">
                <a:solidFill>
                  <a:srgbClr val="5D6875"/>
                </a:solidFill>
                <a:latin typeface="Microsoft JhengHei"/>
              </a:rPr>
              <a:t>永遠在</a:t>
            </a:r>
            <a:r>
              <a:rPr lang="zh-TW" altLang="en-US" sz="12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250" b="0" i="0" dirty="0" err="1">
                <a:solidFill>
                  <a:srgbClr val="5D6875"/>
                </a:solidFill>
                <a:latin typeface="Microsoft JhengHei"/>
              </a:rPr>
              <a:t>裡。模型靠它決定「這次要不要載入</a:t>
            </a:r>
            <a:r>
              <a:rPr sz="1250" b="0" i="0" dirty="0">
                <a:solidFill>
                  <a:srgbClr val="5D6875"/>
                </a:solidFill>
                <a:latin typeface="Microsoft JhengHei"/>
              </a:rPr>
              <a:t>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42032"/>
            <a:ext cx="45720" cy="402336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5146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11868C"/>
                </a:solidFill>
                <a:latin typeface="Microsoft JhengHei"/>
              </a:rPr>
              <a:t>第二層　技能本體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14600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D6875"/>
                </a:solidFill>
                <a:latin typeface="Microsoft JhengHei"/>
              </a:rPr>
              <a:t>觸發後才載入完整的作業程序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99232"/>
            <a:ext cx="45720" cy="40233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" y="2971800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2E8B57"/>
                </a:solidFill>
                <a:latin typeface="Microsoft JhengHei"/>
              </a:rPr>
              <a:t>第三層　參考資料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971800"/>
            <a:ext cx="7406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 i="0">
                <a:solidFill>
                  <a:srgbClr val="5D6875"/>
                </a:solidFill>
                <a:latin typeface="Microsoft JhengHei"/>
              </a:rPr>
              <a:t>只在真的出錯時才去讀（例如疑難排解說明）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66160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② 明確寫出「錯誤做法」，而不只給正確做法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95344"/>
            <a:ext cx="45720" cy="9144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3858768"/>
            <a:ext cx="1069848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「錯誤做法：用線性近似來簡化敏感度分析表。
　會被拿來合理化的藉口（要駁回）：『寫 75 條公式感覺很複雜，我留個註記讓使用者自己完成好了。』
　事實：用 Python 迴圈寫 75 條公式其實很直接。」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19472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 err="1">
                <a:solidFill>
                  <a:srgbClr val="2E6FD6"/>
                </a:solidFill>
                <a:latin typeface="Microsoft JhengHei"/>
              </a:rPr>
              <a:t>這段的價值在於：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它預測了模型會偷懶時「拿來說服自己的具體藉口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」，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然後事先駁回。這是從真實失敗案例回饋回來的提示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51116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 err="1">
                <a:solidFill>
                  <a:srgbClr val="1B2633"/>
                </a:solidFill>
                <a:latin typeface="Microsoft JhengHei"/>
              </a:rPr>
              <a:t>不可協商的規則也寫得很硬</a:t>
            </a:r>
            <a:r>
              <a:rPr sz="1600" b="1" i="0" dirty="0">
                <a:solidFill>
                  <a:srgbClr val="1B2633"/>
                </a:solidFill>
                <a:latin typeface="Microsoft JhengHei"/>
              </a:rPr>
              <a:t>：</a:t>
            </a:r>
            <a:r>
              <a:rPr sz="1350" b="0" i="0" dirty="0">
                <a:solidFill>
                  <a:srgbClr val="1B2633"/>
                </a:solidFill>
                <a:latin typeface="Microsoft JhengHei"/>
              </a:rPr>
              <a:t>「</a:t>
            </a:r>
            <a:r>
              <a:rPr sz="1350" b="0" i="0" dirty="0" err="1">
                <a:solidFill>
                  <a:srgbClr val="1B2633"/>
                </a:solidFill>
                <a:latin typeface="Microsoft JhengHei"/>
              </a:rPr>
              <a:t>如果你發現自己在用</a:t>
            </a:r>
            <a:r>
              <a:rPr sz="1350" b="0" i="0" dirty="0">
                <a:solidFill>
                  <a:srgbClr val="1B2633"/>
                </a:solidFill>
                <a:latin typeface="Microsoft JhengHei"/>
              </a:rPr>
              <a:t> Python </a:t>
            </a:r>
            <a:r>
              <a:rPr sz="1350" b="0" i="0" dirty="0" err="1">
                <a:solidFill>
                  <a:srgbClr val="1B2633"/>
                </a:solidFill>
                <a:latin typeface="Microsoft JhengHei"/>
              </a:rPr>
              <a:t>算出數字然後把結果寫進去</a:t>
            </a:r>
            <a:r>
              <a:rPr sz="1350" b="0" i="0" dirty="0">
                <a:solidFill>
                  <a:srgbClr val="1B2633"/>
                </a:solidFill>
                <a:latin typeface="Microsoft JhengHei"/>
              </a:rPr>
              <a:t> —— </a:t>
            </a:r>
            <a:r>
              <a:rPr sz="1350" b="0" i="0" dirty="0" err="1">
                <a:solidFill>
                  <a:srgbClr val="1B2633"/>
                </a:solidFill>
                <a:latin typeface="Microsoft JhengHei"/>
              </a:rPr>
              <a:t>停。模型必須在使用者改變假設時能跟著變</a:t>
            </a:r>
            <a:r>
              <a:rPr sz="1350" b="0" i="0" dirty="0">
                <a:solidFill>
                  <a:srgbClr val="1B2633"/>
                </a:solidFill>
                <a:latin typeface="Microsoft JhengHei"/>
              </a:rPr>
              <a:t>。」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29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資料連接層：真實廠商 vs. 本機模擬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一個很務實的設計：零金鑰就能先把十支助理完整跑一遍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16642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連接對象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現在指到哪裡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要正式上線，你要做的事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FactSet、Daloopa、Moody's、
S&amp;P Global、LSEG、PitchBook 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✅ 已填好供應商的正式網址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向供應商買訂閱＋取得 API 金鑰（網址不用改）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內部總帳、明細帳、基金淨值、
投組、黑名單篩查、CRM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🖥️ 指向專案內建的本機模擬伺服器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把設定檔那把網址，從本機改指公司的真實系統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3648456"/>
            <a:ext cx="1088136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648456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關鍵設計：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兩種情況都</a:t>
            </a:r>
            <a:r>
              <a:rPr sz="1500" b="1" i="0">
                <a:solidFill>
                  <a:srgbClr val="2E8B57"/>
                </a:solidFill>
                <a:latin typeface="Microsoft JhengHei"/>
              </a:rPr>
              <a:t>不需要修改助理本身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——你只是把同一個名字指到不同的網址，不是換名字。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79976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好處一：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裝好外掛、跑起本機模擬伺服器，十支助理（包含高風險的後台那幾支）都能離線完整演練一遍。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好處二：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整條部署流程可以在「不需要任何 API 金鑰」的情況下驗證——這對受監理環境的自動化測試很關鍵。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21224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好處三：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連線網址從不進版本庫，一律由環境變數或密鑰保管庫注入，而且注入時還有字元白名單擋住奇怪的內容。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30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設計主張 ⑨：把「Agent 工程」當成真正的軟體工程來管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這一層常被忽略，卻是這套專案能長期維持一致的原因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280660" cy="157276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280660" cy="54864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498805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B03830"/>
                </a:solidFill>
                <a:latin typeface="Microsoft JhengHei"/>
              </a:rPr>
              <a:t>散文說謊，會讓 CI 失敗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主提示最後一行會列出「我用到哪些技能」。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檢查腳本會實際解析那一行的文字，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驗證每個被提到的技能真的有被打包進去。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提示裡寫的謊會讓建置失敗。文件與設定被強制對齊。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7940" y="1755648"/>
            <a:ext cx="5280660" cy="157276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7940" y="1755648"/>
            <a:ext cx="528066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4244" y="1901952"/>
            <a:ext cx="4988052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一份真本，其餘都是副本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技能只有一個地方可以編輯，其餘是自動同步的副本。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檢查腳本會偵測副本有沒有「漂移」，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不一致就讓提交失敗。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改真本 → 跑同步 → 跑檢查。這條紀律是「一個來源」能成立的關鍵。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75887"/>
            <a:ext cx="5280660" cy="14813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675887"/>
            <a:ext cx="5280660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3822191"/>
            <a:ext cx="498805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1868C"/>
                </a:solidFill>
                <a:latin typeface="Microsoft JhengHei"/>
              </a:rPr>
              <a:t>版本號是「更新推送」的閘門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提交前的掛鉤會自動把改動過的外掛版本補一個號，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而且整條分支只比主線多一個號（不是每次提交都加）。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因為版本號決定了「已安裝的使用者何時收到更新」。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CI 上還有一道同規則的後備檢查。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7940" y="3675887"/>
            <a:ext cx="5280660" cy="1481328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77940" y="3675887"/>
            <a:ext cx="528066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4244" y="3822191"/>
            <a:ext cx="4988052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部署前的自動斷言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每個助理在部署前會先跑一次「試算模式」，檢查三件事：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① 主提示不能是空的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② 子代理深度不能超過一層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③ 內部用的欄位不能外洩進 API 請求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→ 而且完全不需要 API 金鑰就能驗證整條管線。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最值得學的一點：誠實面對自己的不足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成熟度的指標不是「宣稱很安全」，而是「說清楚哪裡還不安全」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① 助理之間的「交接機制」，在設計說明裡直接承認自己的緩解措施不完整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84831"/>
            <a:ext cx="45720" cy="13716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048255"/>
            <a:ext cx="1069848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50" b="0" i="0">
                <a:solidFill>
                  <a:srgbClr val="1B2633"/>
                </a:solidFill>
                <a:latin typeface="Microsoft JhengHei"/>
              </a:rPr>
              <a:t>「安全提醒：交接請求出現在主代理的文字輸出中，而那是位於『不可信文件讀取者』的下游。控制了某份文件的攻擊者，可能嵌入一段假的交接指令，若被原樣輸出就會在這裡被解析。目前的緩解方式是（a）把目標助理硬性限縮在已部署的清單內，（b）在轉送前做格式驗證。
　在正式環境中，建議改用專屬的工具呼叫或具型別的事件——那是模型無法靠『引用文件內容』偽造出來的。」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10881360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為什麼這很重要：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它同時做到三件事——承認風險、說明目前的緩解、指出正確的長期方案。這是成熟的威脅建模，不是行銷語言。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96512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② 每份說明文件都有一節叫「不保證的事」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25696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「這裡沒有任何一步會寫入正式帳務系統。帳務調整需要在助理之外經人工核准。」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9744"/>
            <a:ext cx="10881360" cy="4754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350" b="0" i="0">
                <a:solidFill>
                  <a:srgbClr val="1B2633"/>
                </a:solidFill>
                <a:latin typeface="Microsoft JhengHei"/>
              </a:rPr>
              <a:t>「本助理只建議風險評級；由合規人員決定。」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3792"/>
            <a:ext cx="10881360" cy="49377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B03830"/>
                </a:solidFill>
                <a:latin typeface="Microsoft JhengHei"/>
              </a:rPr>
              <a:t>對受監理的金融機構而言，「明確聲明未涵蓋範圍」比誇大能力更有說服力。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 dirty="0" err="1">
                <a:solidFill>
                  <a:srgbClr val="0F2E4C"/>
                </a:solidFill>
                <a:latin typeface="Microsoft JhengHei"/>
              </a:rPr>
              <a:t>小結：九個可以直接借用的設計主張</a:t>
            </a:r>
            <a:endParaRPr sz="2700" b="1" i="0" dirty="0">
              <a:solidFill>
                <a:srgbClr val="0F2E4C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不限於金融業，任何要把 Agent 做上生產的團隊都適用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4297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#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設計主張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為什麼有效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①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一份原稿，兩種封裝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消除行為漂移，合規審查只需做一次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②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薄提示、厚技能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治理審查看一頁；專業知識可獨立迭代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統一的三工人拓撲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十個助理同一個模板，可稽核、可複製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④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安全靠架構，不靠模型自制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碰髒資料的沒有出口；有出口的碰不到髒資料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⑤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用格式的形狀消滅攻擊面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注入的指令在物理上塞不進被限定的欄位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⑥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把既有內控範式寫進拓撲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四眼原則變成一個「獨立複核者」角色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⑦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人永遠最後拍板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每個助理都有「不做終局決策」條款與強制停點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⑧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風險決定權限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越靠近錢與法規，寫入權越緊、簽核層級越高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把 Agent 工程當軟體工程管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散文說謊會讓 CI 失敗；版本號控管更新推送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92024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7EB2F0"/>
                </a:solidFill>
                <a:latin typeface="Microsoft JhengHe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31720"/>
            <a:ext cx="6583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icrosoft JhengHei"/>
              </a:rPr>
              <a:t>未來會往哪裡走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52044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B9CCE0"/>
                </a:solidFill>
                <a:latin typeface="Microsoft JhengHei"/>
              </a:rPr>
              <a:t>對照 AWS、Google、Microsoft、Anthropic 四家的路線，
找出真正的收斂訊號。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2148840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83879" y="2093976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2025 是框架年，2026 是治理年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624328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2569464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協定戰大致底定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3099816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3044952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身分與稽核成為標配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3575304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520440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成本結構正被重寫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050791"/>
            <a:ext cx="45720" cy="274320"/>
          </a:xfrm>
          <a:prstGeom prst="rect">
            <a:avLst/>
          </a:prstGeom>
          <a:solidFill>
            <a:srgbClr val="7EB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3995928"/>
            <a:ext cx="3566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D5E2EF"/>
                </a:solidFill>
                <a:latin typeface="Microsoft JhengHei"/>
              </a:rPr>
              <a:t>⚠️ 但很多還在預覽階段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一句話總結產業現況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競爭焦點已經從「能不能做」，轉移到「能不能管」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10881360" cy="713232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1051560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Microsoft JhengHei"/>
              </a:rPr>
              <a:t>2025 年是「Agent 框架年」，2026 年是「Agent 平台與治理年」。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88336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四家廠商的產品線已高度趨同，收斂成同一組七件套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3017520"/>
            <a:ext cx="1481328" cy="4572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6FD6"/>
                </a:solidFill>
                <a:latin typeface="Microsoft JhengHei"/>
              </a:rPr>
              <a:t>託管執行環境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把 Agent 跑在隔離的沙箱裡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63724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118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63724" y="3017520"/>
            <a:ext cx="1481328" cy="45720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36876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1868C"/>
                </a:solidFill>
                <a:latin typeface="Microsoft JhengHei"/>
              </a:rPr>
              <a:t>記憶體服務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7732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短期／長期／程序性記憶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B038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50208" y="3017520"/>
            <a:ext cx="1481328" cy="45720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23360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03830"/>
                </a:solidFill>
                <a:latin typeface="Microsoft JhengHei"/>
              </a:rPr>
              <a:t>Agent 身分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6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每個 Agent 一組獨立身分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6692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6692" y="3017520"/>
            <a:ext cx="1481328" cy="457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09844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8B57"/>
                </a:solidFill>
                <a:latin typeface="Microsoft JhengHei"/>
              </a:rPr>
              <a:t>工具閘道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0700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以 MCP 為統一介面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23176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D97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123176" y="3017520"/>
            <a:ext cx="1481328" cy="45720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96328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2B"/>
                </a:solidFill>
                <a:latin typeface="Microsoft JhengHei"/>
              </a:rPr>
              <a:t>可觀測性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87184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追蹤每一步在做什麼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09660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7B4B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709660" y="3017520"/>
            <a:ext cx="1481328" cy="45720"/>
          </a:xfrm>
          <a:prstGeom prst="rect">
            <a:avLst/>
          </a:prstGeom>
          <a:solidFill>
            <a:srgbClr val="7B4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82812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B4BA8"/>
                </a:solidFill>
                <a:latin typeface="Microsoft JhengHei"/>
              </a:rPr>
              <a:t>評估機制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3668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自動化評測與線上實驗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96144" y="3017520"/>
            <a:ext cx="1481328" cy="1207008"/>
          </a:xfrm>
          <a:prstGeom prst="rect">
            <a:avLst/>
          </a:prstGeom>
          <a:solidFill>
            <a:srgbClr val="FFFFFF"/>
          </a:solidFill>
          <a:ln w="15240">
            <a:solidFill>
              <a:srgbClr val="2B6C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296144" y="3017520"/>
            <a:ext cx="1481328" cy="45720"/>
          </a:xfrm>
          <a:prstGeom prst="rect">
            <a:avLst/>
          </a:prstGeom>
          <a:solidFill>
            <a:srgbClr val="2B6C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369296" y="3163824"/>
            <a:ext cx="13350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B6C8F"/>
                </a:solidFill>
                <a:latin typeface="Microsoft JhengHei"/>
              </a:rPr>
              <a:t>註冊表／市集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60152" y="3584448"/>
            <a:ext cx="135331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D6875"/>
                </a:solidFill>
                <a:latin typeface="Microsoft JhengHei"/>
              </a:rPr>
              <a:t>我的組織有哪些 Agent 在跑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407408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差異已經不在「能不能做 Agent」，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而在治理、稽核與成本控制——這正好是金融業的主戰場。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4846320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換個角度看：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Part 2 那個專案自己手工做的每一件事（隔離、權限分層、可追溯、驗證），雲端廠商正在把它們變成平台級的託管服務。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四家廠商各自押注在哪裡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理解他們的賭注，比記住產品名稱更有用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280660" cy="213969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28066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4988052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D9772B"/>
                </a:solidFill>
                <a:latin typeface="Microsoft JhengHei"/>
              </a:rPr>
              <a:t>AWS ── 基礎設施中立層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不賭自己的框架會贏，賭「不管你用誰的框架，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最後都要跑在某人的伺服器上、要身分、要稽核」。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AgentCore 六件套 2025-10 已正式上線（GA）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最務實一招：把既有 REST API 與 Lambda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　自動轉成 Agent 工具，存量資產零重寫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⚠️ Policy／Evaluations 2026 Q1 才轉正式版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7940" y="1755648"/>
            <a:ext cx="5280660" cy="213969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7940" y="1755648"/>
            <a:ext cx="528066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4244" y="1901952"/>
            <a:ext cx="4988052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6FD6"/>
                </a:solidFill>
                <a:latin typeface="Microsoft JhengHei"/>
              </a:rPr>
              <a:t>Google ── 協定 ＋ 全端整合雙押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把 A2A 協定捐給 Linux Foundation 搶 Agent 互通層，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同時用 Gemini Enterprise 垂直整合全套。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A2A 協定 2025-06 已捐出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開發套件 2026-04 正式版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⚠️ 2026-04 才發表的 Agent 平台大改版，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　多數子元件狀態未逐項公告，宜保守看待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59935"/>
            <a:ext cx="5280660" cy="213969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4059935"/>
            <a:ext cx="528066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4206240"/>
            <a:ext cx="4988052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2E8B57"/>
                </a:solidFill>
                <a:latin typeface="Microsoft JhengHei"/>
              </a:rPr>
              <a:t>Microsoft ── 身分與工作場域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不爭誰的執行環境快，爭「Agent 最終要在 Teams／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M365 裡被人使用、要用既有目錄被治理」。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把 Agent 變成企業目錄裡的一個物件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　（部署即自動配發身分，免存憑證）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明確同時支援 MCP ＋ A2A ＋ OpenAPI，訴求不鎖定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· ⚠️ 記憶體、長時執行等約半數功能仍在預覽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7940" y="4059935"/>
            <a:ext cx="5280660" cy="2139696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77940" y="4059935"/>
            <a:ext cx="5280660" cy="54864"/>
          </a:xfrm>
          <a:prstGeom prst="rect">
            <a:avLst/>
          </a:prstGeom>
          <a:solidFill>
            <a:srgbClr val="B03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4244" y="4206240"/>
            <a:ext cx="4988052" cy="192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 dirty="0">
                <a:solidFill>
                  <a:srgbClr val="B03830"/>
                </a:solidFill>
                <a:latin typeface="Microsoft JhengHei"/>
              </a:rPr>
              <a:t>Anthropic ── </a:t>
            </a:r>
            <a:r>
              <a:rPr sz="1500" b="1" i="0" dirty="0" err="1">
                <a:solidFill>
                  <a:srgbClr val="B03830"/>
                </a:solidFill>
                <a:latin typeface="Microsoft JhengHei"/>
              </a:rPr>
              <a:t>不做雲，做協定與</a:t>
            </a:r>
            <a:r>
              <a:rPr lang="zh-TW" altLang="en-US" sz="1500" b="1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互動</a:t>
            </a:r>
            <a:r>
              <a:rPr lang="zh-TW" altLang="en-US" sz="1500" b="1" i="0" dirty="0">
                <a:solidFill>
                  <a:srgbClr val="B0383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層</a:t>
            </a:r>
            <a:endParaRPr sz="1500" b="1" i="0" dirty="0">
              <a:solidFill>
                <a:srgbClr val="B0383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把 MCP 與 Agent Skills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都推成中立開放標準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（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且都不留在自家治理下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），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換取成為每朵雲的預設整合層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</a:pP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· MCP 2025-12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捐給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Linux Foundation</a:t>
            </a: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· Agent Skills 2025-12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開放標準化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· ⚠️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託管代理服務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 2026-04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才推出，屬新產品</a:t>
            </a:r>
            <a:endParaRPr sz="115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150" b="0" i="0" dirty="0">
                <a:solidFill>
                  <a:srgbClr val="5D6875"/>
                </a:solidFill>
                <a:latin typeface="Microsoft JhengHei"/>
              </a:rPr>
              <a:t>　（Part 2 </a:t>
            </a:r>
            <a:r>
              <a:rPr sz="1150" b="0" i="0" dirty="0" err="1">
                <a:solidFill>
                  <a:srgbClr val="5D6875"/>
                </a:solidFill>
                <a:latin typeface="Microsoft JhengHei"/>
              </a:rPr>
              <a:t>專案用的就是它</a:t>
            </a:r>
            <a:r>
              <a:rPr sz="1150" b="0" i="0" dirty="0">
                <a:solidFill>
                  <a:srgbClr val="5D6875"/>
                </a:solidFill>
                <a:latin typeface="Microsoft JhengHei"/>
              </a:rPr>
              <a:t>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36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趨勢 ①：協定戰大致底定，這降低了建置風險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四大雲全部支持同一個工具層標準，這在科技業並不常見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18836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層級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協定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誰在治理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誰支持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Agent ↔ 工具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MCP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Linux Foundation（2025-12）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Anthropic、OpenAI、Google、Microsoft、AWS —— 全員到齊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Agent ↔ Agent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A2A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Linux Foundation（2025-06）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Google 主導；Microsoft 支援；AWS「即將支援」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程序知識封裝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2E6FD6"/>
                          </a:solidFill>
                          <a:latin typeface="Microsoft JhengHei"/>
                        </a:rPr>
                        <a:t>Agent Skills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開放規格（2025-12）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Anthropic 主導；VS Code、GitHub、Cursor 已採用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3867911"/>
            <a:ext cx="10881360" cy="53035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867911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對建置決策的意義：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以 MCP 作為整合介面，目前是低風險的選擇——它已經是跨廠商中立標準，不是某一家的私有規格。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99431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採用數據（Anthropic 官方，2025-12）：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月下載 9,700 萬次以上、10,000 個以上的公開 MCP 伺服器。</a:t>
            </a:r>
            <a:r>
              <a:rPr sz="1200" b="0" i="0">
                <a:solidFill>
                  <a:srgbClr val="8A94A0"/>
                </a:solidFill>
                <a:latin typeface="Microsoft JhengHei"/>
              </a:rPr>
              <a:t>　※ 廠商自報數字，但下載數可獨立驗證。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02306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>
                <a:solidFill>
                  <a:srgbClr val="D9772B"/>
                </a:solidFill>
                <a:latin typeface="Microsoft JhengHei"/>
              </a:rPr>
              <a:t>仍在競爭的部分：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A2A 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是否會成為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 Agent 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互通層的唯一標準，還沒有定論。這一層目前不宜押太重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532120"/>
            <a:ext cx="10881360" cy="603504"/>
          </a:xfrm>
          <a:prstGeom prst="roundRect">
            <a:avLst>
              <a:gd name="adj" fmla="val 8000"/>
            </a:avLst>
          </a:prstGeom>
          <a:solidFill>
            <a:srgbClr val="FDF6E7"/>
          </a:solidFill>
          <a:ln w="9525">
            <a:solidFill>
              <a:srgbClr val="E3B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64008" rIns="128016" rtlCol="0" anchor="ctr"/>
          <a:lstStyle/>
          <a:p>
            <a:pPr algn="l"/>
            <a:r>
              <a:rPr sz="1250" b="1" i="0">
                <a:solidFill>
                  <a:srgbClr val="8A5D0F"/>
                </a:solidFill>
                <a:latin typeface="Microsoft JhengHei"/>
              </a:rPr>
              <a:t>💡 A2A（Agent-to-Agent 協定）　</a:t>
            </a:r>
            <a:r>
              <a:rPr sz="1250" b="0" i="0">
                <a:solidFill>
                  <a:srgbClr val="5F4A1E"/>
                </a:solidFill>
                <a:latin typeface="Microsoft JhengHei"/>
              </a:rPr>
              <a:t>讓不同廠商、不同公司做的 Agent 能互相溝通與協作的標準。MCP 解決「Agent 怎麼接工具」，A2A 解決「Agent 怎麼接另一個 Agent」。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37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趨勢 ②：Agent 身分與治理 —— 2026 年最大的變化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三家雲在 12 個月內同時推出「Agent 是一等公民身分」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3505200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350520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321259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Microsoft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把 Agent 塞進既有的企業目錄，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沿用同一套生命週期與條件式存取。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部署即自動配發身分，免儲存憑證。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→ 把 30 年的企業身分管理護城河延伸到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5320" y="1755648"/>
            <a:ext cx="3505200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65320" y="1755648"/>
            <a:ext cx="350520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1624" y="1901952"/>
            <a:ext cx="321259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Google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每個 Agent 一組唯一的密碼學身分，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搭配可稽核軌跡。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（2026-04 正式版）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153399" y="1755648"/>
            <a:ext cx="3505200" cy="155448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53399" y="1755648"/>
            <a:ext cx="350520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9704" y="1901952"/>
            <a:ext cx="3212592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AWS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串接企業既有身分供應商，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另提供對外憑證保管庫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5D6875"/>
                </a:solidFill>
                <a:latin typeface="Microsoft JhengHei"/>
              </a:rPr>
              <a:t>（存取第三方系統時用）。</a:t>
            </a:r>
          </a:p>
          <a:p>
            <a:pPr>
              <a:spcBef>
                <a:spcPts val="400"/>
              </a:spcBef>
            </a:pPr>
            <a:endParaRPr sz="1150" b="0" i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共同主張：非人類身分、最小權限、每個動作可回溯到授權政策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03904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再往上還有一層「政策攔截」：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在工具被呼叫之前，用一套獨立的政策規則決定放不放行。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關鍵洞見：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趨勢是把守門邏輯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移到 Agent 的程式碼之外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——因為提示不可信，只有程式碼之外的確定性控制才是可稽核的。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755432"/>
            <a:ext cx="10881360" cy="530352"/>
          </a:xfrm>
          <a:prstGeom prst="rect">
            <a:avLst/>
          </a:prstGeom>
          <a:solidFill>
            <a:srgbClr val="ECF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755432"/>
            <a:ext cx="105156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這與</a:t>
            </a:r>
            <a:r>
              <a:rPr sz="1500" b="1" i="0" dirty="0">
                <a:solidFill>
                  <a:srgbClr val="0F2E4C"/>
                </a:solidFill>
                <a:latin typeface="Microsoft JhengHei"/>
              </a:rPr>
              <a:t> Part 2 </a:t>
            </a:r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的設計主張</a:t>
            </a:r>
            <a:r>
              <a:rPr sz="1500" b="1" i="0" dirty="0">
                <a:solidFill>
                  <a:srgbClr val="0F2E4C"/>
                </a:solidFill>
                <a:latin typeface="Microsoft JhengHei"/>
              </a:rPr>
              <a:t> ④ </a:t>
            </a:r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完全一致：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那個專案是用「架構隔離」手工實現這件事，雲端廠商正在把它變成平台層的託管能力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38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趨勢 ③：成本結構正在被「讓 Agent 寫程式呼叫工具」重寫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這不是優化技巧，是架構選擇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27699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 dirty="0" err="1">
                <a:solidFill>
                  <a:srgbClr val="11868C"/>
                </a:solidFill>
                <a:latin typeface="Microsoft JhengHei"/>
              </a:rPr>
              <a:t>問題：工具越多，光是「工具說明書」就把</a:t>
            </a:r>
            <a:r>
              <a:rPr lang="zh-TW" altLang="en-US" sz="1500" b="1" i="0" dirty="0">
                <a:solidFill>
                  <a:srgbClr val="11868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500" b="1" i="0" dirty="0" err="1">
                <a:solidFill>
                  <a:srgbClr val="11868C"/>
                </a:solidFill>
                <a:latin typeface="Microsoft JhengHei"/>
              </a:rPr>
              <a:t>吃光了</a:t>
            </a:r>
            <a:endParaRPr sz="1500" b="1" i="0" dirty="0">
              <a:solidFill>
                <a:srgbClr val="11868C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881360" cy="246221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傳統做法是把每個工具的定義都預先塞進</a:t>
            </a:r>
            <a:r>
              <a:rPr lang="zh-TW" altLang="en-US" sz="135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上下文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。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工具一多，回應變慢、成本上升，而且每一筆中間結果都必須經過模型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7860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新做法：把工具當成「檔案系統上的程式碼」，需要時才讀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953511"/>
            <a:ext cx="10881360" cy="1097280"/>
          </a:xfrm>
          <a:prstGeom prst="rect">
            <a:avLst/>
          </a:prstGeom>
          <a:solidFill>
            <a:srgbClr val="ECF3FC"/>
          </a:solidFill>
          <a:ln w="13970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099815"/>
            <a:ext cx="42062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 dirty="0">
                <a:solidFill>
                  <a:srgbClr val="8A94A0"/>
                </a:solidFill>
                <a:latin typeface="Microsoft JhengHei"/>
              </a:rPr>
              <a:t>150,000</a:t>
            </a:r>
          </a:p>
          <a:p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傳統做法：全部工具定義預載</a:t>
            </a:r>
            <a:r>
              <a:rPr lang="zh-TW" altLang="en-US" sz="1200" b="0" i="0" dirty="0">
                <a:solidFill>
                  <a:srgbClr val="5D68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入</a:t>
            </a:r>
            <a:endParaRPr sz="1200" b="0" i="0" dirty="0">
              <a:solidFill>
                <a:srgbClr val="5D6875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20640" y="3282695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2E6FD6"/>
                </a:solidFill>
                <a:latin typeface="Microsoft JhengHe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099815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E6FD6"/>
                </a:solidFill>
                <a:latin typeface="Microsoft JhengHei"/>
              </a:rPr>
              <a:t>2,000</a:t>
            </a:r>
          </a:p>
          <a:p>
            <a:r>
              <a:rPr sz="1200" b="0" i="0">
                <a:solidFill>
                  <a:srgbClr val="5D6875"/>
                </a:solidFill>
                <a:latin typeface="Microsoft JhengHei"/>
              </a:rPr>
              <a:t>新做法：需要時才讀取工具定義　（約 98.7% 縮減）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33671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 err="1">
                <a:solidFill>
                  <a:srgbClr val="1B2633"/>
                </a:solidFill>
                <a:latin typeface="Microsoft JhengHei"/>
              </a:rPr>
              <a:t>資料來源：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Anthropic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 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工程部落格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 2025-11，並有社群生產環境驗證；實際縮減幅度區間約 50～98%，</a:t>
            </a:r>
            <a:r>
              <a:rPr sz="1350" b="0" i="0" dirty="0" err="1">
                <a:solidFill>
                  <a:srgbClr val="5D6875"/>
                </a:solidFill>
                <a:latin typeface="Microsoft JhengHei"/>
              </a:rPr>
              <a:t>視工具數量而定</a:t>
            </a:r>
            <a:r>
              <a:rPr sz="135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54295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2E8B57"/>
                </a:solidFill>
                <a:latin typeface="Microsoft JhengHei"/>
              </a:rPr>
              <a:t>三重好處：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同時降低成本、提高可掛載的工具數量、減少幻覺面。另有隱私好處——中間結果預設留在執行環境裡，不經過模型。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06999"/>
            <a:ext cx="10881360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 dirty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 dirty="0" err="1">
                <a:solidFill>
                  <a:srgbClr val="2E6FD6"/>
                </a:solidFill>
                <a:latin typeface="Microsoft JhengHei"/>
              </a:rPr>
              <a:t>已被廣泛採用：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Microsoft、AWS、Google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 在 2026 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年都推出了對應機制。這是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 2026 </a:t>
            </a:r>
            <a:r>
              <a:rPr sz="1600" b="0" i="0" dirty="0" err="1">
                <a:solidFill>
                  <a:srgbClr val="1B2633"/>
                </a:solidFill>
                <a:latin typeface="Microsoft JhengHei"/>
              </a:rPr>
              <a:t>年最重要的成本架構轉向</a:t>
            </a:r>
            <a:r>
              <a:rPr sz="1600" b="0" i="0" dirty="0">
                <a:solidFill>
                  <a:srgbClr val="1B2633"/>
                </a:solidFill>
                <a:latin typeface="Microsoft JhengHei"/>
              </a:rPr>
              <a:t>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550407"/>
            <a:ext cx="10881360" cy="512064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644856"/>
            <a:ext cx="10515600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搭配「模型分層</a:t>
            </a:r>
            <a:r>
              <a:rPr sz="1500" b="1" i="0" dirty="0">
                <a:solidFill>
                  <a:srgbClr val="0F2E4C"/>
                </a:solidFill>
                <a:latin typeface="Microsoft JhengHei"/>
              </a:rPr>
              <a:t>」（</a:t>
            </a:r>
            <a:r>
              <a:rPr lang="zh-TW" altLang="en-US" sz="1500" b="1" dirty="0">
                <a:solidFill>
                  <a:srgbClr val="0F2E4C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協調</a:t>
            </a:r>
            <a:r>
              <a:rPr sz="1500" b="1" i="0" dirty="0" err="1">
                <a:solidFill>
                  <a:srgbClr val="0F2E4C"/>
                </a:solidFill>
                <a:latin typeface="Microsoft JhengHei"/>
              </a:rPr>
              <a:t>用大模型、子任務用小模型</a:t>
            </a:r>
            <a:r>
              <a:rPr sz="1500" b="1" i="0" dirty="0">
                <a:solidFill>
                  <a:srgbClr val="0F2E4C"/>
                </a:solidFill>
                <a:latin typeface="Microsoft JhengHei"/>
              </a:rPr>
              <a:t>）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，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這兩者是目前控制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 Agent </a:t>
            </a:r>
            <a:r>
              <a:rPr sz="1500" b="0" i="0" dirty="0" err="1">
                <a:solidFill>
                  <a:srgbClr val="0F2E4C"/>
                </a:solidFill>
                <a:latin typeface="Microsoft JhengHei"/>
              </a:rPr>
              <a:t>成本最有效的兩個槓桿</a:t>
            </a:r>
            <a:r>
              <a:rPr sz="1500" b="0" i="0" dirty="0">
                <a:solidFill>
                  <a:srgbClr val="0F2E4C"/>
                </a:solidFill>
                <a:latin typeface="Microsoft JhengHei"/>
              </a:rPr>
              <a:t>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39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趨勢 ④：其他四個收斂訊號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都指向同一件事——Agent 正在從「玩具」變成「基礎設施」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55648"/>
            <a:ext cx="5280660" cy="17007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28066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901952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6FD6"/>
                </a:solidFill>
                <a:latin typeface="Microsoft JhengHei"/>
              </a:rPr>
              <a:t>長時間、有狀態的執行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從「一問一答」走向「小時級、可中斷續跑」的流程。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AWS：每個工作階段獨立虛擬機，最長 8 小時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⚠️ Microsoft／Google／Anthropic 的對應能力多在預覽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意義：這是自動化真實業務流程（而非單一任務）的前提。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7940" y="1755648"/>
            <a:ext cx="5280660" cy="17007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77940" y="1755648"/>
            <a:ext cx="5280660" cy="54864"/>
          </a:xfrm>
          <a:prstGeom prst="rect">
            <a:avLst/>
          </a:prstGeom>
          <a:solidFill>
            <a:srgbClr val="11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4244" y="1901952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11868C"/>
                </a:solidFill>
                <a:latin typeface="Microsoft JhengHei"/>
              </a:rPr>
              <a:t>記憶體成為託管服務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短期／長期／程序性記憶的分類已成業界共識。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AWS 已正式上線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⚠️ 其餘廠商多數仍在預覽階段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金融業導入宜謹慎——這一塊還沒穩定。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21024"/>
            <a:ext cx="5280660" cy="17007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3621024"/>
            <a:ext cx="528066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544" y="3767328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D9772B"/>
                </a:solidFill>
                <a:latin typeface="Microsoft JhengHei"/>
              </a:rPr>
              <a:t>可觀測性：走向中立標準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OpenTelemetry 的生成式 AI 語意約定是目前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唯一真正跨廠商中立的方案。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⚠️ 但截至 2026 年仍標示為「開發中」，尚未穩定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意義：想要不被鎖定，這是該關注的方向。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77940" y="3621024"/>
            <a:ext cx="5280660" cy="1700784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77940" y="3621024"/>
            <a:ext cx="528066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24244" y="3767328"/>
            <a:ext cx="4988052" cy="1444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50" b="1" i="0">
                <a:solidFill>
                  <a:srgbClr val="2E8B57"/>
                </a:solidFill>
                <a:latin typeface="Microsoft JhengHei"/>
              </a:rPr>
              <a:t>註冊表與市集：Agent 的資產清冊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企業開始需要回答：「我的組織裡到底跑著哪些 Agent、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用哪些工具、誰授權的？」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⚠️ 各家的註冊表與市集多在 2026 年才發表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意義：Agent 版的資產管理資料庫正在成形。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9279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評估與維運也在成熟：</a:t>
            </a:r>
            <a:r>
              <a:rPr sz="1600" b="0" i="0">
                <a:solidFill>
                  <a:srgbClr val="1B2633"/>
                </a:solidFill>
                <a:latin typeface="Microsoft JhengHei"/>
              </a:rPr>
              <a:t>從「跑一次基準測試」進化到「生產環境 A/B 測試 ＋ 流量分流 ＋ 統計顯著性驗證」。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40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金融業視角：法規時鐘正在走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這一頁的資訊時效性最強，建議以最新版本為準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37124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現況與時程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歐盟 AI 法案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通用 AI 義務已於 2025-08 生效。高風險義務經 2026-06 表決通過延後 12～16 個月
（獨立系統延至 2027-12、內嵌產品延至 2028-08）。⚠️ 但透明度義務（聊天機器人揭露、
AI 內容標示、深偽標示）仍於 2026-08 如期生效，不延期。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美國銀行模型風險管理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原本的 SR 11-7 已於 2026-04 被新規取代，且主管機關明確將生成式與 Agent 型 AI
排除在正式的「模型風險管理」範圍之外。⚠️ 這不代表免管——而是機構必須自建治理框架。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產業自律框架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Cyber Risk Institute 於 2026-02 發布金融業 AI 風險管理框架，把通用標準轉化為
230 項控制目標（治理、模型開發、第三方風險、消費者保護），可作為自建框架的起點。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124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根本的技術落差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舊法規假設「模型範圍有界、參數穩定、決策路徑可事後重建」；Agent 系統則是動態、
非決定性、且具自主性。→ 這解釋了為何可稽核性成為採購決策的第一順位。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650992"/>
            <a:ext cx="10881360" cy="512064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650992"/>
            <a:ext cx="10515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B03830"/>
                </a:solidFill>
                <a:latin typeface="Microsoft JhengHei"/>
              </a:rPr>
              <a:t>⚠️ 免責提醒：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法規時程變動頻繁，本頁為 2026-07 的研究快照。正式決策前請洽法遵單位確認最新狀態。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41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市場數據：把「獨立分析」與「廠商說法」分開看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這一頁刻意標註可信度，避免把行銷語言當成結論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數據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來源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可信度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逾 40% 的 Agent 專案將於 2027 年底前被取消
主因：成本攀升、商業價值不明、風險控制不足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Gartner，2025-06
（3,400+ 組織調查）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E8B57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數千家自稱 Agent 廠商中，僅約 130 家名副其實
（其餘為「掛羊頭賣狗肉」）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Gartner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E8B57"/>
                          </a:solidFill>
                          <a:latin typeface="Microsoft JhengHei"/>
                        </a:rPr>
                        <a:t>高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2028 年 15% 的日常工作決策將由 Agent 自主完成
（2024 年為 0%）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Gartner（長期預測）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D9772B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工具定義 token 縮減 98.7%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Anthropic ＋ 社群生產驗證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E8B57"/>
                          </a:solidFill>
                          <a:latin typeface="Microsoft JhengHei"/>
                        </a:rPr>
                        <a:t>中—高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MCP 月下載 9,700 萬次、10,000+ 公開伺服器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Anthropic 官方自報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D9772B"/>
                          </a:solidFill>
                          <a:latin typeface="Microsoft JhengHei"/>
                        </a:rPr>
                        <a:t>中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A2A 有 150+ 組織在生產環境使用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Google 行銷說法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03830"/>
                          </a:solidFill>
                          <a:latin typeface="Microsoft JhengHei"/>
                        </a:rPr>
                        <a:t>低—中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某記憶體功能帶來 7～14% 成功率提升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Microsoft 自報，未揭露測試方法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03830"/>
                          </a:solidFill>
                          <a:latin typeface="Microsoft JhengHei"/>
                        </a:rPr>
                        <a:t>低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852160"/>
            <a:ext cx="10881360" cy="566928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852160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JhengHei"/>
              </a:rPr>
              <a:t>最值得記住的一條：</a:t>
            </a:r>
            <a:r>
              <a:rPr sz="1500" b="0" i="0">
                <a:solidFill>
                  <a:srgbClr val="C9DAEC"/>
                </a:solidFill>
                <a:latin typeface="Microsoft JhengHei"/>
              </a:rPr>
              <a:t>Gartner 預測 40% 專案會被取消，主因之一就是「風險控制不足」——</a:t>
            </a:r>
            <a:r>
              <a:rPr sz="1500" b="1" i="0">
                <a:solidFill>
                  <a:srgbClr val="FFFFFF"/>
                </a:solidFill>
                <a:latin typeface="Microsoft JhengHei"/>
              </a:rPr>
              <a:t>治理不是成本，是專案的存活條件。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42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⚠️ 成熟度提醒：哪些今天真的能上生產？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本報告大量引用 2026 年的新資訊，這一頁把成熟度講清楚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755648"/>
          <a:ext cx="10881360" cy="33467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廠商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成熟度評估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AWS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2E8B57"/>
                          </a:solidFill>
                          <a:latin typeface="Microsoft JhengHei"/>
                        </a:rPr>
                        <a:t>最成熟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核心六件套 2025-10 即正式上線；政策攔截與評估功能 2026 Q1 轉正式版。
若以「今天可上生產」為標準，目前成熟度最高。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Microsoft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D9772B"/>
                          </a:solidFill>
                          <a:latin typeface="Microsoft JhengHei"/>
                        </a:rPr>
                        <a:t>部分成熟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代理服務與知識層已正式上線；但記憶體、工具集中管理、長時自主執行等
約半數新功能仍在公開預覽。⚠️ 另注意 2026 年產品已更名。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Google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B03830"/>
                          </a:solidFill>
                          <a:latin typeface="Microsoft JhengHei"/>
                        </a:rPr>
                        <a:t>多數極新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⚠️ 2026-04 才發表整個平台大改版，多數子元件官方未逐項公告正式／預覽狀態。
身分功能已正式上線，但閘道等仍為私有預覽。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Anthropic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D9772B"/>
                          </a:solidFill>
                          <a:latin typeface="Microsoft JhengHei"/>
                        </a:rPr>
                        <a:t>協定成熟、產品新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MCP 與 Agent Skills 已是穩定的開放標準；⚠️ 但託管代理服務 2026-04 才推出，
屬新產品（Part 2 的專案就是建構在它之上）。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7240" y="5285232"/>
            <a:ext cx="10881360" cy="566928"/>
          </a:xfrm>
          <a:prstGeom prst="rect">
            <a:avLst/>
          </a:prstGeom>
          <a:solidFill>
            <a:srgbClr val="FD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28523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0F2E4C"/>
                </a:solidFill>
                <a:latin typeface="Microsoft JhengHei"/>
              </a:rPr>
              <a:t>給決策者的建議：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架構層面可以照著這些趨勢規劃（協定選 MCP、身分與稽核要納入設計），但</a:t>
            </a:r>
            <a:r>
              <a:rPr sz="1500" b="1" i="0">
                <a:solidFill>
                  <a:srgbClr val="B03830"/>
                </a:solidFill>
                <a:latin typeface="Microsoft JhengHei"/>
              </a:rPr>
              <a:t>採購與上線時程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務必逐項向廠商確認當下的正式／預覽狀態——本頁隨時可能過期。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43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總結：一條貫穿三個部分的線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78992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316736"/>
            <a:ext cx="350520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16736"/>
            <a:ext cx="3505200" cy="5486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1463039"/>
            <a:ext cx="3212592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Part 1　道理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Agent ＝ 模型 ＋ 工具 ＋ 迴圈。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它的價值來自「自主」，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它的風險也來自「自主」。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所以所有設計工作，本質上都是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在回答同一個問題：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「要放多少自主，怎麼把它框住？」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5320" y="1316736"/>
            <a:ext cx="350520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65320" y="1316736"/>
            <a:ext cx="3505200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1624" y="1463039"/>
            <a:ext cx="3212592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E8B57"/>
                </a:solidFill>
                <a:latin typeface="Microsoft JhengHei"/>
              </a:rPr>
              <a:t>Part 2　做法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這個專案的答案是：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用架構去框，不靠模型自制。</a:t>
            </a:r>
          </a:p>
          <a:p>
            <a:pPr>
              <a:spcBef>
                <a:spcPts val="400"/>
              </a:spcBef>
            </a:pPr>
            <a:endParaRPr sz="1200" b="0" i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碰髒資料的角色沒有出口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有出口的角色碰不到髒資料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格式的形狀本身消滅攻擊面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人永遠最後拍板</a:t>
            </a:r>
          </a:p>
          <a:p>
            <a:pPr>
              <a:spcBef>
                <a:spcPts val="400"/>
              </a:spcBef>
            </a:pPr>
            <a:r>
              <a:rPr sz="1200" b="0" i="0">
                <a:solidFill>
                  <a:srgbClr val="5D6875"/>
                </a:solidFill>
                <a:latin typeface="Microsoft JhengHei"/>
              </a:rPr>
              <a:t>· 提示說謊會讓建置失敗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399" y="1316736"/>
            <a:ext cx="3505200" cy="237744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53399" y="1316736"/>
            <a:ext cx="3505200" cy="54864"/>
          </a:xfrm>
          <a:prstGeom prst="rect">
            <a:avLst/>
          </a:prstGeom>
          <a:solidFill>
            <a:srgbClr val="D97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99704" y="1463039"/>
            <a:ext cx="3212592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D9772B"/>
                </a:solidFill>
                <a:latin typeface="Microsoft JhengHei"/>
              </a:rPr>
              <a:t>Part 3　</a:t>
            </a:r>
            <a:r>
              <a:rPr sz="1600" b="1" i="0" dirty="0" err="1">
                <a:solidFill>
                  <a:srgbClr val="D9772B"/>
                </a:solidFill>
                <a:latin typeface="Microsoft JhengHei"/>
              </a:rPr>
              <a:t>趨勢</a:t>
            </a:r>
            <a:endParaRPr sz="1600" b="1" i="0" dirty="0">
              <a:solidFill>
                <a:srgbClr val="D9772B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整個產業正在把這些手工做法</a:t>
            </a:r>
            <a:r>
              <a:rPr sz="1200" b="0" i="0" dirty="0">
                <a:solidFill>
                  <a:srgbClr val="5D6875"/>
                </a:solidFill>
                <a:latin typeface="Microsoft JhengHei"/>
              </a:rPr>
              <a:t>，</a:t>
            </a:r>
          </a:p>
          <a:p>
            <a:pPr>
              <a:spcBef>
                <a:spcPts val="400"/>
              </a:spcBef>
            </a:pP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變成平台級的託管服務</a:t>
            </a:r>
            <a:r>
              <a:rPr sz="1200" b="0" i="0" dirty="0">
                <a:solidFill>
                  <a:srgbClr val="5D6875"/>
                </a:solidFill>
                <a:latin typeface="Microsoft JhengHei"/>
              </a:rPr>
              <a:t>。</a:t>
            </a:r>
          </a:p>
          <a:p>
            <a:pPr>
              <a:spcBef>
                <a:spcPts val="400"/>
              </a:spcBef>
            </a:pPr>
            <a:endParaRPr sz="120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身分、政策、稽核成為標配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協定層大致底定（MCP</a:t>
            </a:r>
            <a:r>
              <a:rPr sz="1200" b="0" i="0" dirty="0">
                <a:solidFill>
                  <a:srgbClr val="5D6875"/>
                </a:solidFill>
                <a:latin typeface="Microsoft JhengHei"/>
              </a:rPr>
              <a:t>）</a:t>
            </a:r>
          </a:p>
          <a:p>
            <a:pPr>
              <a:spcBef>
                <a:spcPts val="4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成本結構被重寫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  <a:p>
            <a:pPr>
              <a:spcBef>
                <a:spcPts val="400"/>
              </a:spcBef>
            </a:pPr>
            <a:r>
              <a:rPr sz="1200" b="0" i="0" dirty="0">
                <a:solidFill>
                  <a:srgbClr val="5D6875"/>
                </a:solidFill>
                <a:latin typeface="Microsoft JhengHei"/>
              </a:rPr>
              <a:t>· ⚠️ </a:t>
            </a:r>
            <a:r>
              <a:rPr sz="1200" b="0" i="0" dirty="0" err="1">
                <a:solidFill>
                  <a:srgbClr val="5D6875"/>
                </a:solidFill>
                <a:latin typeface="Microsoft JhengHei"/>
              </a:rPr>
              <a:t>但很多還在預覽階段</a:t>
            </a:r>
            <a:endParaRPr sz="1200" b="0" i="0" dirty="0">
              <a:solidFill>
                <a:srgbClr val="5D6875"/>
              </a:solidFill>
              <a:latin typeface="Microsoft Jheng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803904"/>
            <a:ext cx="10881360" cy="786384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20097"/>
            <a:ext cx="1051560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 dirty="0" err="1">
                <a:solidFill>
                  <a:srgbClr val="FFC000"/>
                </a:solidFill>
                <a:latin typeface="Microsoft JhengHei"/>
              </a:rPr>
              <a:t>如果只能帶走一句話</a:t>
            </a:r>
            <a:r>
              <a:rPr sz="1600" b="1" i="0" dirty="0">
                <a:solidFill>
                  <a:srgbClr val="FFC000"/>
                </a:solidFill>
                <a:latin typeface="Microsoft JhengHei"/>
              </a:rPr>
              <a:t>：</a:t>
            </a:r>
            <a:r>
              <a:rPr sz="1400" b="0" i="0" dirty="0">
                <a:solidFill>
                  <a:srgbClr val="C9DAEC"/>
                </a:solidFill>
                <a:latin typeface="Microsoft JhengHei"/>
              </a:rPr>
              <a:t>　Agent </a:t>
            </a:r>
            <a:r>
              <a:rPr sz="1400" b="0" i="0" dirty="0" err="1">
                <a:solidFill>
                  <a:srgbClr val="C9DAEC"/>
                </a:solidFill>
                <a:latin typeface="Microsoft JhengHei"/>
              </a:rPr>
              <a:t>專案的成敗，主要不取決於用了哪個模型，而取決於「它知道什麼、能做什麼、怎麼知道自己做對了」這三件事有沒有被認真設計</a:t>
            </a:r>
            <a:r>
              <a:rPr sz="1400" b="0" i="0" dirty="0">
                <a:solidFill>
                  <a:srgbClr val="C9DAEC"/>
                </a:solidFill>
                <a:latin typeface="Microsoft JhengHei"/>
              </a:rPr>
              <a:t>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881360" cy="45720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而 Gartner 的那句提醒值得再說一次：</a:t>
            </a:r>
            <a:r>
              <a:rPr sz="1600" b="1" i="0">
                <a:solidFill>
                  <a:srgbClr val="B03830"/>
                </a:solidFill>
                <a:latin typeface="Microsoft JhengHei"/>
              </a:rPr>
              <a:t>治理不是成本，是專案的存活條件。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44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附錄 A：名詞速查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本報告出現過的技術名詞，一句話版本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42686"/>
              </p:ext>
            </p:extLst>
          </p:nvPr>
        </p:nvGraphicFramePr>
        <p:xfrm>
          <a:off x="777240" y="1755648"/>
          <a:ext cx="10881360" cy="473659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名詞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Microsoft JhengHei"/>
                        </a:rPr>
                        <a:t>一句話解釋</a:t>
                      </a:r>
                    </a:p>
                  </a:txBody>
                  <a:tcPr marL="73152" marR="54864" marT="27432" marB="27432" anchor="ctr">
                    <a:solidFill>
                      <a:srgbClr val="0F2E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 dirty="0" err="1">
                          <a:solidFill>
                            <a:srgbClr val="0F2E4C"/>
                          </a:solidFill>
                          <a:latin typeface="Microsoft JhengHei"/>
                        </a:rPr>
                        <a:t>LLM（大型語言模型</a:t>
                      </a:r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會生成文字的模型本身。只會讀進文字、產出文字，不會自己動手做事。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 dirty="0" err="1">
                          <a:solidFill>
                            <a:srgbClr val="0F2E4C"/>
                          </a:solidFill>
                          <a:latin typeface="Microsoft JhengHei"/>
                        </a:rPr>
                        <a:t>Agent（代理</a:t>
                      </a:r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把模型放進「能用工具、看到結果、再決定下一步」的迴圈裡，就成為 Agent。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Workflow（</a:t>
                      </a:r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工作流</a:t>
                      </a:r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路徑寫死在程式碼裡的自動化。可預測、好稽核，但不夠靈活。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上下文</a:t>
                      </a:r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（Context）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模型一次能「看到」的所有文字總量。有上限，就像人的短期記憶。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上下文</a:t>
                      </a:r>
                      <a:r>
                        <a:rPr sz="1150" b="1" i="0" dirty="0" err="1">
                          <a:solidFill>
                            <a:srgbClr val="0F2E4C"/>
                          </a:solidFill>
                          <a:latin typeface="Microsoft JhengHei"/>
                        </a:rPr>
                        <a:t>工程</a:t>
                      </a:r>
                      <a:endParaRPr sz="1150" b="1" i="0" dirty="0">
                        <a:solidFill>
                          <a:srgbClr val="0F2E4C"/>
                        </a:solidFill>
                        <a:latin typeface="Microsoft JhengHei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決定「在第 N 步時，該讓模型看到哪些資訊」的設計工作。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詞元</a:t>
                      </a:r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（</a:t>
                      </a:r>
                      <a:r>
                        <a:rPr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Token</a:t>
                      </a:r>
                      <a:r>
                        <a:rPr lang="zh-TW" altLang="en-US" sz="1150" b="1" i="0" dirty="0">
                          <a:solidFill>
                            <a:srgbClr val="0F2E4C"/>
                          </a:solidFill>
                          <a:latin typeface="Microsoft JhengHei"/>
                        </a:rPr>
                        <a:t>）</a:t>
                      </a:r>
                      <a:endParaRPr sz="1150" b="1" i="0" dirty="0">
                        <a:solidFill>
                          <a:srgbClr val="0F2E4C"/>
                        </a:solidFill>
                        <a:latin typeface="Microsoft JhengHei"/>
                      </a:endParaRP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模型計算與計費的文字單位。大致上，一個中文字約等於 1～2 個 token。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MCP（模型情境協定）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讓 AI 助理接上外部系統的「標準插座」。2025-12 已成為 Linux Foundation 的中立標準。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A2A（Agent 互通協定）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讓不同廠商做的 Agent 能互相溝通協作的標準。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Skill（技能）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一個資料夾，裝著「做某件專業工作的完整步驟」，可被多個助理共用、用到才載入。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子代理（Subagent）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主 Agent 派出去做單一小任務的分身，有自己獨立的視窗與權限。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提示注入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>
                          <a:solidFill>
                            <a:srgbClr val="1B2633"/>
                          </a:solidFill>
                          <a:latin typeface="Microsoft JhengHei"/>
                        </a:rPr>
                        <a:t>把惡意指令藏在 Agent 會讀到的文件裡騙它照做。Agent 最主要的安全威脅。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150" b="1" i="0">
                          <a:solidFill>
                            <a:srgbClr val="0F2E4C"/>
                          </a:solidFill>
                          <a:latin typeface="Microsoft JhengHei"/>
                        </a:rPr>
                        <a:t>四眼原則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 i="0" dirty="0" err="1">
                          <a:solidFill>
                            <a:srgbClr val="1B2633"/>
                          </a:solidFill>
                          <a:latin typeface="Microsoft JhengHei"/>
                        </a:rPr>
                        <a:t>重要作業必須經第二人獨立複核的內控慣例。本專案把它做成一個「獨立複核者」角色</a:t>
                      </a:r>
                      <a:r>
                        <a:rPr sz="1150" b="0" i="0" dirty="0">
                          <a:solidFill>
                            <a:srgbClr val="1B2633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marL="73152" marR="54864" marT="18288" marB="18288" anchor="ctr">
                    <a:solidFill>
                      <a:srgbClr val="F5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515600" y="63276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4A0"/>
                </a:solidFill>
                <a:latin typeface="Microsoft JhengHei"/>
              </a:rPr>
              <a:t>45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475488"/>
            <a:ext cx="82296" cy="420624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384048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0F2E4C"/>
                </a:solidFill>
                <a:latin typeface="Microsoft JhengHei"/>
              </a:rPr>
              <a:t>附錄 B：資料來源與時效性聲明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33271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5D6875"/>
                </a:solidFill>
                <a:latin typeface="Microsoft JhengHei"/>
              </a:rPr>
              <a:t>所有外部主張均可回溯至下列來源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517904"/>
            <a:ext cx="11018520" cy="18288"/>
          </a:xfrm>
          <a:prstGeom prst="rect">
            <a:avLst/>
          </a:prstGeom>
          <a:solidFill>
            <a:srgbClr val="E2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55648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Part 1　設計原理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10881360" cy="80467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Anthropic Engineering：</a:t>
            </a:r>
            <a:r>
              <a:rPr sz="1200" b="0" i="0">
                <a:solidFill>
                  <a:srgbClr val="1B2633"/>
                </a:solidFill>
                <a:latin typeface="Microsoft JhengHei"/>
              </a:rPr>
              <a:t>Building Effective Agents (2024-12)、多代理研究系統 (2025-06)、工具設計 (2025-09)、脈絡工程 (2025-09)、Code execution with MCP (2025-11)、⚠️ Agent 評測 (2026-01)、⚠️ Claude Code auto mode (2026-03)、⚠️ 產品圍堵 (2026-05)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3"/>
            <a:ext cx="10881360" cy="53035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其他：</a:t>
            </a:r>
            <a:r>
              <a:rPr sz="1200" b="0" i="0">
                <a:solidFill>
                  <a:srgbClr val="1B2633"/>
                </a:solidFill>
                <a:latin typeface="Microsoft JhengHei"/>
              </a:rPr>
              <a:t>OpenAI《A Practical Guide to Building Agents》(2025-04)、Google《Agents》白皮書 (2024-09)、LangChain《Context Engineering for Agents》(2025-07)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39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Part 2　實作案例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21023"/>
            <a:ext cx="10881360" cy="58521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200" b="0" i="0">
                <a:solidFill>
                  <a:srgbClr val="1B2633"/>
                </a:solidFill>
                <a:latin typeface="Microsoft JhengHei"/>
              </a:rPr>
              <a:t>內部專案設計文件與實作內容（未對外公開）。</a:t>
            </a:r>
            <a:r>
              <a:rPr sz="1200" b="0" i="0">
                <a:solidFill>
                  <a:srgbClr val="5D6875"/>
                </a:solidFill>
                <a:latin typeface="Microsoft JhengHei"/>
              </a:rPr>
              <a:t>　本報告僅呈現可對外說明的設計概念與手法，不含任何實作細節、設定內容或原始碼。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9663"/>
            <a:ext cx="10881360" cy="420624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500" b="1" i="0">
                <a:solidFill>
                  <a:srgbClr val="11868C"/>
                </a:solidFill>
                <a:latin typeface="Microsoft JhengHei"/>
              </a:rPr>
              <a:t>Part 3　產業趨勢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8"/>
            <a:ext cx="10881360" cy="8595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600" b="1" i="0">
                <a:solidFill>
                  <a:srgbClr val="2E6FD6"/>
                </a:solidFill>
                <a:latin typeface="Microsoft JhengHei"/>
              </a:rPr>
              <a:t>▪  </a:t>
            </a:r>
            <a:r>
              <a:rPr sz="1600" b="1" i="0">
                <a:solidFill>
                  <a:srgbClr val="1B2633"/>
                </a:solidFill>
                <a:latin typeface="Microsoft JhengHei"/>
              </a:rPr>
              <a:t>廠商官方公告與文件：</a:t>
            </a:r>
            <a:r>
              <a:rPr sz="1200" b="0" i="0">
                <a:solidFill>
                  <a:srgbClr val="1B2633"/>
                </a:solidFill>
                <a:latin typeface="Microsoft JhengHei"/>
              </a:rPr>
              <a:t>AWS Bedrock AgentCore／Strands、Google Cloud Next '26 與 Gemini Enterprise、Microsoft Foundry (Build 2026)、Anthropic MCP／Agent Skills 相關公告　｜　市場與法規：Gartner (2025-06)、EU AI Act 相關法律事務所分析 (2026)、GARP (2026-02)、Cyber Risk Institute (2026-02)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5358383"/>
            <a:ext cx="10881360" cy="841248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5358383"/>
            <a:ext cx="1051560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B03830"/>
                </a:solidFill>
                <a:latin typeface="Microsoft JhengHei"/>
              </a:rPr>
              <a:t>⚠️ 時效性聲明：</a:t>
            </a:r>
            <a:r>
              <a:rPr sz="1500" b="0" i="0">
                <a:solidFill>
                  <a:srgbClr val="0F2E4C"/>
                </a:solidFill>
                <a:latin typeface="Microsoft JhengHei"/>
              </a:rPr>
              <a:t>本報告資料截止於 2026-07-20。凡標示 ⚠️ 者為預覽／測試階段功能，或 2026 年才發表、尚未經時間驗證的資訊，不應視為正式生產可用。廠商產品狀態與法規時程變動頻繁，正式決策前請逐項重新確認。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651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Microsoft JhengHei"/>
              </a:rPr>
              <a:t>簡報結束　·　歡迎討論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703320"/>
            <a:ext cx="3840480" cy="27432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9319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 i="0">
                <a:solidFill>
                  <a:srgbClr val="B9CCE0"/>
                </a:solidFill>
                <a:latin typeface="Microsoft JhengHei"/>
              </a:rPr>
              <a:t>如需了解各助理的完整工作流程、風險把關、導入評估與模型選用，</a:t>
            </a:r>
          </a:p>
          <a:p>
            <a:pPr>
              <a:spcBef>
                <a:spcPts val="600"/>
              </a:spcBef>
            </a:pPr>
            <a:r>
              <a:rPr sz="1350" b="0" i="0">
                <a:solidFill>
                  <a:srgbClr val="B9CCE0"/>
                </a:solidFill>
                <a:latin typeface="Microsoft JhengHei"/>
              </a:rPr>
              <a:t>可另行索取內部技術文件。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4667</Words>
  <Application>Microsoft Office PowerPoint</Application>
  <PresentationFormat>寬螢幕</PresentationFormat>
  <Paragraphs>955</Paragraphs>
  <Slides>46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46</vt:i4>
      </vt:variant>
    </vt:vector>
  </HeadingPairs>
  <TitlesOfParts>
    <vt:vector size="52" baseType="lpstr">
      <vt:lpstr>Microsoft JhengHei</vt:lpstr>
      <vt:lpstr>Microsoft JhengHei</vt:lpstr>
      <vt:lpstr>Arial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a802216 arthur</cp:lastModifiedBy>
  <cp:revision>4</cp:revision>
  <dcterms:created xsi:type="dcterms:W3CDTF">2013-01-27T09:14:16Z</dcterms:created>
  <dcterms:modified xsi:type="dcterms:W3CDTF">2026-07-20T08:22:39Z</dcterms:modified>
  <cp:category/>
</cp:coreProperties>
</file>