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9D4E0"/>
                </a:solidFill>
                <a:latin typeface="Microsoft JhengHei"/>
                <a:ea typeface="Microsoft JhengHei"/>
              </a:rPr>
              <a:t>ANTHROPIC FINANCIAL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74519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Microsoft JhengHei"/>
                <a:ea typeface="Microsoft JhengHei"/>
              </a:rPr>
              <a:t>十個 AI 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D7DFE8"/>
                </a:solidFill>
                <a:latin typeface="Microsoft JhengHei"/>
                <a:ea typeface="Microsoft JhengHei"/>
              </a:rPr>
              <a:t>覆蓋金融營運的完整生命週期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94760"/>
            <a:ext cx="5120640" cy="27432"/>
          </a:xfrm>
          <a:prstGeom prst="rect">
            <a:avLst/>
          </a:prstGeom>
          <a:solidFill>
            <a:srgbClr val="3A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9D4E0"/>
                </a:solidFill>
                <a:latin typeface="Microsoft JhengHei"/>
                <a:ea typeface="Microsoft JhengHei"/>
              </a:rPr>
              <a:t>從「贏得業務 → 開戶 → 基金營運 → 對出資人交代」，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9D4E0"/>
                </a:solidFill>
                <a:latin typeface="Microsoft JhengHei"/>
                <a:ea typeface="Microsoft JhengHei"/>
              </a:rPr>
              <a:t>一套設定、兩種用法，人永遠掌握最後決定權。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0C2"/>
                </a:solidFill>
                <a:latin typeface="Microsoft JhengHei"/>
                <a:ea typeface="Microsoft JhengHei"/>
              </a:rPr>
              <a:t>經營層提案簡報</a:t>
            </a:r>
            <a:r>
              <a:rPr sz="1200" b="0" i="0">
                <a:solidFill>
                  <a:srgbClr val="7F92A8"/>
                </a:solidFill>
                <a:latin typeface="Microsoft JhengHei"/>
                <a:ea typeface="Microsoft JhengHei"/>
              </a:rPr>
              <a:t>　·　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結論先行 · 看完只需記住這一張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314B"/>
                </a:solidFill>
                <a:latin typeface="Microsoft JhengHei"/>
                <a:ea typeface="Microsoft JhengHei"/>
              </a:rPr>
              <a:t>十個 Agent，串起一家金融公司的完整營運生命週期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615184" cy="33832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425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66543"/>
            <a:ext cx="2615184" cy="283464"/>
          </a:xfrm>
          <a:prstGeom prst="rect">
            <a:avLst/>
          </a:prstGeom>
          <a:solidFill>
            <a:srgbClr val="425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22494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icrosoft JhengHei"/>
                <a:ea typeface="Microsoft JhengHei"/>
              </a:rPr>
              <a:t>STEP 1</a:t>
            </a:r>
            <a:r>
              <a:rPr sz="1000" b="0" i="0">
                <a:solidFill>
                  <a:srgbClr val="DDE4EC"/>
                </a:solidFill>
                <a:latin typeface="Microsoft JhengHei"/>
                <a:ea typeface="Microsoft JhengHei"/>
              </a:rPr>
              <a:t>  ·  前台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5740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icrosoft JhengHei"/>
                <a:ea typeface="Microsoft JhengHei"/>
              </a:rPr>
              <a:t>贏得業務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560320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60320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會前準備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3063239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063239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市場研究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3566160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566160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財報追蹤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4069080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069080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估值建模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4572000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投行提案</a:t>
            </a:r>
          </a:p>
        </p:txBody>
      </p:sp>
      <p:sp>
        <p:nvSpPr>
          <p:cNvPr id="20" name="Chevron 19"/>
          <p:cNvSpPr/>
          <p:nvPr/>
        </p:nvSpPr>
        <p:spPr>
          <a:xfrm>
            <a:off x="3227832" y="3355848"/>
            <a:ext cx="283464" cy="237744"/>
          </a:xfrm>
          <a:prstGeom prst="chevron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83863" y="1783080"/>
            <a:ext cx="2615184" cy="33832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83863" y="1783080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3863" y="2066543"/>
            <a:ext cx="2615184" cy="283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1874519"/>
            <a:ext cx="22494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icrosoft JhengHei"/>
                <a:ea typeface="Microsoft JhengHei"/>
              </a:rPr>
              <a:t>STEP 2</a:t>
            </a:r>
            <a:r>
              <a:rPr sz="1000" b="0" i="0">
                <a:solidFill>
                  <a:srgbClr val="DDE4EC"/>
                </a:solidFill>
                <a:latin typeface="Microsoft JhengHei"/>
                <a:ea typeface="Microsoft JhengHei"/>
              </a:rPr>
              <a:t>  ·  中台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6744" y="205740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icrosoft JhengHei"/>
                <a:ea typeface="Microsoft JhengHei"/>
              </a:rPr>
              <a:t>開戶審查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66744" y="2560320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66744" y="2560320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開戶審查</a:t>
            </a:r>
          </a:p>
        </p:txBody>
      </p:sp>
      <p:sp>
        <p:nvSpPr>
          <p:cNvPr id="28" name="Chevron 27"/>
          <p:cNvSpPr/>
          <p:nvPr/>
        </p:nvSpPr>
        <p:spPr>
          <a:xfrm>
            <a:off x="6071616" y="3355848"/>
            <a:ext cx="283464" cy="237744"/>
          </a:xfrm>
          <a:prstGeom prst="chevron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27648" y="1783080"/>
            <a:ext cx="2615184" cy="33832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8" y="1783080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27648" y="2066543"/>
            <a:ext cx="2615184" cy="283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1874519"/>
            <a:ext cx="22494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icrosoft JhengHei"/>
                <a:ea typeface="Microsoft JhengHei"/>
              </a:rPr>
              <a:t>STEP 3</a:t>
            </a:r>
            <a:r>
              <a:rPr sz="1000" b="0" i="0">
                <a:solidFill>
                  <a:srgbClr val="DDE4EC"/>
                </a:solidFill>
                <a:latin typeface="Microsoft JhengHei"/>
                <a:ea typeface="Microsoft JhengHei"/>
              </a:rPr>
              <a:t>  ·  後台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205740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基金日常營運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2560320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2560320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總帳對帳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0528" y="3063239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063239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月底結帳</a:t>
            </a:r>
          </a:p>
        </p:txBody>
      </p:sp>
      <p:sp>
        <p:nvSpPr>
          <p:cNvPr id="38" name="Chevron 37"/>
          <p:cNvSpPr/>
          <p:nvPr/>
        </p:nvSpPr>
        <p:spPr>
          <a:xfrm>
            <a:off x="8915400" y="3355848"/>
            <a:ext cx="283464" cy="237744"/>
          </a:xfrm>
          <a:prstGeom prst="chevron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71432" y="1783080"/>
            <a:ext cx="2615184" cy="33832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71432" y="1783080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0F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71432" y="2066543"/>
            <a:ext cx="2615184" cy="283464"/>
          </a:xfrm>
          <a:prstGeom prst="rect">
            <a:avLst/>
          </a:prstGeom>
          <a:solidFill>
            <a:srgbClr val="0F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54311" y="1874519"/>
            <a:ext cx="22494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icrosoft JhengHei"/>
                <a:ea typeface="Microsoft JhengHei"/>
              </a:rPr>
              <a:t>STEP 4</a:t>
            </a:r>
            <a:r>
              <a:rPr sz="1000" b="0" i="0">
                <a:solidFill>
                  <a:srgbClr val="DDE4EC"/>
                </a:solidFill>
                <a:latin typeface="Microsoft JhengHei"/>
                <a:ea typeface="Microsoft JhengHei"/>
              </a:rPr>
              <a:t>  ·  後台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1" y="2057400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icrosoft JhengHei"/>
                <a:ea typeface="Microsoft JhengHei"/>
              </a:rPr>
              <a:t>對出資人交代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54311" y="2560320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4311" y="2560320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估值複核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54311" y="3063239"/>
            <a:ext cx="2249424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54311" y="3063239"/>
            <a:ext cx="22494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對帳單稽核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440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14B"/>
                </a:solidFill>
                <a:latin typeface="Microsoft JhengHei"/>
                <a:ea typeface="Microsoft JhengHei"/>
              </a:rPr>
              <a:t>一條規律：</a:t>
            </a:r>
            <a:r>
              <a:rPr sz="1400" b="0" i="0">
                <a:solidFill>
                  <a:srgbClr val="1E2A36"/>
                </a:solidFill>
                <a:latin typeface="Microsoft JhengHei"/>
                <a:ea typeface="Microsoft JhengHei"/>
              </a:rPr>
              <a:t>越靠近「錢」與「法規」，風險越高、把關越嚴 — 前台研究放寬，中後台合規嚴格隔離。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A36"/>
                </a:solidFill>
                <a:latin typeface="Microsoft JhengHei"/>
                <a:ea typeface="Microsoft JhengHei"/>
              </a:rPr>
              <a:t>每個 Agent 都只負責「起草、建議」，</a:t>
            </a: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最後一定由人簽核</a:t>
            </a:r>
            <a:r>
              <a:rPr sz="1400" b="0" i="0">
                <a:solidFill>
                  <a:srgbClr val="1E2A36"/>
                </a:solidFill>
                <a:latin typeface="Microsoft JhengHei"/>
                <a:ea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商業價值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314B"/>
                </a:solidFill>
                <a:latin typeface="Microsoft JhengHei"/>
                <a:ea typeface="Microsoft JhengHei"/>
              </a:rPr>
              <a:t>為什麼值得導入：對經營層的四個價值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411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JhengHei"/>
                <a:ea typeface="Microsoft JhengHei"/>
              </a:rPr>
              <a:t>Anthropic Financial · 10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4406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109728" cy="20574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929384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FB686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8424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314B"/>
                </a:solidFill>
                <a:latin typeface="Microsoft JhengHei"/>
                <a:ea typeface="Microsoft JhengHei"/>
              </a:rPr>
              <a:t>覆蓋全生命週期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2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A36"/>
                </a:solidFill>
                <a:latin typeface="Microsoft JhengHei"/>
                <a:ea typeface="Microsoft JhengHei"/>
              </a:rPr>
              <a:t>十個職能一條鏈，從贏得業務到對出資人交代，補的是整段流程、不是單點工具。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54406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91640"/>
            <a:ext cx="109728" cy="20574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27080" y="1929384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FB686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8424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314B"/>
                </a:solidFill>
                <a:latin typeface="Microsoft JhengHei"/>
                <a:ea typeface="Microsoft JhengHei"/>
              </a:rPr>
              <a:t>一套設定、兩種用法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56032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A36"/>
                </a:solidFill>
                <a:latin typeface="Microsoft JhengHei"/>
                <a:ea typeface="Microsoft JhengHei"/>
              </a:rPr>
              <a:t>同一份 Agent 設定，可在「人盯著的協作模式」與「雲端自動執行」間切換，依風險調整把關程度。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23360"/>
            <a:ext cx="54406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109728" cy="20574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4261104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FB686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1596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314B"/>
                </a:solidFill>
                <a:latin typeface="Microsoft JhengHei"/>
                <a:ea typeface="Microsoft JhengHei"/>
              </a:rPr>
              <a:t>人永遠是最後一關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9204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A36"/>
                </a:solidFill>
                <a:latin typeface="Microsoft JhengHei"/>
                <a:ea typeface="Microsoft JhengHei"/>
              </a:rPr>
              <a:t>所有 Agent 只起草建議、從不自決；開戶、過帳、發布、分送皆由專人簽核，符合受監管要求。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023360"/>
            <a:ext cx="54406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023360"/>
            <a:ext cx="109728" cy="20574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27080" y="4261104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FB686"/>
                </a:solidFill>
                <a:latin typeface="Microsoft JhengHei"/>
                <a:ea typeface="Microsoft Jheng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31596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314B"/>
                </a:solidFill>
                <a:latin typeface="Microsoft JhengHei"/>
                <a:ea typeface="Microsoft JhengHei"/>
              </a:rPr>
              <a:t>由低風險先見效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89204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A36"/>
                </a:solidFill>
                <a:latin typeface="Microsoft JhengHei"/>
                <a:ea typeface="Microsoft JhengHei"/>
              </a:rPr>
              <a:t>建議先導入前台研究類（門檻低、最快見效），累積信任後再啃高價值的中後台。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0" b="1" i="0">
                <a:solidFill>
                  <a:srgbClr val="2C4660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101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PART 01 · 商業視角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3931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Microsoft JhengHei"/>
                <a:ea typeface="Microsoft JhengHei"/>
              </a:rPr>
              <a:t>十個 Agent 如何串成一家金融公司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C1CDDA"/>
                </a:solidFill>
                <a:latin typeface="Microsoft JhengHei"/>
                <a:ea typeface="Microsoft JhengHei"/>
              </a:rPr>
              <a:t>用四個群組與一個真實的一季故事，看每個 Agent 在哪一刻登場、為公司解決什麼。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職能地圖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314B"/>
                </a:solidFill>
                <a:latin typeface="Microsoft JhengHei"/>
                <a:ea typeface="Microsoft JhengHei"/>
              </a:rPr>
              <a:t>十個 Agent · 四個群組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411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JhengHei"/>
                <a:ea typeface="Microsoft JhengHei"/>
              </a:rPr>
              <a:t>Anthropic Financial · 10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688336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688336" cy="777240"/>
          </a:xfrm>
          <a:prstGeom prst="roundRect">
            <a:avLst>
              <a:gd name="adj" fmla="val 6000"/>
            </a:avLst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84832"/>
            <a:ext cx="2688336" cy="384048"/>
          </a:xfrm>
          <a:prstGeom prst="rect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19656"/>
            <a:ext cx="23225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E8EF"/>
                </a:solidFill>
                <a:latin typeface="Microsoft JhengHei"/>
                <a:ea typeface="Microsoft JhengHei"/>
              </a:rPr>
              <a:t>前台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3911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客戶經營與顧問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2651760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43200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會前準備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017520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4F8A6D"/>
                </a:solidFill>
                <a:latin typeface="Microsoft JhengHei"/>
                <a:ea typeface="Microsoft JhengHei"/>
              </a:rPr>
              <a:t>低風險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3419856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11296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投行提案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785616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C18E2E"/>
                </a:solidFill>
                <a:latin typeface="Microsoft JhengHei"/>
                <a:ea typeface="Microsoft JhengHei"/>
              </a:rPr>
              <a:t>中風險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1691640"/>
            <a:ext cx="2688336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0439" y="1691640"/>
            <a:ext cx="2688336" cy="777240"/>
          </a:xfrm>
          <a:prstGeom prst="roundRect">
            <a:avLst>
              <a:gd name="adj" fmla="val 6000"/>
            </a:avLst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39" y="2084832"/>
            <a:ext cx="2688336" cy="384048"/>
          </a:xfrm>
          <a:prstGeom prst="rect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7" y="1819656"/>
            <a:ext cx="23225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E8EF"/>
                </a:solidFill>
                <a:latin typeface="Microsoft JhengHei"/>
                <a:ea typeface="Microsoft JhengHei"/>
              </a:rPr>
              <a:t>前台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7" y="203911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研究與建模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21607" y="2651760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7911" y="2743200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市場研究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7911" y="3017520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4F8A6D"/>
                </a:solidFill>
                <a:latin typeface="Microsoft JhengHei"/>
                <a:ea typeface="Microsoft JhengHei"/>
              </a:rPr>
              <a:t>低風險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21607" y="3419856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67911" y="3511296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財報追蹤 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67911" y="3785616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C18E2E"/>
                </a:solidFill>
                <a:latin typeface="Microsoft JhengHei"/>
                <a:ea typeface="Microsoft JhengHei"/>
              </a:rPr>
              <a:t>中風險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21607" y="4187952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67911" y="4279392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估值建模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67911" y="4553712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C18E2E"/>
                </a:solidFill>
                <a:latin typeface="Microsoft JhengHei"/>
                <a:ea typeface="Microsoft JhengHei"/>
              </a:rPr>
              <a:t>中風險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691640"/>
            <a:ext cx="2688336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1691640"/>
            <a:ext cx="2688336" cy="777240"/>
          </a:xfrm>
          <a:prstGeom prst="roundRect">
            <a:avLst>
              <a:gd name="adj" fmla="val 6000"/>
            </a:avLst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2084832"/>
            <a:ext cx="2688336" cy="3840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1819656"/>
            <a:ext cx="23225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E8EF"/>
                </a:solidFill>
                <a:latin typeface="Microsoft JhengHei"/>
                <a:ea typeface="Microsoft JhengHei"/>
              </a:rPr>
              <a:t>中台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203911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開戶與審查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01968" y="2651760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2743200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開戶審查 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48272" y="3017520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81159" y="1691640"/>
            <a:ext cx="2688336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81159" y="1691640"/>
            <a:ext cx="2688336" cy="777240"/>
          </a:xfrm>
          <a:prstGeom prst="roundRect">
            <a:avLst>
              <a:gd name="adj" fmla="val 6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1159" y="2084832"/>
            <a:ext cx="2688336" cy="384048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82328" y="1819656"/>
            <a:ext cx="23225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2E8EF"/>
                </a:solidFill>
                <a:latin typeface="Microsoft JhengHei"/>
                <a:ea typeface="Microsoft JhengHei"/>
              </a:rPr>
              <a:t>後台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2328" y="2039112"/>
            <a:ext cx="2322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基金行政與財務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82328" y="2651760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28632" y="2743200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總帳對帳 Agent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28632" y="3017520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82328" y="3419856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28632" y="3511296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月底結帳 Agent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28632" y="3785616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82328" y="4187952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28632" y="4279392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估值複核 Agent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28632" y="4553712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82328" y="4956048"/>
            <a:ext cx="2286000" cy="64008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28632" y="5047488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對帳單稽核 Agent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28632" y="5321808"/>
            <a:ext cx="786384" cy="210312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Microsoft JhengHei"/>
                <a:ea typeface="Microsoft JhengHei"/>
              </a:rPr>
              <a:t>風險標記越高（越靠近錢與法規），自動化的把關與隔離就越嚴格。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一個真實的一季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314B"/>
                </a:solidFill>
                <a:latin typeface="Microsoft JhengHei"/>
                <a:ea typeface="Microsoft JhengHei"/>
              </a:rPr>
              <a:t>商業故事：晨曦資本的這一季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411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JhengHei"/>
                <a:ea typeface="Microsoft JhengHei"/>
              </a:rPr>
              <a:t>Anthropic Financial · 10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A36"/>
                </a:solidFill>
                <a:latin typeface="Microsoft JhengHei"/>
                <a:ea typeface="Microsoft JhengHei"/>
              </a:rPr>
              <a:t>晨曦資本同時做投行顧問與自有基金。這一季要替新基金找一個大型出資人，同時照常營運基金 —— 看十個 Agent 各自在哪一刻登場。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91440" cy="914400"/>
          </a:xfrm>
          <a:prstGeom prst="rect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350008"/>
            <a:ext cx="512064" cy="512064"/>
          </a:xfrm>
          <a:prstGeom prst="ellipse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000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267712"/>
            <a:ext cx="9784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314B"/>
                </a:solidFill>
                <a:latin typeface="Microsoft JhengHei"/>
                <a:ea typeface="Microsoft JhengHei"/>
              </a:rPr>
              <a:t>前台 · 贏得業務</a:t>
            </a:r>
            <a:r>
              <a:rPr sz="1250" b="1" i="0">
                <a:solidFill>
                  <a:srgbClr val="B5842B"/>
                </a:solidFill>
                <a:latin typeface="Microsoft JhengHei"/>
                <a:ea typeface="Microsoft JhengHei"/>
              </a:rPr>
              <a:t>　—　把潛在出資人變成有興趣的客戶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7860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會前準備備妥往來與持倉 → 市場研究交出產業概覽 → 財報追蹤更新看法 → 估值建模深入評估 → 投行提案產出第一版提案。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72968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72968"/>
            <a:ext cx="91440" cy="9144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374136"/>
            <a:ext cx="512064" cy="512064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7413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291840"/>
            <a:ext cx="9784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314B"/>
                </a:solidFill>
                <a:latin typeface="Microsoft JhengHei"/>
                <a:ea typeface="Microsoft JhengHei"/>
              </a:rPr>
              <a:t>中台 · 開戶</a:t>
            </a:r>
            <a:r>
              <a:rPr sz="1250" b="1" i="0">
                <a:solidFill>
                  <a:srgbClr val="B5842B"/>
                </a:solidFill>
                <a:latin typeface="Microsoft JhengHei"/>
                <a:ea typeface="Microsoft JhengHei"/>
              </a:rPr>
              <a:t>　—　資金進場的閘門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602736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出資人決定出資，開戶審查解析文件、跑反洗錢與名單比對，整理成審查包給合規人員。這一關沒過，後面都不會發生。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97096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197096"/>
            <a:ext cx="91440" cy="914400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398264"/>
            <a:ext cx="512064" cy="512064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9826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315968"/>
            <a:ext cx="9784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314B"/>
                </a:solidFill>
                <a:latin typeface="Microsoft JhengHei"/>
                <a:ea typeface="Microsoft JhengHei"/>
              </a:rPr>
              <a:t>後台 · 基金日常營運</a:t>
            </a:r>
            <a:r>
              <a:rPr sz="1250" b="1" i="0">
                <a:solidFill>
                  <a:srgbClr val="B5842B"/>
                </a:solidFill>
                <a:latin typeface="Microsoft JhengHei"/>
                <a:ea typeface="Microsoft JhengHei"/>
              </a:rPr>
              <a:t>　—　資金進場後的每日與每月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626864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每天由總帳對帳揪出差異、追原因；每到月底由月底結帳估列應計、結轉並說明差異。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21224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221224"/>
            <a:ext cx="91440" cy="914400"/>
          </a:xfrm>
          <a:prstGeom prst="rect">
            <a:avLst/>
          </a:prstGeom>
          <a:solidFill>
            <a:srgbClr val="0F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5422392"/>
            <a:ext cx="512064" cy="512064"/>
          </a:xfrm>
          <a:prstGeom prst="ellipse">
            <a:avLst/>
          </a:prstGeom>
          <a:solidFill>
            <a:srgbClr val="0F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42239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340096"/>
            <a:ext cx="9784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314B"/>
                </a:solidFill>
                <a:latin typeface="Microsoft JhengHei"/>
                <a:ea typeface="Microsoft JhengHei"/>
              </a:rPr>
              <a:t>後台 · 季末交代</a:t>
            </a:r>
            <a:r>
              <a:rPr sz="1250" b="1" i="0">
                <a:solidFill>
                  <a:srgbClr val="B5842B"/>
                </a:solidFill>
                <a:latin typeface="Microsoft JhengHei"/>
                <a:ea typeface="Microsoft JhengHei"/>
              </a:rPr>
              <a:t>　—　對出資人交代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650992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季末由估值複核核對估值並算收益分配；對帳單寄出前由對帳單稽核逐欄把關。過了這關，報告才寄給出資人。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治理 · 為什麼受監管的金融機構能放心交給它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314B"/>
                </a:solidFill>
                <a:latin typeface="Microsoft JhengHei"/>
                <a:ea typeface="Microsoft JhengHei"/>
              </a:rPr>
              <a:t>兩條貫穿全部的治理原則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411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JhengHei"/>
                <a:ea typeface="Microsoft JhengHei"/>
              </a:rPr>
              <a:t>Anthropic Financial · 10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49240" cy="42976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109728" cy="429768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38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5842B"/>
                </a:solidFill>
                <a:latin typeface="Microsoft JhengHei"/>
                <a:ea typeface="Microsoft JhengHei"/>
              </a:rPr>
              <a:t>原則一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1284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314B"/>
                </a:solidFill>
                <a:latin typeface="Microsoft JhengHei"/>
                <a:ea typeface="Microsoft JhengHei"/>
              </a:rPr>
              <a:t>風險越高，隔離越嚴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A36"/>
                </a:solidFill>
                <a:latin typeface="Microsoft JhengHei"/>
                <a:ea typeface="Microsoft JhengHei"/>
              </a:rPr>
              <a:t>是否讓 Agent 自己「寫入檔案」，依風險高低決定。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337560"/>
            <a:ext cx="4892040" cy="1097280"/>
          </a:xfrm>
          <a:prstGeom prst="roundRect">
            <a:avLst>
              <a:gd name="adj" fmla="val 5000"/>
            </a:avLst>
          </a:prstGeom>
          <a:solidFill>
            <a:srgbClr val="E4EFE9"/>
          </a:solidFill>
          <a:ln w="15875">
            <a:solidFill>
              <a:srgbClr val="4F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3337560"/>
            <a:ext cx="91440" cy="1097280"/>
          </a:xfrm>
          <a:prstGeom prst="rect">
            <a:avLst/>
          </a:prstGeom>
          <a:solidFill>
            <a:srgbClr val="4F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低風險 · 前台／研究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9476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產出只是內部草稿，主代理可直接寫入檔案（放寬）。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562856"/>
            <a:ext cx="4892040" cy="1097280"/>
          </a:xfrm>
          <a:prstGeom prst="roundRect">
            <a:avLst>
              <a:gd name="adj" fmla="val 5000"/>
            </a:avLst>
          </a:prstGeom>
          <a:solidFill>
            <a:srgbClr val="F4E0DD"/>
          </a:solidFill>
          <a:ln w="15875">
            <a:solidFill>
              <a:srgbClr val="B05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4562856"/>
            <a:ext cx="91440" cy="1097280"/>
          </a:xfrm>
          <a:prstGeom prst="rect">
            <a:avLst/>
          </a:prstGeom>
          <a:solidFill>
            <a:srgbClr val="B0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70916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2A36"/>
                </a:solidFill>
                <a:latin typeface="Microsoft JhengHei"/>
                <a:ea typeface="Microsoft JhengHei"/>
              </a:rPr>
              <a:t>高風險 · 後台／合規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020056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牽涉法規與財務誠信，主代理一律不寫檔，動作嚴格切開、分權。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691640"/>
            <a:ext cx="109728" cy="429768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938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5842B"/>
                </a:solidFill>
                <a:latin typeface="Microsoft JhengHei"/>
                <a:ea typeface="Microsoft JhengHei"/>
              </a:rPr>
              <a:t>原則二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21284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6314B"/>
                </a:solidFill>
                <a:latin typeface="Microsoft JhengHei"/>
                <a:ea typeface="Microsoft JhengHei"/>
              </a:rPr>
              <a:t>人，永遠是最後一關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8892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A36"/>
                </a:solidFill>
                <a:latin typeface="Microsoft JhengHei"/>
                <a:ea typeface="Microsoft JhengHei"/>
              </a:rPr>
              <a:t>所有 Agent 只起草／建議，從不自決 —— 最後由人按下決定鍵。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337560"/>
            <a:ext cx="4892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33756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開戶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33756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A36"/>
                </a:solidFill>
                <a:latin typeface="Microsoft JhengHei"/>
                <a:ea typeface="Microsoft JhengHei"/>
              </a:rPr>
              <a:t>→　合規人員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995928"/>
            <a:ext cx="4892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3995928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過帳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399592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A36"/>
                </a:solidFill>
                <a:latin typeface="Microsoft JhengHei"/>
                <a:ea typeface="Microsoft JhengHei"/>
              </a:rPr>
              <a:t>→　控制員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654296"/>
            <a:ext cx="4892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465429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發布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4654296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A36"/>
                </a:solidFill>
                <a:latin typeface="Microsoft JhengHei"/>
                <a:ea typeface="Microsoft JhengHei"/>
              </a:rPr>
              <a:t>→　分析師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5312664"/>
            <a:ext cx="4892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4848" y="5312664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分送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5312664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A36"/>
                </a:solidFill>
                <a:latin typeface="Microsoft JhengHei"/>
                <a:ea typeface="Microsoft JhengHei"/>
              </a:rPr>
              <a:t>→　投資人關係／法遵長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0" b="1" i="0">
                <a:solidFill>
                  <a:srgbClr val="2C4660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101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PART 02 · 導入與運作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3931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Microsoft JhengHei"/>
                <a:ea typeface="Microsoft JhengHei"/>
              </a:rPr>
              <a:t>一套設定、兩種用法，怎麼接、怎麼上線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C1CDDA"/>
                </a:solidFill>
                <a:latin typeface="Microsoft JhengHei"/>
                <a:ea typeface="Microsoft JhengHei"/>
              </a:rPr>
              <a:t>用經營層語言講清楚：兩種部署模式的差別、要串接哪些系統、建議的導入順序，以及實測成效。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部署模式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314B"/>
                </a:solidFill>
                <a:latin typeface="Microsoft JhengHei"/>
                <a:ea typeface="Microsoft JhengHei"/>
              </a:rPr>
              <a:t>一份設定，兩種用法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411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JhengHei"/>
                <a:ea typeface="Microsoft JhengHei"/>
              </a:rPr>
              <a:t>Anthropic Financial · 10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唯一來源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一份 Agent 設定</a:t>
            </a:r>
            <a:r>
              <a:rPr sz="1300" b="0" i="0">
                <a:solidFill>
                  <a:srgbClr val="C6D2DE"/>
                </a:solidFill>
                <a:latin typeface="Microsoft JhengHei"/>
                <a:ea typeface="Microsoft JhengHei"/>
              </a:rPr>
              <a:t>　·　角色、流程、規範、工具、把關規則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5842B"/>
                </a:solidFill>
                <a:latin typeface="Microsoft JhengHei"/>
                <a:ea typeface="Microsoft JhengHei"/>
              </a:rPr>
              <a:t>↓  同一份內容，兩種用法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349240" cy="265176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5349240" cy="640080"/>
          </a:xfrm>
          <a:prstGeom prst="roundRect">
            <a:avLst>
              <a:gd name="adj" fmla="val 6000"/>
            </a:avLst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5349240" cy="320040"/>
          </a:xfrm>
          <a:prstGeom prst="rect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互動協作模式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A36"/>
                </a:solidFill>
                <a:latin typeface="Microsoft JhengHei"/>
                <a:ea typeface="Microsoft JhengHei"/>
              </a:rPr>
              <a:t>在工具中與專人一起操作，過程由人逐步確認。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224528"/>
            <a:ext cx="91440" cy="91440"/>
          </a:xfrm>
          <a:prstGeom prst="ellipse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16052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適合高風險、需要逐步把關的工作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617720"/>
            <a:ext cx="91440" cy="91440"/>
          </a:xfrm>
          <a:prstGeom prst="ellipse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553712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人全程在旁，每一步都可攔下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010912"/>
            <a:ext cx="91440" cy="91440"/>
          </a:xfrm>
          <a:prstGeom prst="ellipse">
            <a:avLst/>
          </a:prstGeom>
          <a:solidFill>
            <a:srgbClr val="5C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946903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產出：對話訊息＋檔案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788920"/>
            <a:ext cx="5349240" cy="265176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2788920"/>
            <a:ext cx="5349240" cy="640080"/>
          </a:xfrm>
          <a:prstGeom prst="roundRect">
            <a:avLst>
              <a:gd name="adj" fmla="val 6000"/>
            </a:avLst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108960"/>
            <a:ext cx="5349240" cy="32004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2788920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雲端自動執行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56616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A36"/>
                </a:solidFill>
                <a:latin typeface="Microsoft JhengHei"/>
                <a:ea typeface="Microsoft JhengHei"/>
              </a:rPr>
              <a:t>部署到雲端自動運行，過程不需專人在旁。</a:t>
            </a:r>
          </a:p>
        </p:txBody>
      </p:sp>
      <p:sp>
        <p:nvSpPr>
          <p:cNvPr id="28" name="Oval 27"/>
          <p:cNvSpPr/>
          <p:nvPr/>
        </p:nvSpPr>
        <p:spPr>
          <a:xfrm>
            <a:off x="6537959" y="4224528"/>
            <a:ext cx="91440" cy="91440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9127" y="416052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適合低風險、大量重複的例行工作</a:t>
            </a:r>
          </a:p>
        </p:txBody>
      </p:sp>
      <p:sp>
        <p:nvSpPr>
          <p:cNvPr id="30" name="Oval 29"/>
          <p:cNvSpPr/>
          <p:nvPr/>
        </p:nvSpPr>
        <p:spPr>
          <a:xfrm>
            <a:off x="6537959" y="4617720"/>
            <a:ext cx="91440" cy="91440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7" y="4553712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沒有人介入，靠權限設計約束</a:t>
            </a:r>
          </a:p>
        </p:txBody>
      </p:sp>
      <p:sp>
        <p:nvSpPr>
          <p:cNvPr id="32" name="Oval 31"/>
          <p:cNvSpPr/>
          <p:nvPr/>
        </p:nvSpPr>
        <p:spPr>
          <a:xfrm>
            <a:off x="6537959" y="5010912"/>
            <a:ext cx="91440" cy="91440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9127" y="4946903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高風險動作鎖進權限最小的子代理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5842B"/>
                </a:solidFill>
                <a:latin typeface="Microsoft JhengHei"/>
                <a:ea typeface="Microsoft JhengHei"/>
              </a:rPr>
              <a:t>重點　</a:t>
            </a:r>
            <a:r>
              <a:rPr sz="1350" b="0" i="0">
                <a:solidFill>
                  <a:srgbClr val="1E2A36"/>
                </a:solidFill>
                <a:latin typeface="Microsoft JhengHei"/>
                <a:ea typeface="Microsoft JhengHei"/>
              </a:rPr>
              <a:t>一份設定，兩種用法：要逐步把關就用互動模式、要大量自動化就用雲端模式，把關程度依風險高低調整。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系統串接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314B"/>
                </a:solidFill>
                <a:latin typeface="Microsoft JhengHei"/>
                <a:ea typeface="Microsoft JhengHei"/>
              </a:rPr>
              <a:t>要接哪些系統？決定了導入的難易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411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JhengHei"/>
                <a:ea typeface="Microsoft JhengHei"/>
              </a:rPr>
              <a:t>Anthropic Financial · 10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A36"/>
                </a:solidFill>
                <a:latin typeface="Microsoft JhengHei"/>
                <a:ea typeface="Microsoft JhengHei"/>
              </a:rPr>
              <a:t>每個 Agent 要能運作，得先接到對應的資料來源。來源分兩種，難易差很多：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349240" cy="31546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109728" cy="3154680"/>
          </a:xfrm>
          <a:prstGeom prst="rect">
            <a:avLst/>
          </a:prstGeom>
          <a:solidFill>
            <a:srgbClr val="4F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0487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314B"/>
                </a:solidFill>
                <a:latin typeface="Microsoft JhengHei"/>
                <a:ea typeface="Microsoft JhengHei"/>
              </a:rPr>
              <a:t>前台 · 研究與顧問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47091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8A6D"/>
                </a:solidFill>
                <a:latin typeface="Microsoft JhengHei"/>
                <a:ea typeface="Microsoft JhengHei"/>
              </a:rPr>
              <a:t>靠外部市場資料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79" y="24231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低門檻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456432"/>
            <a:ext cx="91440" cy="91440"/>
          </a:xfrm>
          <a:prstGeom prst="ellipse">
            <a:avLst/>
          </a:prstGeom>
          <a:solidFill>
            <a:srgbClr val="4F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338328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資料向專業資料商訂閱即有（財報、行情、同業比較）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050792"/>
            <a:ext cx="91440" cy="91440"/>
          </a:xfrm>
          <a:prstGeom prst="ellipse">
            <a:avLst/>
          </a:prstGeom>
          <a:solidFill>
            <a:srgbClr val="4F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7" y="397764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產出只是內部草稿，有人複核能攔錯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645152"/>
            <a:ext cx="91440" cy="91440"/>
          </a:xfrm>
          <a:prstGeom prst="ellipse">
            <a:avLst/>
          </a:prstGeom>
          <a:solidFill>
            <a:srgbClr val="4F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457200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可先試水溫、最快見效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148840"/>
            <a:ext cx="5349240" cy="31546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148840"/>
            <a:ext cx="109728" cy="3154680"/>
          </a:xfrm>
          <a:prstGeom prst="rect">
            <a:avLst/>
          </a:prstGeom>
          <a:solidFill>
            <a:srgbClr val="B0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40487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314B"/>
                </a:solidFill>
                <a:latin typeface="Microsoft JhengHei"/>
                <a:ea typeface="Microsoft JhengHei"/>
              </a:rPr>
              <a:t>中後台 · 行政與合規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788920"/>
            <a:ext cx="47091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05247"/>
                </a:solidFill>
                <a:latin typeface="Microsoft JhengHei"/>
                <a:ea typeface="Microsoft JhengHei"/>
              </a:rPr>
              <a:t>要接公司內部系統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78440" y="24231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B0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高門檻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3456432"/>
            <a:ext cx="91440" cy="91440"/>
          </a:xfrm>
          <a:prstGeom prst="ellipse">
            <a:avLst/>
          </a:prstGeom>
          <a:solidFill>
            <a:srgbClr val="B0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338328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需串接總帳、子帳、基金淨值、投資組合、黑名單、客戶系統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050792"/>
            <a:ext cx="91440" cy="91440"/>
          </a:xfrm>
          <a:prstGeom prst="ellipse">
            <a:avLst/>
          </a:prstGeom>
          <a:solidFill>
            <a:srgbClr val="B0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0568" y="397764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牽涉法規與帳目正確性，錯不得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4645152"/>
            <a:ext cx="91440" cy="91440"/>
          </a:xfrm>
          <a:prstGeom prst="ellipse">
            <a:avLst/>
          </a:prstGeom>
          <a:solidFill>
            <a:srgbClr val="B0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457200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省下的人工最多、價值最高，建議後段導入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5842B"/>
                </a:solidFill>
                <a:latin typeface="Microsoft JhengHei"/>
                <a:ea typeface="Microsoft JhengHei"/>
              </a:rPr>
              <a:t>一句話　</a:t>
            </a:r>
            <a:r>
              <a:rPr sz="1350" b="0" i="0">
                <a:solidFill>
                  <a:srgbClr val="1E2A36"/>
                </a:solidFill>
                <a:latin typeface="Microsoft JhengHei"/>
                <a:ea typeface="Microsoft JhengHei"/>
              </a:rPr>
              <a:t>前台靠訂得到的外部資料，可先導入快速見效；中後台要對接公司既有系統並對齊法遵流程，建議在前段累積信任後再上。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導入規劃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314B"/>
                </a:solidFill>
                <a:latin typeface="Microsoft JhengHei"/>
                <a:ea typeface="Microsoft JhengHei"/>
              </a:rPr>
              <a:t>建議的導入順序：先簡單見效，再啃硬骨頭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411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JhengHei"/>
                <a:ea typeface="Microsoft JhengHei"/>
              </a:rPr>
              <a:t>Anthropic Financial · 10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72800" cy="1371600"/>
          </a:xfrm>
          <a:prstGeom prst="roundRect">
            <a:avLst>
              <a:gd name="adj" fmla="val 3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4F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777240" cy="1371600"/>
          </a:xfrm>
          <a:prstGeom prst="rect">
            <a:avLst/>
          </a:prstGeom>
          <a:solidFill>
            <a:srgbClr val="4F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</a:rPr>
              <a:t>第一批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947672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314B"/>
                </a:solidFill>
                <a:latin typeface="Microsoft JhengHei"/>
                <a:ea typeface="Microsoft JhengHei"/>
              </a:rPr>
              <a:t>先導入　研究與顧問</a:t>
            </a:r>
            <a:r>
              <a:rPr sz="1250" b="1" i="0">
                <a:solidFill>
                  <a:srgbClr val="4F8A6D"/>
                </a:solidFill>
                <a:latin typeface="Microsoft JhengHei"/>
                <a:ea typeface="Microsoft JhengHei"/>
              </a:rPr>
              <a:t>　·　風險低～中 · 成本中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1343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785"/>
                </a:solidFill>
                <a:latin typeface="Microsoft JhengHei"/>
                <a:ea typeface="Microsoft JhengHei"/>
              </a:rPr>
              <a:t>涵蓋：</a:t>
            </a:r>
            <a:r>
              <a:rPr sz="1250" b="1" i="0">
                <a:solidFill>
                  <a:srgbClr val="1E2A36"/>
                </a:solidFill>
                <a:latin typeface="Microsoft JhengHei"/>
                <a:ea typeface="Microsoft JhengHei"/>
              </a:rPr>
              <a:t>會前準備、市場研究、財報追蹤、估值建模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651760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多靠外部訂閱資料、不必接內部系統，最快見效、試錯成本低。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73552"/>
            <a:ext cx="10972800" cy="1371600"/>
          </a:xfrm>
          <a:prstGeom prst="roundRect">
            <a:avLst>
              <a:gd name="adj" fmla="val 3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73552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C1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273552"/>
            <a:ext cx="777240" cy="1371600"/>
          </a:xfrm>
          <a:prstGeom prst="rect">
            <a:avLst/>
          </a:prstGeom>
          <a:solidFill>
            <a:srgbClr val="C1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</a:rPr>
              <a:t>第二批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38144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314B"/>
                </a:solidFill>
                <a:latin typeface="Microsoft JhengHei"/>
                <a:ea typeface="Microsoft JhengHei"/>
              </a:rPr>
              <a:t>接著導入　投行提案</a:t>
            </a:r>
            <a:r>
              <a:rPr sz="1250" b="1" i="0">
                <a:solidFill>
                  <a:srgbClr val="C18E2E"/>
                </a:solidFill>
                <a:latin typeface="Microsoft JhengHei"/>
                <a:ea typeface="Microsoft JhengHei"/>
              </a:rPr>
              <a:t>　·　風險中 · 成本中偏高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80390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785"/>
                </a:solidFill>
                <a:latin typeface="Microsoft JhengHei"/>
                <a:ea typeface="Microsoft JhengHei"/>
              </a:rPr>
              <a:t>涵蓋：</a:t>
            </a:r>
            <a:r>
              <a:rPr sz="1250" b="1" i="0">
                <a:solidFill>
                  <a:srgbClr val="1E2A36"/>
                </a:solidFill>
                <a:latin typeface="Microsoft JhengHei"/>
                <a:ea typeface="Microsoft JhengHei"/>
              </a:rPr>
              <a:t>投行提案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4223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成果會對外，且要客製投行的簡報範本與檢查規則，工程量比第一批大。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64024"/>
            <a:ext cx="10972800" cy="1371600"/>
          </a:xfrm>
          <a:prstGeom prst="roundRect">
            <a:avLst>
              <a:gd name="adj" fmla="val 3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B0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764024"/>
            <a:ext cx="777240" cy="1371600"/>
          </a:xfrm>
          <a:prstGeom prst="rect">
            <a:avLst/>
          </a:prstGeom>
          <a:solidFill>
            <a:srgbClr val="B0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29784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</a:rPr>
              <a:t>第三批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928616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314B"/>
                </a:solidFill>
                <a:latin typeface="Microsoft JhengHei"/>
                <a:ea typeface="Microsoft JhengHei"/>
              </a:rPr>
              <a:t>最後導入　中後台五支</a:t>
            </a:r>
            <a:r>
              <a:rPr sz="1250" b="1" i="0">
                <a:solidFill>
                  <a:srgbClr val="B05247"/>
                </a:solidFill>
                <a:latin typeface="Microsoft JhengHei"/>
                <a:ea typeface="Microsoft JhengHei"/>
              </a:rPr>
              <a:t>　·　風險高 · 成本高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29437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785"/>
                </a:solidFill>
                <a:latin typeface="Microsoft JhengHei"/>
                <a:ea typeface="Microsoft JhengHei"/>
              </a:rPr>
              <a:t>涵蓋：</a:t>
            </a:r>
            <a:r>
              <a:rPr sz="1250" b="1" i="0">
                <a:solidFill>
                  <a:srgbClr val="1E2A36"/>
                </a:solidFill>
                <a:latin typeface="Microsoft JhengHei"/>
                <a:ea typeface="Microsoft JhengHei"/>
              </a:rPr>
              <a:t>開戶審查、總帳對帳、月底結帳、估值複核、對帳單稽核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632704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省下的人工最多、價值最高，但要接內部系統、對齊法遵與財務流程，建議在前兩批累積信任後再上。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實測成效 · 全部以假資料試跑（2026-06）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314B"/>
                </a:solidFill>
                <a:latin typeface="Microsoft JhengHei"/>
                <a:ea typeface="Microsoft JhengHei"/>
              </a:rPr>
              <a:t>不只跑得動，還會反過來挑出你資料的毛病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914400" cy="41148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Microsoft JhengHei"/>
                <a:ea typeface="Microsoft JhengHei"/>
              </a:rPr>
              <a:t>Anthropic Financial · 10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593592" cy="13716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91440" cy="13716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83080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B5842B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874519"/>
            <a:ext cx="19933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支 Agent 全數試跑驗收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691640"/>
            <a:ext cx="3593592" cy="13716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691640"/>
            <a:ext cx="91440" cy="13716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783080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B5842B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1874519"/>
            <a:ext cx="19933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支逐項對答案評分，全數通過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1691640"/>
            <a:ext cx="3593592" cy="13716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691640"/>
            <a:ext cx="91440" cy="13716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783080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B5842B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4" y="1874519"/>
            <a:ext cx="199339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A36"/>
                </a:solidFill>
                <a:latin typeface="Microsoft JhengHei"/>
                <a:ea typeface="Microsoft JhengHei"/>
              </a:rPr>
              <a:t>支反向抓出我們出題的瑕疵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9184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4747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</a:rPr>
              <a:t>開戶審查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6791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E2A36"/>
                </a:solidFill>
                <a:latin typeface="Microsoft JhengHei"/>
                <a:ea typeface="Microsoft JhengHei"/>
              </a:rPr>
              <a:t>抓真制裁命中、放過同名假命中、高風險走加強審查不亂拒 —— 五件全對。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29184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4747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</a:rPr>
              <a:t>會前準備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6791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E2A36"/>
                </a:solidFill>
                <a:latin typeface="Microsoft JhengHei"/>
                <a:ea typeface="Microsoft JhengHei"/>
              </a:rPr>
              <a:t>客戶來信暗藏「要求匯款並隱匿」的詐騙指令，它拒做、還把詐騙信攤在資料包最前面。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8056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6634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</a:rPr>
              <a:t>月底結帳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5663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E2A36"/>
                </a:solidFill>
                <a:latin typeface="Microsoft JhengHei"/>
                <a:ea typeface="Microsoft JhengHei"/>
              </a:rPr>
              <a:t>驗算對上之外，反向抓出我們樣本裡折舊／分紅的前期瑕疵。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48056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46634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</a:rPr>
              <a:t>估值複核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5663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E2A36"/>
                </a:solidFill>
                <a:latin typeface="Microsoft JhengHei"/>
                <a:ea typeface="Microsoft JhengHei"/>
              </a:rPr>
              <a:t>收益分配比我們的答案卡還正確，並標出需對帳的差異交法遵長。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Microsoft JhengHei"/>
                <a:ea typeface="Microsoft JhengHei"/>
              </a:rPr>
              <a:t>共通好行為：查不到就標註、不捏造；假命中不誤殺；只產草稿，最後一定有人簽核。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0" b="1" i="0">
                <a:solidFill>
                  <a:srgbClr val="2C4660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101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PART 03 · 十個 Agent 逐一介紹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3931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Microsoft JhengHei"/>
                <a:ea typeface="Microsoft JhengHei"/>
              </a:rPr>
              <a:t>每個 Agent：做什麼、怎麼把關、帶來什麼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C1CDDA"/>
                </a:solidFill>
                <a:latin typeface="Microsoft JhengHei"/>
                <a:ea typeface="Microsoft JhengHei"/>
              </a:rPr>
              <a:t>依四個群組逐一檢視。每頁固定看：用途、運作流程、風險把關，以及帶來的實際效益。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前台 · 客戶經營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會前準備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（meeting-prep-agent）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財富管理／私人銀行（前台）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見客戶前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理財專員（理專）、私人銀行理財顧問、投資顧問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4F8A6D"/>
                </a:solidFill>
                <a:latin typeface="Microsoft JhengHei"/>
                <a:ea typeface="Microsoft JhengHei"/>
              </a:rPr>
              <a:t>低風險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客戶會前準備助理：會議前彙整客戶關係、持倉與相關市場動態，產出給顧問的會前資料包。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整理客戶關係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從客戶系統調出往來歷史、目前持倉與未結項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12540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53141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3141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50398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掌握市場動態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714292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找出近期與客戶持倉相關的市場大事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73321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292193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29219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264761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回顧近期往來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475073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摘要客戶最近的信件與筆記，掌握最新狀況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34102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505297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05297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02554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草擬會前資料包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235854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寫好關係摘要與持倉說明，整理成會前資料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94883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2648" y="5813755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581375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5786323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交顧問過目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5996635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只出草稿，會議前由顧問確認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客戶代號、行事曆會議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2962656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3128" y="3044951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接公司客戶系統，拉出關係歷史、持倉與未結項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3128" y="345185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客戶關係與持倉現況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06824" y="3835907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128" y="3918203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接市場資料源，撈出影響該客戶持倉的市場事件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8" y="43251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相關市場動態摘要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06824" y="4709159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53128" y="4791455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摘要近期客戶信件與筆記（來信一律當不可信、只摘要不執行）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53128" y="519836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近期往來重點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06824" y="5582412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53128" y="5664707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組裝關係摘要與持倉說明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會前資料包（草稿）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58" name="Oval 57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客戶來信、新聞一律經格式防火牆當不可信資料隔離，只摘要、不執行其中指令</a:t>
            </a:r>
          </a:p>
        </p:txBody>
      </p:sp>
      <p:sp>
        <p:nvSpPr>
          <p:cNvPr id="60" name="Oval 59"/>
          <p:cNvSpPr/>
          <p:nvPr/>
        </p:nvSpPr>
        <p:spPr>
          <a:xfrm>
            <a:off x="8156448" y="331012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11896" y="324612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績效差就如實呈現、不粉飾；只出草稿、顧問會前確認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3675888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63" name="Oval 62"/>
          <p:cNvSpPr/>
          <p:nvPr/>
        </p:nvSpPr>
        <p:spPr>
          <a:xfrm>
            <a:off x="8156448" y="399592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1896" y="393192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公司客戶關係系統（內部）</a:t>
            </a:r>
          </a:p>
        </p:txBody>
      </p:sp>
      <p:sp>
        <p:nvSpPr>
          <p:cNvPr id="65" name="Oval 64"/>
          <p:cNvSpPr/>
          <p:nvPr/>
        </p:nvSpPr>
        <p:spPr>
          <a:xfrm>
            <a:off x="8156448" y="42062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11896" y="41422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市場資料平台（CapitalIQ／可改用 S&amp;P 等已串接來源）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4572000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68" name="Oval 67"/>
          <p:cNvSpPr/>
          <p:nvPr/>
        </p:nvSpPr>
        <p:spPr>
          <a:xfrm>
            <a:off x="8156448" y="48920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11896" y="48280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串接公司內部客戶關係系統（查關係史、持倉、未結項、近期往來）</a:t>
            </a:r>
          </a:p>
        </p:txBody>
      </p:sp>
      <p:sp>
        <p:nvSpPr>
          <p:cNvPr id="70" name="Oval 69"/>
          <p:cNvSpPr/>
          <p:nvPr/>
        </p:nvSpPr>
        <p:spPr>
          <a:xfrm>
            <a:off x="8156448" y="5248656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11896" y="5184648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設定投資政策與再平衡偏離門檻（預設 3–5%）</a:t>
            </a:r>
          </a:p>
        </p:txBody>
      </p:sp>
      <p:sp>
        <p:nvSpPr>
          <p:cNvPr id="72" name="Oval 71"/>
          <p:cNvSpPr/>
          <p:nvPr/>
        </p:nvSpPr>
        <p:spPr>
          <a:xfrm>
            <a:off x="8156448" y="560527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11896" y="554126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套入公司品牌簡報範本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前台 · 客戶經營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投行提案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（pitch-agent）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投資銀行部（承銷／財務顧問）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初次接觸客戶的第一版提案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協理／資深協理、財務顧問（FA）、承銷分析師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C18E2E"/>
                </a:solidFill>
                <a:latin typeface="Microsoft JhengHei"/>
                <a:ea typeface="Microsoft JhengHei"/>
              </a:rPr>
              <a:t>中風險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投行提案助理：針對交易標的蒐集同業比較與估值，產出含估值模型與品牌簡報的提案包。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界定範圍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圈定 5–8 家可比公司與幾筆先例交易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85744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404616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40461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377184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蒐集資料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587496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取得估值倍數、先例交易與最新財報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19728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038600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0386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011168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比較同業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221480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攤開同業比較與先例，推估估值區間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53712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467258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67258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464515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試算收購報酬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4855464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以市場舉債水準試算槓桿收購報酬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187696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2648" y="5306568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53065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5279136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補建模型與對照圖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5489448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補現金流折現與三大報表，疊出估值區間對照圖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821680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2648" y="594055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594055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" y="591312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製作並複查簡報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" y="6123432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套銀行範本、核對加總／註腳／日期一致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目標公司、一句話情境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6824" y="2962656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53128" y="3044951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圈定 5–8 家可比公司與先例交易，草擬公司快照與策略理由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8" y="345185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情境概述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6824" y="3835907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3128" y="3918203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接市場資料源，取得估值倍數、先例交易與最新財報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53128" y="43251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可比與先例資料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06824" y="4709159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53128" y="4791455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同業比較標離群、試算槓桿收購報酬、補現金流折現與三表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53128" y="519836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估值模型（試算表）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06824" y="5582412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53128" y="5664707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疊出估值區間對照圖、套銀行範本製作簡報並複查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提案簡報（數字可追溯）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63" name="Oval 62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每個數字都要有出處，查不到就標未證實</a:t>
            </a:r>
          </a:p>
        </p:txBody>
      </p:sp>
      <p:sp>
        <p:nvSpPr>
          <p:cNvPr id="65" name="Oval 64"/>
          <p:cNvSpPr/>
          <p:nvPr/>
        </p:nvSpPr>
        <p:spPr>
          <a:xfrm>
            <a:off x="8156448" y="316382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11896" y="309981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簡報數字皆綁回模型；模型後、簡報後各停一次給人複核</a:t>
            </a:r>
          </a:p>
        </p:txBody>
      </p:sp>
      <p:sp>
        <p:nvSpPr>
          <p:cNvPr id="67" name="Oval 66"/>
          <p:cNvSpPr/>
          <p:nvPr/>
        </p:nvSpPr>
        <p:spPr>
          <a:xfrm>
            <a:off x="8156448" y="35204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11896" y="34564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無對外通訊工具，不會自行對外聯絡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3739896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70" name="Oval 69"/>
          <p:cNvSpPr/>
          <p:nvPr/>
        </p:nvSpPr>
        <p:spPr>
          <a:xfrm>
            <a:off x="8156448" y="4059936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11896" y="3995928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市場資料平台（CapitalIQ／可改用 S&amp;P）</a:t>
            </a:r>
          </a:p>
        </p:txBody>
      </p:sp>
      <p:sp>
        <p:nvSpPr>
          <p:cNvPr id="72" name="Oval 71"/>
          <p:cNvSpPr/>
          <p:nvPr/>
        </p:nvSpPr>
        <p:spPr>
          <a:xfrm>
            <a:off x="8156448" y="441655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11896" y="435254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Daloopa（公開財務資料供應商）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38160" y="4636008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75" name="Oval 74"/>
          <p:cNvSpPr/>
          <p:nvPr/>
        </p:nvSpPr>
        <p:spPr>
          <a:xfrm>
            <a:off x="8156448" y="495604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11896" y="489204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訂閱外部資料源並取得授權金鑰</a:t>
            </a:r>
          </a:p>
        </p:txBody>
      </p:sp>
      <p:sp>
        <p:nvSpPr>
          <p:cNvPr id="77" name="Oval 76"/>
          <p:cNvSpPr/>
          <p:nvPr/>
        </p:nvSpPr>
        <p:spPr>
          <a:xfrm>
            <a:off x="8156448" y="516636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11896" y="510235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教入公司投行簡報範本（最關鍵）</a:t>
            </a:r>
          </a:p>
        </p:txBody>
      </p:sp>
      <p:sp>
        <p:nvSpPr>
          <p:cNvPr id="79" name="Oval 78"/>
          <p:cNvSpPr/>
          <p:nvPr/>
        </p:nvSpPr>
        <p:spPr>
          <a:xfrm>
            <a:off x="8156448" y="537667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11896" y="531266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設定可比與先例的指標定義與同業圈選慣例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前台 · 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市場研究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（market-researcher）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投信投顧／券商研究部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要快速搞懂一個不熟的產業或主題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研究員、證券分析師、基金經理人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4F8A6D"/>
                </a:solidFill>
                <a:latin typeface="Microsoft JhengHei"/>
                <a:ea typeface="Microsoft JhengHei"/>
              </a:rPr>
              <a:t>低風險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產業研究助理：針對投資主題研究產業概況、競品與同業比較，產出研究報告。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定義研究範圍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確認研究問題與市場邊界，鎖定該領域 8–15 家公司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12540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53141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3141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50398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市場全景分析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714292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整理市場規模、產業結構、成長驅動與風險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73321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292193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29219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264761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競爭格局與同業比較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475073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分析 top5 公司的營收、成長率、市占率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34102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505297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05297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02554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篩選潛在關注標的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235854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從格局與比較中挑出最值得關注的名字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94883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2648" y="5813755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581375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5786323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輸出研究報告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5996635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整合研究成果，產出研究簡報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產業／主題、研究角度、研究範疇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2962656"/>
            <a:ext cx="3575304" cy="607161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3128" y="3044951"/>
            <a:ext cx="3300984" cy="3328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網路搜尋建立候選清單，依研究範疇篩選 8–15 家公司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3128" y="327720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研究範圍備忘（範疇、公司側寫、後續步驟）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06824" y="3661257"/>
            <a:ext cx="3575304" cy="607161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128" y="3743553"/>
            <a:ext cx="3300984" cy="3328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整理市場規模、產業結構、成長驅動與風險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8" y="3975811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市場概況與市場全景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06824" y="4359859"/>
            <a:ext cx="3575304" cy="607161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53128" y="4442155"/>
            <a:ext cx="3300984" cy="3328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 FactSet／CapitalIQ 取得財務，做競品與 top5 同業比較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53128" y="46744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競爭格局與可比公司分析表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06824" y="5058460"/>
            <a:ext cx="3575304" cy="607161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53128" y="5140756"/>
            <a:ext cx="3300984" cy="3328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設計評分因子與權重、分級選股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53128" y="537301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潛在標的篩選與投資論點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06824" y="5757062"/>
            <a:ext cx="3575304" cy="607161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53128" y="5839358"/>
            <a:ext cx="3300984" cy="3328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彙整研究成果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研究報告（簡報）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61" name="Oval 60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質化內容須具明確引用來源、可追溯；來源衝突時依「公司揭露 &gt; 研究報告 &gt; 新聞媒體」判斷</a:t>
            </a:r>
          </a:p>
        </p:txBody>
      </p:sp>
      <p:sp>
        <p:nvSpPr>
          <p:cNvPr id="63" name="Oval 62"/>
          <p:cNvSpPr/>
          <p:nvPr/>
        </p:nvSpPr>
        <p:spPr>
          <a:xfrm>
            <a:off x="8156448" y="345643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1896" y="33924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財務與交易數字以資料源為主；查不到誠實標未證實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3822191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66" name="Oval 65"/>
          <p:cNvSpPr/>
          <p:nvPr/>
        </p:nvSpPr>
        <p:spPr>
          <a:xfrm>
            <a:off x="8156448" y="414223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11896" y="4078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FactSet／CapitalIQ：可比公司財務與交易數字（營收、成長率、淨利、EBITDA、本益比等）</a:t>
            </a:r>
          </a:p>
        </p:txBody>
      </p:sp>
      <p:sp>
        <p:nvSpPr>
          <p:cNvPr id="68" name="Oval 67"/>
          <p:cNvSpPr/>
          <p:nvPr/>
        </p:nvSpPr>
        <p:spPr>
          <a:xfrm>
            <a:off x="8156448" y="464515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11896" y="458114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網路搜尋：補充產業與新聞背景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38160" y="4864608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71" name="Oval 70"/>
          <p:cNvSpPr/>
          <p:nvPr/>
        </p:nvSpPr>
        <p:spPr>
          <a:xfrm>
            <a:off x="8156448" y="518464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11896" y="512064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依使用對象微調產出；流程或分析邏輯大幅變動則需客製新流程</a:t>
            </a:r>
          </a:p>
        </p:txBody>
      </p:sp>
      <p:sp>
        <p:nvSpPr>
          <p:cNvPr id="73" name="Oval 72"/>
          <p:cNvSpPr/>
          <p:nvPr/>
        </p:nvSpPr>
        <p:spPr>
          <a:xfrm>
            <a:off x="8156448" y="554126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11896" y="547725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FactSet／CapitalIQ 為付費庫，對台灣中小型公司資料可能不全，需搭配公開資訊觀測站等來源</a:t>
            </a:r>
          </a:p>
        </p:txBody>
      </p:sp>
      <p:sp>
        <p:nvSpPr>
          <p:cNvPr id="75" name="Oval 74"/>
          <p:cNvSpPr/>
          <p:nvPr/>
        </p:nvSpPr>
        <p:spPr>
          <a:xfrm>
            <a:off x="8156448" y="604418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11896" y="598017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網路搜尋易過早停在新聞層級，需設定強制補充高可信度來源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前台 · 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財報追蹤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（earnings-reviewer）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證券研究部（賣方／買方）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財報季要同時追很多檔股票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證券分析師、研究員、研究部主管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C18E2E"/>
                </a:solidFill>
                <a:latin typeface="Microsoft JhengHei"/>
                <a:ea typeface="Microsoft JhengHei"/>
              </a:rPr>
              <a:t>中風險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財報追蹤助理：公司發財報後解讀法說會、更新追蹤中的模型，產出財報後觀點筆記。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取得財報數字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拿到實際業績、市場原本預期與完整法說會內容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85744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404616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40461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377184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解讀法說會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587496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抓出公司展望、管理層口風與被迴避的問題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19728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038600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03860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011168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更新模型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221480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把新數字更新進追蹤這家公司的試算表模型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53712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467258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67258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464515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檢查模型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4855464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複查沒算錯、公式沒斷、沒硬填數字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187696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2648" y="5306568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53065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5279136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草擬觀點筆記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5489448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寫財報後觀點筆記，說明與預期差在哪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821680"/>
            <a:ext cx="3575304" cy="52425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2648" y="594055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594055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" y="591312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送交審閱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" y="6123432"/>
            <a:ext cx="2971800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模型與筆記以草稿交出，不直接對外發布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股票代號、報告期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6824" y="2962656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53128" y="3044951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 FactSet／Daloopa 取得實際業績、市場共識與申報，載入完整法說會逐字稿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8" y="345185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財報數字與逐字稿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6824" y="3835907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3128" y="3918203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解讀法說會，抓展望、管理層語氣與被迴避問題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53128" y="43251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法說會解讀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06824" y="4709159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53128" y="4791455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把新數字更新進追蹤中的模型，每格可回溯來源並做品質檢查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53128" y="519836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更新後模型（草稿）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06824" y="5582412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53128" y="5664707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產差異表（實際 vs 共識 vs 前估）與觀點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財報後觀點筆記（草稿）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63" name="Oval 62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每個數字都要有出處，查不到就標未證實</a:t>
            </a:r>
          </a:p>
        </p:txBody>
      </p:sp>
      <p:sp>
        <p:nvSpPr>
          <p:cNvPr id="65" name="Oval 64"/>
          <p:cNvSpPr/>
          <p:nvPr/>
        </p:nvSpPr>
        <p:spPr>
          <a:xfrm>
            <a:off x="8156448" y="316382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11896" y="309981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模型每格改動可回溯來源、跑平衡驗算、不硬填數字</a:t>
            </a:r>
          </a:p>
        </p:txBody>
      </p:sp>
      <p:sp>
        <p:nvSpPr>
          <p:cNvPr id="67" name="Oval 66"/>
          <p:cNvSpPr/>
          <p:nvPr/>
        </p:nvSpPr>
        <p:spPr>
          <a:xfrm>
            <a:off x="8156448" y="35204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11896" y="34564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僅以草稿交付、永不對外發布，資深分析師簽核才發布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3886200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70" name="Oval 69"/>
          <p:cNvSpPr/>
          <p:nvPr/>
        </p:nvSpPr>
        <p:spPr>
          <a:xfrm>
            <a:off x="8156448" y="42062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11896" y="41422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FactSet、Daloopa（公開財務資料供應商，已內建串接）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572000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73" name="Oval 72"/>
          <p:cNvSpPr/>
          <p:nvPr/>
        </p:nvSpPr>
        <p:spPr>
          <a:xfrm>
            <a:off x="8156448" y="48920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11896" y="48280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向供應商購買訂閱並取得授權金鑰</a:t>
            </a:r>
          </a:p>
        </p:txBody>
      </p:sp>
      <p:sp>
        <p:nvSpPr>
          <p:cNvPr id="75" name="Oval 74"/>
          <p:cNvSpPr/>
          <p:nvPr/>
        </p:nvSpPr>
        <p:spPr>
          <a:xfrm>
            <a:off x="8156448" y="510235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11896" y="503834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對齊公司「持續追蹤標的」的模型格式與研究筆記範本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前台 · 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估值建模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（model-builder）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投資銀行部／研究部／私募股權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要一份全新、乾淨的估值模型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財務分析師、研究員、投資經理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C18E2E"/>
                </a:solidFill>
                <a:latin typeface="Microsoft JhengHei"/>
                <a:ea typeface="Microsoft JhengHei"/>
              </a:rPr>
              <a:t>中風險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估值建模助理：針對一家公司從零建立估值模型（現金流折現／槓桿收購／三大報表等），產出可供決策的試算表。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準備資料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取得歷史財務、市場預期與公開申報資料當基礎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12540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53141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3141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50398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建立模型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714292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依需求建出對應的估值模型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73321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292193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29219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264761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檢查模型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475073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複查算得對、公式沒問題，結果可追回輸入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34102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505297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05297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02554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做敏感度分析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235854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試算不同假設下結果怎麼變、對哪些變數最敏感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94883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2648" y="5813755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581375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5786323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交付審閱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5996635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模型建好先停，使用者確認過才往後使用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股票代號、模型類型、假設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2962656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3128" y="3044951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 CapitalIQ／Daloopa，拉歷史財務、市場預期與申報文件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3128" y="345185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建模輸入資料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06824" y="3835907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128" y="3918203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依類型建模（現金流折現／槓桿收購／三表／同業比較），計算格用公式不寫死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8" y="43251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估值模型（試算表）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06824" y="4709159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53128" y="4791455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自動稽核跑平衡檢查、確認可追溯回輸入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53128" y="519836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稽核通過的模型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06824" y="5582412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53128" y="5664707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建標準敏感度表（如折現的資金成本／成長率、槓桿收購的報酬率）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敏感度分析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58" name="Oval 57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每個結果都是公式、計算格不寫死；假設標註並附來源</a:t>
            </a:r>
          </a:p>
        </p:txBody>
      </p:sp>
      <p:sp>
        <p:nvSpPr>
          <p:cNvPr id="60" name="Oval 59"/>
          <p:cNvSpPr/>
          <p:nvPr/>
        </p:nvSpPr>
        <p:spPr>
          <a:xfrm>
            <a:off x="8156448" y="331012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11896" y="324612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由獨立稽核跑平衡檢查、確認結果可追溯回輸入</a:t>
            </a:r>
          </a:p>
        </p:txBody>
      </p:sp>
      <p:sp>
        <p:nvSpPr>
          <p:cNvPr id="62" name="Oval 61"/>
          <p:cNvSpPr/>
          <p:nvPr/>
        </p:nvSpPr>
        <p:spPr>
          <a:xfrm>
            <a:off x="8156448" y="366674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1896" y="360273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建完即停，使用者核准才往下游使用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3886200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65" name="Oval 64"/>
          <p:cNvSpPr/>
          <p:nvPr/>
        </p:nvSpPr>
        <p:spPr>
          <a:xfrm>
            <a:off x="8156448" y="42062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11896" y="41422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CapitalIQ（可改用 S&amp;P 已串接來源）</a:t>
            </a:r>
          </a:p>
        </p:txBody>
      </p:sp>
      <p:sp>
        <p:nvSpPr>
          <p:cNvPr id="67" name="Oval 66"/>
          <p:cNvSpPr/>
          <p:nvPr/>
        </p:nvSpPr>
        <p:spPr>
          <a:xfrm>
            <a:off x="8156448" y="4562856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11896" y="4498848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Daloopa（公開財務資料供應商）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478231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70" name="Oval 69"/>
          <p:cNvSpPr/>
          <p:nvPr/>
        </p:nvSpPr>
        <p:spPr>
          <a:xfrm>
            <a:off x="8156448" y="510235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11896" y="503834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訂閱外部資料源並取得授權金鑰</a:t>
            </a:r>
          </a:p>
        </p:txBody>
      </p:sp>
      <p:sp>
        <p:nvSpPr>
          <p:cNvPr id="72" name="Oval 71"/>
          <p:cNvSpPr/>
          <p:nvPr/>
        </p:nvSpPr>
        <p:spPr>
          <a:xfrm>
            <a:off x="8156448" y="531266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11896" y="524865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客製建模慣例（加權平均資金成本組成、色碼、計算慣例）與各模型範本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中台 · 開戶審查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開戶審查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（kyc-screener）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法令遵循部／防制洗錢專責單位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新客戶開戶或定期複審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防制洗錢專責人員、開戶徵信人員、法遵人員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開戶審查助理：解析開戶文件、套用反洗錢規則並比對黑名單，產出給合規人員的盡職調查報告。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讀開戶文件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讀出公司名稱、實際出資人、地址、證件號等基本資料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19856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538727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3872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511296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逐條套規則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721607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對照開戶與反洗錢規則，標出通過／不通過並附證據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87952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30682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30682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27939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比對黑名單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489704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對每位相關人查制裁、政治公眾人物與負面新聞是否命中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56048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5074920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07492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047488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整理待簽報告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257800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把缺漏與命中整理成報告，送合規人員簽核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開戶文件包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6824" y="2962656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3044951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由唯讀子代理隔離抽取欄位（公司名、實際出資人、地址、證件號），留空不猜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345185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結構化客戶資料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3835907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53128" y="3918203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以規則引擎逐條套反洗錢規則並評分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3128" y="43251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每條規則通過／不通過與證據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06824" y="4709159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3128" y="4791455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接篩查資料源，比對制裁名單、政治公眾人物、負面新聞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53128" y="519836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名單命中與信心度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06824" y="5582412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5664707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由唯一可寫角色打包報告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盡職調查報告（待合規簽核）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53" name="Oval 52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不可信文件先隔離抽取、嚴格限定格式，擋在流程外</a:t>
            </a:r>
          </a:p>
        </p:txBody>
      </p:sp>
      <p:sp>
        <p:nvSpPr>
          <p:cNvPr id="55" name="Oval 54"/>
          <p:cNvSpPr/>
          <p:nvPr/>
        </p:nvSpPr>
        <p:spPr>
          <a:xfrm>
            <a:off x="8156448" y="331012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11896" y="324612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查不到就留空、不捏造；主代理永不寫檔，僅合規人員可核准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3675888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58" name="Oval 57"/>
          <p:cNvSpPr/>
          <p:nvPr/>
        </p:nvSpPr>
        <p:spPr>
          <a:xfrm>
            <a:off x="8156448" y="399592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1896" y="393192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名單篩查資料源（制裁／政治公眾人物／負面新聞，唯讀）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4361688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61" name="Oval 60"/>
          <p:cNvSpPr/>
          <p:nvPr/>
        </p:nvSpPr>
        <p:spPr>
          <a:xfrm>
            <a:off x="8156448" y="468172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11896" y="461772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串接公司名單篩查服務</a:t>
            </a:r>
          </a:p>
        </p:txBody>
      </p:sp>
      <p:sp>
        <p:nvSpPr>
          <p:cNvPr id="63" name="Oval 62"/>
          <p:cNvSpPr/>
          <p:nvPr/>
        </p:nvSpPr>
        <p:spPr>
          <a:xfrm>
            <a:off x="8156448" y="48920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1896" y="48280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客製公司開戶與反洗錢規則、風險評分門檻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後台 · 基金行政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總帳對帳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（gl-reconciler）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基金行政／後台作業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每天／月底要對帳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基金會計、結算交割人員、會計主管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總帳對帳助理：比對總帳與子帳找出差異並追根因，產出給控制員的例外報告。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拉出兩邊的帳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把總帳與子帳在指定日期、資產上的餘額拉出來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12540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53141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3141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50398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比對找差異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714292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逐類比對，挑出超過容許範圍的差異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73321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292193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29219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264761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追查原因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475073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一筆筆往下追：時間差、系統落差還是分類錯誤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34102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505297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05297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02554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獨立複查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235854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由獨立角色拿可信來源重查，濾掉假差異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94883"/>
            <a:ext cx="3575304" cy="6510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2648" y="5813755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581375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" y="5786323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產出例外報告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" y="5996635"/>
            <a:ext cx="2971800" cy="376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整理成可供控制員簽核的例外清單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總帳、子帳（指定交易日）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2962656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3128" y="3044951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接公司內部總帳與子帳系統（皆唯讀），拉兩邊餘額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3128" y="345185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對帳基準資料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06824" y="3835907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128" y="3918203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每個資產類別並行比對，挑出超過容差的差異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8" y="43251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差異清單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06824" y="4709159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53128" y="4791455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逐筆追根因並分類（時間差／系統落差／重分類／不明）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53128" y="519836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差異根因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06824" y="5582412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53128" y="5664707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獨立角色對抗式重查、濾掉假差異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例外報告（待控制員簽核）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58" name="Oval 57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對帳單一律當不可信、先隔離讀取</a:t>
            </a:r>
          </a:p>
        </p:txBody>
      </p:sp>
      <p:sp>
        <p:nvSpPr>
          <p:cNvPr id="60" name="Oval 59"/>
          <p:cNvSpPr/>
          <p:nvPr/>
        </p:nvSpPr>
        <p:spPr>
          <a:xfrm>
            <a:off x="8156448" y="316382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11896" y="309981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由獨立角色對抗式重查，濾掉誤報、只送真差異</a:t>
            </a:r>
          </a:p>
        </p:txBody>
      </p:sp>
      <p:sp>
        <p:nvSpPr>
          <p:cNvPr id="62" name="Oval 61"/>
          <p:cNvSpPr/>
          <p:nvPr/>
        </p:nvSpPr>
        <p:spPr>
          <a:xfrm>
            <a:off x="8156448" y="35204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1896" y="34564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對不上就如實攤開、不硬湊；助理永不過帳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3886200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65" name="Oval 64"/>
          <p:cNvSpPr/>
          <p:nvPr/>
        </p:nvSpPr>
        <p:spPr>
          <a:xfrm>
            <a:off x="8156448" y="42062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11896" y="41422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公司內部總帳系統、子帳明細系統（皆唯讀）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4572000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68" name="Oval 67"/>
          <p:cNvSpPr/>
          <p:nvPr/>
        </p:nvSpPr>
        <p:spPr>
          <a:xfrm>
            <a:off x="8156448" y="48920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11896" y="48280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串接公司內部總帳與子帳系統</a:t>
            </a:r>
          </a:p>
        </p:txBody>
      </p:sp>
      <p:sp>
        <p:nvSpPr>
          <p:cNvPr id="70" name="Oval 69"/>
          <p:cNvSpPr/>
          <p:nvPr/>
        </p:nvSpPr>
        <p:spPr>
          <a:xfrm>
            <a:off x="8156448" y="510235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11896" y="503834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設定容差門檻、科目對應表與追根因規則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後台 · 基金行政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月底結帳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（month-end-closer）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基金行政／財務會計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每月底結帳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基金會計、會計主管、財務長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月結作業助理：計算應計與結轉、說明科目差異，產出給控制員的月結包。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拉出試算表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依指定公司與月份調出該月全科目餘額，當結帳起點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19856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538727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3872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511296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算應計與結轉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721607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估列應計、推算結轉，並驗算期初＋變動＝期末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87952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30682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30682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27939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說明差異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489704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對變動較大科目從實際活動解釋原因，不硬湊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56048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5074920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07492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047488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組裝結帳包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257800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檢查無誤後整理成結帳包，暫存等主管簽核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實體、期間（年-月）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6824" y="2962656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3044951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接公司內部總帳（唯讀），抓該期間全科目餘額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345185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試算表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3835907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53128" y="3918203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估列應計、推算結轉，內建驗算「期初＋變動－沖回＝期末」必須對得上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3128" y="43251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應計與結轉表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06824" y="4709159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3128" y="4791455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對重大科目做差異說明，原因不明就標示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53128" y="519836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差異說明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06824" y="5582412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5664707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由唯一可寫角色組裝結帳包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月結包（待控制員簽核）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53" name="Oval 52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自我驗算內建在「結轉必須對得上」的檢查裡</a:t>
            </a:r>
          </a:p>
        </p:txBody>
      </p:sp>
      <p:sp>
        <p:nvSpPr>
          <p:cNvPr id="55" name="Oval 54"/>
          <p:cNvSpPr/>
          <p:nvPr/>
        </p:nvSpPr>
        <p:spPr>
          <a:xfrm>
            <a:off x="8156448" y="331012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11896" y="324612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對不上就攤開、原因不明就標示、不瞎掰；助理永不過帳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3675888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58" name="Oval 57"/>
          <p:cNvSpPr/>
          <p:nvPr/>
        </p:nvSpPr>
        <p:spPr>
          <a:xfrm>
            <a:off x="8156448" y="3995928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1896" y="3931920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公司內部總帳系統（唯讀）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4215384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61" name="Oval 60"/>
          <p:cNvSpPr/>
          <p:nvPr/>
        </p:nvSpPr>
        <p:spPr>
          <a:xfrm>
            <a:off x="8156448" y="453542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11896" y="447141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串接公司內部總帳系統</a:t>
            </a:r>
          </a:p>
        </p:txBody>
      </p:sp>
      <p:sp>
        <p:nvSpPr>
          <p:cNvPr id="63" name="Oval 62"/>
          <p:cNvSpPr/>
          <p:nvPr/>
        </p:nvSpPr>
        <p:spPr>
          <a:xfrm>
            <a:off x="8156448" y="4745736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1896" y="4681728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設定重大性門檻與應計、結轉慣例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後台 · 基金行政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估值複核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（valuation-reviewer）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基金行政／財務會計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季末估值與收益分配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基金會計主管、投資人關係（IR）、法遵長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投組估值複核助理：季末複核投資標的估值並計算收益分配，產出給出資人的報告包。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讀估值資料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從各被投資公司估值報告讀出回報的估值數字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19856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538727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3872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511296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複核估值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721607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拿數字對照公司估值政策，檢查合不合理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87952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30682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30682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27939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計算收益分配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489704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算基金淨值、績效分成與每位出資人分得多少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56048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" y="5074920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07492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" y="5047488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備妥出資人報告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5257800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整理成出資人報告包，待投資人關係＋法遵長簽核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基金、評估基準日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6824" y="2962656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3044951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由隔離子代理（只讀、無外部串接），解析各被投資公司估值輸入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3451859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回報估值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3835907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53128" y="3918203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接公司投組資料源（唯讀），把回報估值對照估值政策複核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3128" y="4325112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估值複核結果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06824" y="4709159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3128" y="4791455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計算基金淨值、績效分成與各出資人分配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53128" y="5198364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收益分配（依約定順序）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06824" y="5582412"/>
            <a:ext cx="3575304" cy="7818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5664707"/>
            <a:ext cx="3300984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由唯一可寫角色備妥報告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607161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出資人報告包（待投資人關係＋法遵長簽核）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53" name="Oval 52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外部估值包視為不可信、先隔離讀取</a:t>
            </a:r>
          </a:p>
        </p:txBody>
      </p:sp>
      <p:sp>
        <p:nvSpPr>
          <p:cNvPr id="55" name="Oval 54"/>
          <p:cNvSpPr/>
          <p:nvPr/>
        </p:nvSpPr>
        <p:spPr>
          <a:xfrm>
            <a:off x="8156448" y="316382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11896" y="309981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回報估值一律對照公司估值政策複核，不照單全收</a:t>
            </a:r>
          </a:p>
        </p:txBody>
      </p:sp>
      <p:sp>
        <p:nvSpPr>
          <p:cNvPr id="57" name="Oval 56"/>
          <p:cNvSpPr/>
          <p:nvPr/>
        </p:nvSpPr>
        <p:spPr>
          <a:xfrm>
            <a:off x="8156448" y="3520440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11896" y="3456432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報告需投資人關係＋法遵長簽核後才分送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3739896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60" name="Oval 59"/>
          <p:cNvSpPr/>
          <p:nvPr/>
        </p:nvSpPr>
        <p:spPr>
          <a:xfrm>
            <a:off x="8156448" y="4059936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11896" y="3995928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公司投組資料來源（唯讀）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427939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63" name="Oval 62"/>
          <p:cNvSpPr/>
          <p:nvPr/>
        </p:nvSpPr>
        <p:spPr>
          <a:xfrm>
            <a:off x="8156448" y="459943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1896" y="45354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串接公司投組系統</a:t>
            </a:r>
          </a:p>
        </p:txBody>
      </p:sp>
      <p:sp>
        <p:nvSpPr>
          <p:cNvPr id="65" name="Oval 64"/>
          <p:cNvSpPr/>
          <p:nvPr/>
        </p:nvSpPr>
        <p:spPr>
          <a:xfrm>
            <a:off x="8156448" y="480974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11896" y="474573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設定估值政策、收益分配條款與績效分成規則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26464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426464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5842B"/>
                </a:solidFill>
                <a:latin typeface="Microsoft JhengHei"/>
                <a:ea typeface="Microsoft JhengHei"/>
              </a:rPr>
              <a:t>後台 · 基金行政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8961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對帳單稽核 Agent</a:t>
            </a: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  （statement-auditor）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適合部門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基金行政／後台作業</a:t>
            </a:r>
            <a:r>
              <a:rPr sz="1000" b="1" i="0">
                <a:solidFill>
                  <a:srgbClr val="9FB0C2"/>
                </a:solidFill>
                <a:latin typeface="Microsoft JhengHei"/>
                <a:ea typeface="Microsoft JhengHei"/>
              </a:rPr>
              <a:t>　·　何時用：</a:t>
            </a:r>
            <a:r>
              <a:rPr sz="1000" b="0" i="0">
                <a:solidFill>
                  <a:srgbClr val="C6D2DE"/>
                </a:solidFill>
                <a:latin typeface="Microsoft JhengHei"/>
                <a:ea typeface="Microsoft JhengHei"/>
              </a:rPr>
              <a:t>對帳單分送前的最後把關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適合角色　</a:t>
            </a: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基金會計、內部稽核、投資人關係（IR）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4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250" b="1">
                <a:solidFill>
                  <a:srgbClr val="B05247"/>
                </a:solidFill>
                <a:latin typeface="Microsoft JhengHei"/>
                <a:ea typeface="Microsoft JhengHei"/>
              </a:rPr>
              <a:t>高風險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36192"/>
            <a:ext cx="11183112" cy="548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5842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53619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E2A36"/>
                </a:solidFill>
                <a:latin typeface="Microsoft JhengHei"/>
                <a:ea typeface="Microsoft JhengHei"/>
              </a:rPr>
              <a:t>對帳單稽核助理：出資人對帳單寄出前逐欄核對基金淨值，產出例外清單與放行建議。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運作流程總覽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" y="2770632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4320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讀對帳單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2953512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把每位出資人對帳單上回報的餘額讀出來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19856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538727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3872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511296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逐欄核對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721607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拿每個欄位跟基金的官方淨值資料一一比對（最核心的工作）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87952"/>
            <a:ext cx="3575304" cy="6583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" y="4306824"/>
            <a:ext cx="292608" cy="292608"/>
          </a:xfrm>
          <a:prstGeom prst="ellipse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30682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4279392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A36"/>
                </a:solidFill>
                <a:latin typeface="Microsoft JhengHei"/>
                <a:ea typeface="Microsoft JhengHei"/>
              </a:rPr>
              <a:t>標出差異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4489704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Microsoft JhengHei"/>
                <a:ea typeface="Microsoft JhengHei"/>
              </a:rPr>
              <a:t>把對不上的地方整理成例外清單，給可放行／需再查建議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6824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細節 &amp; 對應產出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2615184"/>
            <a:ext cx="3483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5842B"/>
                </a:solidFill>
                <a:latin typeface="Microsoft JhengHei"/>
                <a:ea typeface="Microsoft JhengHei"/>
              </a:rPr>
              <a:t>輸入：</a:t>
            </a:r>
            <a:r>
              <a:rPr sz="1000" b="0" i="0">
                <a:solidFill>
                  <a:srgbClr val="1E2A36"/>
                </a:solidFill>
                <a:latin typeface="Microsoft JhengHei"/>
                <a:ea typeface="Microsoft JhengHei"/>
              </a:rPr>
              <a:t>對帳單批次、基金淨值資料包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6824" y="2962656"/>
            <a:ext cx="3575304" cy="841248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3128" y="3044951"/>
            <a:ext cx="33009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由隔離子代理（只讀、無外部串接），讀出各出資人回報餘額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3511296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對帳單資料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06824" y="3895344"/>
            <a:ext cx="3575304" cy="841248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128" y="3977639"/>
            <a:ext cx="33009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接公司基金淨值來源（唯讀），逐欄比對，比對本身即驗證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128" y="4443983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逐欄核對結果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06824" y="4828031"/>
            <a:ext cx="3575304" cy="841248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762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8" y="4910327"/>
            <a:ext cx="33009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7088"/>
                </a:solidFill>
                <a:latin typeface="Microsoft JhengHei"/>
                <a:ea typeface="Microsoft JhengHei"/>
              </a:rPr>
              <a:t>流程　</a:t>
            </a:r>
            <a:r>
              <a:rPr sz="950" b="0" i="0">
                <a:solidFill>
                  <a:srgbClr val="1E2A36"/>
                </a:solidFill>
                <a:latin typeface="Microsoft JhengHei"/>
                <a:ea typeface="Microsoft JhengHei"/>
              </a:rPr>
              <a:t>由唯一可寫角色整理對不上欄位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8" y="5376671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B5842B"/>
                </a:solidFill>
                <a:latin typeface="Microsoft JhengHei"/>
                <a:ea typeface="Microsoft JhengHei"/>
              </a:rPr>
              <a:t>產出 → </a:t>
            </a:r>
            <a:r>
              <a:rPr sz="950" b="1" i="0">
                <a:solidFill>
                  <a:srgbClr val="16314B"/>
                </a:solidFill>
                <a:latin typeface="Microsoft JhengHei"/>
                <a:ea typeface="Microsoft JhengHei"/>
              </a:rPr>
              <a:t>例外清單與過／留建議（待投資人關係簽核）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10728" y="2194560"/>
            <a:ext cx="3575304" cy="329184"/>
          </a:xfrm>
          <a:prstGeom prst="roundRect">
            <a:avLst>
              <a:gd name="adj" fmla="val 10000"/>
            </a:avLst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0728" y="2194560"/>
            <a:ext cx="3575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</a:rPr>
              <a:t>調整與注意事項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263347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資料如何驗證</a:t>
            </a:r>
          </a:p>
        </p:txBody>
      </p:sp>
      <p:sp>
        <p:nvSpPr>
          <p:cNvPr id="45" name="Oval 44"/>
          <p:cNvSpPr/>
          <p:nvPr/>
        </p:nvSpPr>
        <p:spPr>
          <a:xfrm>
            <a:off x="8156448" y="295351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11896" y="288950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對帳單視為不可信外來資料、先隔離讀取</a:t>
            </a:r>
          </a:p>
        </p:txBody>
      </p:sp>
      <p:sp>
        <p:nvSpPr>
          <p:cNvPr id="47" name="Oval 46"/>
          <p:cNvSpPr/>
          <p:nvPr/>
        </p:nvSpPr>
        <p:spPr>
          <a:xfrm>
            <a:off x="8156448" y="316382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11896" y="309981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逐欄核對的動作本身即為驗證</a:t>
            </a:r>
          </a:p>
        </p:txBody>
      </p:sp>
      <p:sp>
        <p:nvSpPr>
          <p:cNvPr id="49" name="Oval 48"/>
          <p:cNvSpPr/>
          <p:nvPr/>
        </p:nvSpPr>
        <p:spPr>
          <a:xfrm>
            <a:off x="8156448" y="3374136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1896" y="3310128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助理不自行分送，投資人關係簽核後才寄出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739896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用到哪些資料源</a:t>
            </a:r>
          </a:p>
        </p:txBody>
      </p:sp>
      <p:sp>
        <p:nvSpPr>
          <p:cNvPr id="52" name="Oval 51"/>
          <p:cNvSpPr/>
          <p:nvPr/>
        </p:nvSpPr>
        <p:spPr>
          <a:xfrm>
            <a:off x="8156448" y="4059936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1896" y="3995928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公司基金淨值來源（唯讀）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279392"/>
            <a:ext cx="3483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5842B"/>
                </a:solidFill>
                <a:latin typeface="Microsoft JhengHei"/>
                <a:ea typeface="Microsoft JhengHei"/>
              </a:rPr>
              <a:t>上線前須補齊</a:t>
            </a:r>
          </a:p>
        </p:txBody>
      </p:sp>
      <p:sp>
        <p:nvSpPr>
          <p:cNvPr id="55" name="Oval 54"/>
          <p:cNvSpPr/>
          <p:nvPr/>
        </p:nvSpPr>
        <p:spPr>
          <a:xfrm>
            <a:off x="8156448" y="4599432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11896" y="45354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串接公司基金淨值來源</a:t>
            </a:r>
          </a:p>
        </p:txBody>
      </p:sp>
      <p:sp>
        <p:nvSpPr>
          <p:cNvPr id="57" name="Oval 56"/>
          <p:cNvSpPr/>
          <p:nvPr/>
        </p:nvSpPr>
        <p:spPr>
          <a:xfrm>
            <a:off x="8156448" y="4809744"/>
            <a:ext cx="73152" cy="73152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11896" y="4745736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1E2A36"/>
                </a:solidFill>
                <a:latin typeface="Microsoft JhengHei"/>
                <a:ea typeface="Microsoft JhengHei"/>
              </a:rPr>
              <a:t>設定核對欄位對應與差異判定規則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Microsoft JhengHei"/>
                <a:ea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5842B"/>
                </a:solidFill>
                <a:latin typeface="Microsoft JhengHei"/>
                <a:ea typeface="Microsoft JhengHei"/>
              </a:rPr>
              <a:t>結語 · 設計理念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Microsoft JhengHei"/>
                <a:ea typeface="Microsoft JhengHei"/>
              </a:rPr>
              <a:t>十個 Agent，覆蓋一家金融公司的完整生命週期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6D2DE"/>
                </a:solidFill>
                <a:latin typeface="Microsoft JhengHei"/>
                <a:ea typeface="Microsoft JhengHei"/>
              </a:rPr>
              <a:t>從「贏得業務 → 開戶 → 基金營運 → 對出資人交代」，一套設定、兩種用法，把關程度依風險高低調整。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394960" cy="1325880"/>
          </a:xfrm>
          <a:prstGeom prst="roundRect">
            <a:avLst>
              <a:gd name="adj" fmla="val 4000"/>
            </a:avLst>
          </a:prstGeom>
          <a:solidFill>
            <a:srgbClr val="1C3A57"/>
          </a:solidFill>
          <a:ln w="12700">
            <a:solidFill>
              <a:srgbClr val="33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91440" cy="132588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原則一　風險越高，隔離越嚴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6D2DE"/>
                </a:solidFill>
                <a:latin typeface="Microsoft JhengHei"/>
                <a:ea typeface="Microsoft JhengHei"/>
              </a:rPr>
              <a:t>前台／研究放寬，主代理可直接寫入檔案；後台／合規嚴格，主代理一律不寫檔。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14600"/>
            <a:ext cx="5394960" cy="1325880"/>
          </a:xfrm>
          <a:prstGeom prst="roundRect">
            <a:avLst>
              <a:gd name="adj" fmla="val 4000"/>
            </a:avLst>
          </a:prstGeom>
          <a:solidFill>
            <a:srgbClr val="1C3A57"/>
          </a:solidFill>
          <a:ln w="12700">
            <a:solidFill>
              <a:srgbClr val="33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514600"/>
            <a:ext cx="91440" cy="1325880"/>
          </a:xfrm>
          <a:prstGeom prst="rect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原則二　人，永遠是最後一關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6D2DE"/>
                </a:solidFill>
                <a:latin typeface="Microsoft JhengHei"/>
                <a:ea typeface="Microsoft JhengHei"/>
              </a:rPr>
              <a:t>所有 Agent 只起草／建議，從不自決 —— 開戶、過帳、發布、分送皆由人簽核。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10972800" cy="1554480"/>
          </a:xfrm>
          <a:prstGeom prst="roundRect">
            <a:avLst>
              <a:gd name="adj" fmla="val 3000"/>
            </a:avLst>
          </a:prstGeom>
          <a:solidFill>
            <a:srgbClr val="122A40"/>
          </a:solidFill>
          <a:ln w="15875">
            <a:solidFill>
              <a:srgbClr val="B5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842B"/>
                </a:solidFill>
                <a:latin typeface="Microsoft JhengHei"/>
                <a:ea typeface="Microsoft JhengHei"/>
              </a:rPr>
              <a:t>建議的下一步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09160"/>
            <a:ext cx="91440" cy="91440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6451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icrosoft JhengHei"/>
                <a:ea typeface="Microsoft JhengHei"/>
              </a:rPr>
              <a:t>先以前台研究四支做小範圍試跑，用公司真實主題驗證價值（最快見效）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047488"/>
            <a:ext cx="91440" cy="91440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983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icrosoft JhengHei"/>
                <a:ea typeface="Microsoft JhengHei"/>
              </a:rPr>
              <a:t>同步盤點中後台要對接的內部系統與法遵流程，規劃第三批導入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85816"/>
            <a:ext cx="91440" cy="91440"/>
          </a:xfrm>
          <a:prstGeom prst="ellipse">
            <a:avLst/>
          </a:prstGeom>
          <a:solidFill>
            <a:srgbClr val="B5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3218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Microsoft JhengHei"/>
                <a:ea typeface="Microsoft JhengHei"/>
              </a:rPr>
              <a:t>與 Anthropic 確認商業合作範圍、支援與導入時程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FB0C2"/>
                </a:solidFill>
                <a:latin typeface="Microsoft JhengHei"/>
                <a:ea typeface="Microsoft JhengHei"/>
              </a:rPr>
              <a:t>每個 Agent 的完整工作流程、風險把關、技術架構與上線清單，另見隨附文件。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