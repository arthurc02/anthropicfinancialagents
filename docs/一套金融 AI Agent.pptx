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D4E0"/>
                </a:solidFill>
                <a:latin typeface="Microsoft JhengHei"/>
                <a:ea typeface="Microsoft JhengHei"/>
              </a:rPr>
              <a:t>ANTHROPIC FINANCIAL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74519"/>
            <a:ext cx="106070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Microsoft JhengHei"/>
                <a:ea typeface="Microsoft JhengHei"/>
              </a:rPr>
              <a:t>十個 AI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D7DFE8"/>
                </a:solidFill>
                <a:latin typeface="Microsoft JhengHei"/>
                <a:ea typeface="Microsoft JhengHei"/>
              </a:rPr>
              <a:t>覆蓋金融營運的完整生命週期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794760"/>
            <a:ext cx="5120640" cy="27432"/>
          </a:xfrm>
          <a:prstGeom prst="rect">
            <a:avLst/>
          </a:prstGeom>
          <a:solidFill>
            <a:srgbClr val="3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9D4E0"/>
                </a:solidFill>
                <a:latin typeface="Microsoft JhengHei"/>
                <a:ea typeface="Microsoft JhengHei"/>
              </a:rPr>
              <a:t>從「贏得業務 → 開戶 → 基金營運 → 對出資人交代」，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9D4E0"/>
                </a:solidFill>
                <a:latin typeface="Microsoft JhengHei"/>
                <a:ea typeface="Microsoft JhengHei"/>
              </a:rPr>
              <a:t>一套設定、兩種用法，人永遠掌握最後決定權。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FB0C2"/>
                </a:solidFill>
                <a:latin typeface="Microsoft JhengHei"/>
                <a:ea typeface="Microsoft JhengHei"/>
              </a:rPr>
              <a:t>經營層提案簡報</a:t>
            </a:r>
            <a:r>
              <a:rPr sz="1200" b="0" i="0">
                <a:solidFill>
                  <a:srgbClr val="7F92A8"/>
                </a:solidFill>
                <a:latin typeface="Microsoft JhengHei"/>
                <a:ea typeface="Microsoft JhengHei"/>
              </a:rPr>
              <a:t>　·　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結論先行 · 看完只需記住這一張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6314B"/>
                </a:solidFill>
                <a:latin typeface="Microsoft JhengHei"/>
                <a:ea typeface="Microsoft JhengHei"/>
              </a:rPr>
              <a:t>十個 Agent，串起一家金融公司的完整營運生命週期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615184" cy="33832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615184" cy="566928"/>
          </a:xfrm>
          <a:prstGeom prst="roundRect">
            <a:avLst>
              <a:gd name="adj" fmla="val 6000"/>
            </a:avLst>
          </a:prstGeom>
          <a:solidFill>
            <a:srgbClr val="425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066543"/>
            <a:ext cx="2615184" cy="283464"/>
          </a:xfrm>
          <a:prstGeom prst="rect">
            <a:avLst/>
          </a:prstGeom>
          <a:solidFill>
            <a:srgbClr val="425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22494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Microsoft JhengHei"/>
                <a:ea typeface="Microsoft JhengHei"/>
              </a:rPr>
              <a:t>STEP 1</a:t>
            </a:r>
            <a:r>
              <a:rPr sz="1000" b="0" i="0">
                <a:solidFill>
                  <a:srgbClr val="DDE4EC"/>
                </a:solidFill>
                <a:latin typeface="Microsoft JhengHei"/>
                <a:ea typeface="Microsoft JhengHei"/>
              </a:rPr>
              <a:t>  ·  前台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5740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Microsoft JhengHei"/>
                <a:ea typeface="Microsoft JhengHei"/>
              </a:rPr>
              <a:t>贏得業務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256032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256032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會前準備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3063239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3063239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市場研究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" y="356616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356616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財報追蹤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" y="406908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" y="406908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估值建模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59" y="457200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457200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投行提案</a:t>
            </a:r>
          </a:p>
        </p:txBody>
      </p:sp>
      <p:sp>
        <p:nvSpPr>
          <p:cNvPr id="20" name="Chevron 19"/>
          <p:cNvSpPr/>
          <p:nvPr/>
        </p:nvSpPr>
        <p:spPr>
          <a:xfrm>
            <a:off x="3227832" y="3355848"/>
            <a:ext cx="283464" cy="237744"/>
          </a:xfrm>
          <a:prstGeom prst="chevron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83863" y="1783080"/>
            <a:ext cx="2615184" cy="33832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483863" y="1783080"/>
            <a:ext cx="2615184" cy="566928"/>
          </a:xfrm>
          <a:prstGeom prst="roundRect">
            <a:avLst>
              <a:gd name="adj" fmla="val 6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83863" y="2066543"/>
            <a:ext cx="2615184" cy="283464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66744" y="1874519"/>
            <a:ext cx="22494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Microsoft JhengHei"/>
                <a:ea typeface="Microsoft JhengHei"/>
              </a:rPr>
              <a:t>STEP 2</a:t>
            </a:r>
            <a:r>
              <a:rPr sz="1000" b="0" i="0">
                <a:solidFill>
                  <a:srgbClr val="DDE4EC"/>
                </a:solidFill>
                <a:latin typeface="Microsoft JhengHei"/>
                <a:ea typeface="Microsoft JhengHei"/>
              </a:rPr>
              <a:t>  ·  中台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6744" y="205740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Microsoft JhengHei"/>
                <a:ea typeface="Microsoft JhengHei"/>
              </a:rPr>
              <a:t>開戶審查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66744" y="256032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66744" y="256032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開戶審查</a:t>
            </a:r>
          </a:p>
        </p:txBody>
      </p:sp>
      <p:sp>
        <p:nvSpPr>
          <p:cNvPr id="28" name="Chevron 27"/>
          <p:cNvSpPr/>
          <p:nvPr/>
        </p:nvSpPr>
        <p:spPr>
          <a:xfrm>
            <a:off x="6071616" y="3355848"/>
            <a:ext cx="283464" cy="237744"/>
          </a:xfrm>
          <a:prstGeom prst="chevron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327648" y="1783080"/>
            <a:ext cx="2615184" cy="33832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327648" y="1783080"/>
            <a:ext cx="2615184" cy="566928"/>
          </a:xfrm>
          <a:prstGeom prst="roundRect">
            <a:avLst>
              <a:gd name="adj" fmla="val 6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7648" y="2066543"/>
            <a:ext cx="2615184" cy="283464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0528" y="1874519"/>
            <a:ext cx="22494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Microsoft JhengHei"/>
                <a:ea typeface="Microsoft JhengHei"/>
              </a:rPr>
              <a:t>STEP 3</a:t>
            </a:r>
            <a:r>
              <a:rPr sz="1000" b="0" i="0">
                <a:solidFill>
                  <a:srgbClr val="DDE4EC"/>
                </a:solidFill>
                <a:latin typeface="Microsoft JhengHei"/>
                <a:ea typeface="Microsoft JhengHei"/>
              </a:rPr>
              <a:t>  ·  後台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205740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Microsoft JhengHei"/>
                <a:ea typeface="Microsoft JhengHei"/>
              </a:rPr>
              <a:t>基金日常營運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528" y="256032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256032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總帳對帳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10528" y="3063239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3063239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月底結帳</a:t>
            </a:r>
          </a:p>
        </p:txBody>
      </p:sp>
      <p:sp>
        <p:nvSpPr>
          <p:cNvPr id="38" name="Chevron 37"/>
          <p:cNvSpPr/>
          <p:nvPr/>
        </p:nvSpPr>
        <p:spPr>
          <a:xfrm>
            <a:off x="8915400" y="3355848"/>
            <a:ext cx="283464" cy="237744"/>
          </a:xfrm>
          <a:prstGeom prst="chevron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171432" y="1783080"/>
            <a:ext cx="2615184" cy="33832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171432" y="1783080"/>
            <a:ext cx="2615184" cy="566928"/>
          </a:xfrm>
          <a:prstGeom prst="roundRect">
            <a:avLst>
              <a:gd name="adj" fmla="val 6000"/>
            </a:avLst>
          </a:prstGeom>
          <a:solidFill>
            <a:srgbClr val="0F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71432" y="2066543"/>
            <a:ext cx="2615184" cy="283464"/>
          </a:xfrm>
          <a:prstGeom prst="rect">
            <a:avLst/>
          </a:prstGeom>
          <a:solidFill>
            <a:srgbClr val="0F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54311" y="1874519"/>
            <a:ext cx="224942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Microsoft JhengHei"/>
                <a:ea typeface="Microsoft JhengHei"/>
              </a:rPr>
              <a:t>STEP 4</a:t>
            </a:r>
            <a:r>
              <a:rPr sz="1000" b="0" i="0">
                <a:solidFill>
                  <a:srgbClr val="DDE4EC"/>
                </a:solidFill>
                <a:latin typeface="Microsoft JhengHei"/>
                <a:ea typeface="Microsoft JhengHei"/>
              </a:rPr>
              <a:t>  ·  後台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1" y="205740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Microsoft JhengHei"/>
                <a:ea typeface="Microsoft JhengHei"/>
              </a:rPr>
              <a:t>對出資人交代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54311" y="2560320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54311" y="2560320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估值複核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54311" y="3063239"/>
            <a:ext cx="2249424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54311" y="3063239"/>
            <a:ext cx="224942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對帳單稽核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314B"/>
                </a:solidFill>
                <a:latin typeface="Microsoft JhengHei"/>
                <a:ea typeface="Microsoft JhengHei"/>
              </a:rPr>
              <a:t>一條規律：</a:t>
            </a:r>
            <a:r>
              <a:rPr sz="1400" b="0" i="0">
                <a:solidFill>
                  <a:srgbClr val="1E2A36"/>
                </a:solidFill>
                <a:latin typeface="Microsoft JhengHei"/>
                <a:ea typeface="Microsoft JhengHei"/>
              </a:rPr>
              <a:t>越靠近「錢」與「法規」，風險越高、把關越嚴 — 前台研究放寬，中後台合規嚴格隔離。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E2A36"/>
                </a:solidFill>
                <a:latin typeface="Microsoft JhengHei"/>
                <a:ea typeface="Microsoft JhengHei"/>
              </a:rPr>
              <a:t>每個 Agent 都只負責「起草、建議」，</a:t>
            </a: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最後一定由人簽核</a:t>
            </a:r>
            <a:r>
              <a:rPr sz="1400" b="0" i="0">
                <a:solidFill>
                  <a:srgbClr val="1E2A36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商業價值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為什麼值得導入：對經營層的四個價值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54406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109728" cy="20574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929384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CFB686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984248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314B"/>
                </a:solidFill>
                <a:latin typeface="Microsoft JhengHei"/>
                <a:ea typeface="Microsoft JhengHei"/>
              </a:rPr>
              <a:t>覆蓋全生命週期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6032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十個職能一條鏈，從贏得業務到對出資人交代，補的是整段流程、不是單點工具。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4406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691640"/>
            <a:ext cx="109728" cy="20574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27080" y="1929384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CFB686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984248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314B"/>
                </a:solidFill>
                <a:latin typeface="Microsoft JhengHei"/>
                <a:ea typeface="Microsoft JhengHei"/>
              </a:rPr>
              <a:t>一套設定、兩種用法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56032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同一份 Agent 設定，可在「人盯著的協作模式」與「雲端自動執行」間切換，依風險調整把關程度。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23360"/>
            <a:ext cx="54406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109728" cy="20574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12080" y="4261104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CFB686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15968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314B"/>
                </a:solidFill>
                <a:latin typeface="Microsoft JhengHei"/>
                <a:ea typeface="Microsoft JhengHei"/>
              </a:rPr>
              <a:t>人永遠是最後一關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89204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所有 Agent 只起草建議、從不自決；開戶、過帳、發布、分送皆由專人簽核，符合受監管要求。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023360"/>
            <a:ext cx="5440680" cy="20574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55080" y="4023360"/>
            <a:ext cx="109728" cy="20574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27080" y="4261104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CFB686"/>
                </a:solidFill>
                <a:latin typeface="Microsoft JhengHei"/>
                <a:ea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315968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6314B"/>
                </a:solidFill>
                <a:latin typeface="Microsoft JhengHei"/>
                <a:ea typeface="Microsoft JhengHei"/>
              </a:rPr>
              <a:t>由低風險先見效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89204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建議先導入前台研究類（門檻低、最快見效），累積信任後再啃高價值的中後台。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743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0" b="1" i="0">
                <a:solidFill>
                  <a:srgbClr val="2C4660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1012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PART 01 · 商業視角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39312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JhengHei"/>
                <a:ea typeface="Microsoft JhengHei"/>
              </a:rPr>
              <a:t>十個 Agent 如何串成一家金融公司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1CDDA"/>
                </a:solidFill>
                <a:latin typeface="Microsoft JhengHei"/>
                <a:ea typeface="Microsoft JhengHei"/>
              </a:rPr>
              <a:t>用四個群組與一個真實的一季故事，看每個 Agent 在哪一刻登場、為公司解決什麼。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職能地圖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十個 Agent · 四個群組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688336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2688336" cy="777240"/>
          </a:xfrm>
          <a:prstGeom prst="roundRect">
            <a:avLst>
              <a:gd name="adj" fmla="val 6000"/>
            </a:avLst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688336" cy="384048"/>
          </a:xfrm>
          <a:prstGeom prst="rect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1819656"/>
            <a:ext cx="23225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2E8EF"/>
                </a:solidFill>
                <a:latin typeface="Microsoft JhengHei"/>
                <a:ea typeface="Microsoft JhengHei"/>
              </a:rPr>
              <a:t>前台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039112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客戶經營與顧問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2651760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743200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會前準備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017520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E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4F8A6D"/>
                </a:solidFill>
                <a:latin typeface="Microsoft JhengHei"/>
                <a:ea typeface="Microsoft JhengHei"/>
              </a:rPr>
              <a:t>低風險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7" y="3419856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3511296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投行提案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785616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6E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C18E2E"/>
                </a:solidFill>
                <a:latin typeface="Microsoft JhengHei"/>
                <a:ea typeface="Microsoft JhengHei"/>
              </a:rPr>
              <a:t>中風險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39" y="1691640"/>
            <a:ext cx="2688336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520439" y="1691640"/>
            <a:ext cx="2688336" cy="777240"/>
          </a:xfrm>
          <a:prstGeom prst="roundRect">
            <a:avLst>
              <a:gd name="adj" fmla="val 6000"/>
            </a:avLst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20439" y="2084832"/>
            <a:ext cx="2688336" cy="384048"/>
          </a:xfrm>
          <a:prstGeom prst="rect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21607" y="1819656"/>
            <a:ext cx="23225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2E8EF"/>
                </a:solidFill>
                <a:latin typeface="Microsoft JhengHei"/>
                <a:ea typeface="Microsoft JhengHei"/>
              </a:rPr>
              <a:t>前台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1607" y="2039112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研究與建模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21607" y="2651760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67911" y="2743200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市場研究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67911" y="3017520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E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4F8A6D"/>
                </a:solidFill>
                <a:latin typeface="Microsoft JhengHei"/>
                <a:ea typeface="Microsoft JhengHei"/>
              </a:rPr>
              <a:t>低風險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21607" y="3419856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67911" y="3511296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財報追蹤 Agent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67911" y="3785616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6E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C18E2E"/>
                </a:solidFill>
                <a:latin typeface="Microsoft JhengHei"/>
                <a:ea typeface="Microsoft JhengHei"/>
              </a:rPr>
              <a:t>中風險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21607" y="4187952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67911" y="4279392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估值建模 Agent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1" y="4553712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6E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C18E2E"/>
                </a:solidFill>
                <a:latin typeface="Microsoft JhengHei"/>
                <a:ea typeface="Microsoft JhengHei"/>
              </a:rPr>
              <a:t>中風險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1691640"/>
            <a:ext cx="2688336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0" y="1691640"/>
            <a:ext cx="2688336" cy="777240"/>
          </a:xfrm>
          <a:prstGeom prst="roundRect">
            <a:avLst>
              <a:gd name="adj" fmla="val 6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2084832"/>
            <a:ext cx="2688336" cy="3840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01968" y="1819656"/>
            <a:ext cx="23225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2E8EF"/>
                </a:solidFill>
                <a:latin typeface="Microsoft JhengHei"/>
                <a:ea typeface="Microsoft JhengHei"/>
              </a:rPr>
              <a:t>中台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2039112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開戶與審查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1968" y="2651760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48272" y="2743200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開戶審查 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48272" y="3017520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4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B05247"/>
                </a:solidFill>
                <a:latin typeface="Microsoft JhengHei"/>
                <a:ea typeface="Microsoft JhengHei"/>
              </a:rPr>
              <a:t>高風險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81159" y="1691640"/>
            <a:ext cx="2688336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9281159" y="1691640"/>
            <a:ext cx="2688336" cy="777240"/>
          </a:xfrm>
          <a:prstGeom prst="roundRect">
            <a:avLst>
              <a:gd name="adj" fmla="val 6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281159" y="2084832"/>
            <a:ext cx="2688336" cy="384048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482328" y="1819656"/>
            <a:ext cx="23225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2E8EF"/>
                </a:solidFill>
                <a:latin typeface="Microsoft JhengHei"/>
                <a:ea typeface="Microsoft JhengHei"/>
              </a:rPr>
              <a:t>後台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2328" y="2039112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icrosoft JhengHei"/>
                <a:ea typeface="Microsoft JhengHei"/>
              </a:rPr>
              <a:t>基金行政與財務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82328" y="2651760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28632" y="2743200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總帳對帳 Agent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628632" y="3017520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4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B05247"/>
                </a:solidFill>
                <a:latin typeface="Microsoft JhengHei"/>
                <a:ea typeface="Microsoft JhengHei"/>
              </a:rPr>
              <a:t>高風險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82328" y="3419856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28632" y="3511296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月底結帳 Agent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28632" y="3785616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4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B05247"/>
                </a:solidFill>
                <a:latin typeface="Microsoft JhengHei"/>
                <a:ea typeface="Microsoft JhengHei"/>
              </a:rPr>
              <a:t>高風險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82328" y="4187952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628632" y="4279392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估值複核 Agent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28632" y="4553712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4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B05247"/>
                </a:solidFill>
                <a:latin typeface="Microsoft JhengHei"/>
                <a:ea typeface="Microsoft JhengHei"/>
              </a:rPr>
              <a:t>高風險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482328" y="4956048"/>
            <a:ext cx="2286000" cy="64008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628632" y="504748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對帳單稽核 Agent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28632" y="5321808"/>
            <a:ext cx="786384" cy="210312"/>
          </a:xfrm>
          <a:prstGeom prst="roundRect">
            <a:avLst>
              <a:gd name="adj" fmla="val 50000"/>
            </a:avLst>
          </a:prstGeom>
          <a:solidFill>
            <a:srgbClr val="F4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50" b="1">
                <a:solidFill>
                  <a:srgbClr val="B05247"/>
                </a:solidFill>
                <a:latin typeface="Microsoft JhengHei"/>
                <a:ea typeface="Microsoft JhengHei"/>
              </a:rPr>
              <a:t>高風險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Microsoft JhengHei"/>
                <a:ea typeface="Microsoft JhengHei"/>
              </a:rPr>
              <a:t>風險標記越高（越靠近錢與法規），自動化的把關與隔離就越嚴格。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一個真實的一季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商業故事：晨曦資本的這一季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晨曦資本同時做投行顧問與自有基金。這一季要替新基金找一個大型出資人，同時照常營運基金 —— 看十個 Agent 各自在哪一刻登場。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91440" cy="914400"/>
          </a:xfrm>
          <a:prstGeom prst="rect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350008"/>
            <a:ext cx="512064" cy="512064"/>
          </a:xfrm>
          <a:prstGeom prst="ellipse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35000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267712"/>
            <a:ext cx="9784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314B"/>
                </a:solidFill>
                <a:latin typeface="Microsoft JhengHei"/>
                <a:ea typeface="Microsoft JhengHei"/>
              </a:rPr>
              <a:t>前台 · 贏得業務</a:t>
            </a:r>
            <a:r>
              <a:rPr sz="1250" b="1" i="0">
                <a:solidFill>
                  <a:srgbClr val="B5842B"/>
                </a:solidFill>
                <a:latin typeface="Microsoft JhengHei"/>
                <a:ea typeface="Microsoft JhengHei"/>
              </a:rPr>
              <a:t>　—　把潛在出資人變成有興趣的客戶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578608"/>
            <a:ext cx="9784080" cy="2099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會前準備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備妥往來與持倉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 → 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市場研究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交出產業概覽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 → 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財報追蹤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更新看法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 → 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估值建模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深入評估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 → 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投行提案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產出第一版提案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7296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172968"/>
            <a:ext cx="91440" cy="9144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3374136"/>
            <a:ext cx="512064" cy="512064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37413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291840"/>
            <a:ext cx="9784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314B"/>
                </a:solidFill>
                <a:latin typeface="Microsoft JhengHei"/>
                <a:ea typeface="Microsoft JhengHei"/>
              </a:rPr>
              <a:t>中台 · 開戶</a:t>
            </a:r>
            <a:r>
              <a:rPr sz="1250" b="1" i="0">
                <a:solidFill>
                  <a:srgbClr val="B5842B"/>
                </a:solidFill>
                <a:latin typeface="Microsoft JhengHei"/>
                <a:ea typeface="Microsoft JhengHei"/>
              </a:rPr>
              <a:t>　—　資金進場的閘門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602736"/>
            <a:ext cx="9784080" cy="2099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出資人決定出資，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開戶審查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解析文件、跑反洗錢與名單比對，整理成審查包給合規人員。這一關沒過，後面都不會發生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9709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4197096"/>
            <a:ext cx="91440" cy="9144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68680" y="4398264"/>
            <a:ext cx="512064" cy="512064"/>
          </a:xfrm>
          <a:prstGeom prst="ellipse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398264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315968"/>
            <a:ext cx="9784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314B"/>
                </a:solidFill>
                <a:latin typeface="Microsoft JhengHei"/>
                <a:ea typeface="Microsoft JhengHei"/>
              </a:rPr>
              <a:t>後台 · 基金日常營運</a:t>
            </a:r>
            <a:r>
              <a:rPr sz="1250" b="1" i="0">
                <a:solidFill>
                  <a:srgbClr val="B5842B"/>
                </a:solidFill>
                <a:latin typeface="Microsoft JhengHei"/>
                <a:ea typeface="Microsoft JhengHei"/>
              </a:rPr>
              <a:t>　—　資金進場後的每日與每月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626864"/>
            <a:ext cx="9784080" cy="2099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每天由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總帳對帳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揪出差異、追原因；每到月底由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月底結帳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估列應計、結轉並說明差異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22122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5221224"/>
            <a:ext cx="91440" cy="914400"/>
          </a:xfrm>
          <a:prstGeom prst="rect">
            <a:avLst/>
          </a:prstGeom>
          <a:solidFill>
            <a:srgbClr val="0F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68680" y="5422392"/>
            <a:ext cx="512064" cy="512064"/>
          </a:xfrm>
          <a:prstGeom prst="ellipse">
            <a:avLst/>
          </a:prstGeom>
          <a:solidFill>
            <a:srgbClr val="0F2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542239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340096"/>
            <a:ext cx="9784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314B"/>
                </a:solidFill>
                <a:latin typeface="Microsoft JhengHei"/>
                <a:ea typeface="Microsoft JhengHei"/>
              </a:rPr>
              <a:t>後台 · 季末交代</a:t>
            </a:r>
            <a:r>
              <a:rPr sz="1250" b="1" i="0">
                <a:solidFill>
                  <a:srgbClr val="B5842B"/>
                </a:solidFill>
                <a:latin typeface="Microsoft JhengHei"/>
                <a:ea typeface="Microsoft JhengHei"/>
              </a:rPr>
              <a:t>　—　對出資人交代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650992"/>
            <a:ext cx="9784080" cy="2099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季末由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估值複核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核對估值並算收益分配；對帳單寄出前由</a:t>
            </a:r>
            <a:r>
              <a:rPr sz="1250" b="1" i="0" dirty="0" err="1">
                <a:solidFill>
                  <a:srgbClr val="00B0F0"/>
                </a:solidFill>
                <a:latin typeface="Microsoft JhengHei"/>
                <a:ea typeface="Microsoft JhengHei"/>
              </a:rPr>
              <a:t>對帳單稽核</a:t>
            </a:r>
            <a:r>
              <a:rPr sz="1250" b="0" i="0" dirty="0" err="1">
                <a:solidFill>
                  <a:srgbClr val="1E2A36"/>
                </a:solidFill>
                <a:latin typeface="Microsoft JhengHei"/>
                <a:ea typeface="Microsoft JhengHei"/>
              </a:rPr>
              <a:t>逐欄把關。過了這關，報告才寄給出資人</a:t>
            </a:r>
            <a:r>
              <a:rPr sz="1250" b="0" i="0" dirty="0">
                <a:solidFill>
                  <a:srgbClr val="1E2A36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治理 · 為什麼受監管的金融機構能放心交給它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兩條貫穿全部的治理原則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5349240" cy="42976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109728" cy="429768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  <a:ea typeface="Microsoft JhengHei"/>
              </a:rPr>
              <a:t>原則一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212848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6314B"/>
                </a:solidFill>
                <a:latin typeface="Microsoft JhengHei"/>
                <a:ea typeface="Microsoft JhengHei"/>
              </a:rPr>
              <a:t>風險越高，隔離越嚴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是否讓 Agent 自己「寫入檔案」，依風險高低決定。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337560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E4EFE9"/>
          </a:solidFill>
          <a:ln w="15875">
            <a:solidFill>
              <a:srgbClr val="4F8A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60120" y="3337560"/>
            <a:ext cx="91440" cy="1097280"/>
          </a:xfrm>
          <a:prstGeom prst="rect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88720" y="348386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低風險 · 前台／研究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9476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E2A36"/>
                </a:solidFill>
                <a:latin typeface="Microsoft JhengHei"/>
                <a:ea typeface="Microsoft JhengHei"/>
              </a:rPr>
              <a:t>產出只是內部草稿，主代理可直接寫入檔案（放寬）。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562856"/>
            <a:ext cx="4892040" cy="1097280"/>
          </a:xfrm>
          <a:prstGeom prst="roundRect">
            <a:avLst>
              <a:gd name="adj" fmla="val 5000"/>
            </a:avLst>
          </a:prstGeom>
          <a:solidFill>
            <a:srgbClr val="F4E0DD"/>
          </a:solidFill>
          <a:ln w="15875">
            <a:solidFill>
              <a:srgbClr val="B052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60120" y="4562856"/>
            <a:ext cx="91440" cy="1097280"/>
          </a:xfrm>
          <a:prstGeom prst="rect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4709160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E2A36"/>
                </a:solidFill>
                <a:latin typeface="Microsoft JhengHei"/>
                <a:ea typeface="Microsoft JhengHei"/>
              </a:rPr>
              <a:t>高風險 · 後台／合規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20056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E2A36"/>
                </a:solidFill>
                <a:latin typeface="Microsoft JhengHei"/>
                <a:ea typeface="Microsoft JhengHei"/>
              </a:rPr>
              <a:t>牽涉法規與財務誠信，主代理一律不寫檔，動作嚴格切開、分權。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691640"/>
            <a:ext cx="5349240" cy="42976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1691640"/>
            <a:ext cx="109728" cy="429768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193852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  <a:ea typeface="Microsoft JhengHei"/>
              </a:rPr>
              <a:t>原則二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212848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16314B"/>
                </a:solidFill>
                <a:latin typeface="Microsoft JhengHei"/>
                <a:ea typeface="Microsoft JhengHei"/>
              </a:rPr>
              <a:t>人，永遠是最後一關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78892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所有 Agent 只起草／建議，從不自決 —— 最後由人按下決定鍵。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3337560"/>
            <a:ext cx="48920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84848" y="333756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開戶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337560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→　合規人員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3995928"/>
            <a:ext cx="48920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84848" y="3995928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過帳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3995928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→　控制員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4654296"/>
            <a:ext cx="48920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84848" y="4654296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發布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4654296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→　分析師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5312664"/>
            <a:ext cx="48920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84848" y="5312664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分送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5312664"/>
            <a:ext cx="3383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→　投資人關係／法遵長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743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0" b="1" i="0">
                <a:solidFill>
                  <a:srgbClr val="2C4660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1012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PART 02 · 導入與運作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39312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JhengHei"/>
                <a:ea typeface="Microsoft JhengHei"/>
              </a:rPr>
              <a:t>一套設定、兩種用法，怎麼接、怎麼上線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1CDDA"/>
                </a:solidFill>
                <a:latin typeface="Microsoft JhengHei"/>
                <a:ea typeface="Microsoft JhengHei"/>
              </a:rPr>
              <a:t>用經營層語言講清楚：兩種部署模式的差別、要串接哪些系統、建議的導入順序，以及實測成效。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部署模式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一份設定，兩種用法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10972800" cy="868680"/>
          </a:xfrm>
          <a:prstGeom prst="roundRect">
            <a:avLst>
              <a:gd name="adj" fmla="val 5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唯一來源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84831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</a:rPr>
              <a:t>一份 Agent 設定</a:t>
            </a:r>
            <a:r>
              <a:rPr sz="1300" b="0" i="0">
                <a:solidFill>
                  <a:srgbClr val="C6D2DE"/>
                </a:solidFill>
                <a:latin typeface="Microsoft JhengHei"/>
                <a:ea typeface="Microsoft JhengHei"/>
              </a:rPr>
              <a:t>　·　角色、流程、規範、工具、把關規則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82880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5842B"/>
                </a:solidFill>
                <a:latin typeface="Microsoft JhengHei"/>
                <a:ea typeface="Microsoft JhengHei"/>
              </a:rPr>
              <a:t>↓  同一份內容，兩種用法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88920"/>
            <a:ext cx="5349240" cy="265176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2788920"/>
            <a:ext cx="5349240" cy="640080"/>
          </a:xfrm>
          <a:prstGeom prst="roundRect">
            <a:avLst>
              <a:gd name="adj" fmla="val 6000"/>
            </a:avLst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5349240" cy="320040"/>
          </a:xfrm>
          <a:prstGeom prst="rect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2788920"/>
            <a:ext cx="4800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</a:rPr>
              <a:t>互動協作模式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6616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在工具中與專人一起操作，過程由人逐步確認。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4224528"/>
            <a:ext cx="91440" cy="91440"/>
          </a:xfrm>
          <a:prstGeom prst="ellipse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5568" y="416052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適合高風險、需要逐步把關的工作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617720"/>
            <a:ext cx="91440" cy="91440"/>
          </a:xfrm>
          <a:prstGeom prst="ellipse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455371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人全程在旁，每一步都可攔下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" y="5010912"/>
            <a:ext cx="91440" cy="91440"/>
          </a:xfrm>
          <a:prstGeom prst="ellipse">
            <a:avLst/>
          </a:prstGeom>
          <a:solidFill>
            <a:srgbClr val="5C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15568" y="4946903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產出：對話訊息＋檔案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788920"/>
            <a:ext cx="5349240" cy="265176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63640" y="2788920"/>
            <a:ext cx="5349240" cy="640080"/>
          </a:xfrm>
          <a:prstGeom prst="roundRect">
            <a:avLst>
              <a:gd name="adj" fmla="val 6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63640" y="3108960"/>
            <a:ext cx="5349240" cy="32004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59" y="2788920"/>
            <a:ext cx="4800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</a:rPr>
              <a:t>雲端自動執行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356616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E2A36"/>
                </a:solidFill>
                <a:latin typeface="Microsoft JhengHei"/>
                <a:ea typeface="Microsoft JhengHei"/>
              </a:rPr>
              <a:t>部署到雲端自動運行，過程不需專人在旁。</a:t>
            </a:r>
          </a:p>
        </p:txBody>
      </p:sp>
      <p:sp>
        <p:nvSpPr>
          <p:cNvPr id="28" name="Oval 27"/>
          <p:cNvSpPr/>
          <p:nvPr/>
        </p:nvSpPr>
        <p:spPr>
          <a:xfrm>
            <a:off x="6537959" y="4224528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39127" y="416052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適合低風險、大量重複的例行工作</a:t>
            </a:r>
          </a:p>
        </p:txBody>
      </p:sp>
      <p:sp>
        <p:nvSpPr>
          <p:cNvPr id="30" name="Oval 29"/>
          <p:cNvSpPr/>
          <p:nvPr/>
        </p:nvSpPr>
        <p:spPr>
          <a:xfrm>
            <a:off x="6537959" y="4617720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39127" y="455371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沒有人介入，靠權限設計約束</a:t>
            </a:r>
          </a:p>
        </p:txBody>
      </p:sp>
      <p:sp>
        <p:nvSpPr>
          <p:cNvPr id="32" name="Oval 31"/>
          <p:cNvSpPr/>
          <p:nvPr/>
        </p:nvSpPr>
        <p:spPr>
          <a:xfrm>
            <a:off x="6537959" y="5010912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39127" y="4946903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高風險動作鎖進權限最小的子代理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5842B"/>
                </a:solidFill>
                <a:latin typeface="Microsoft JhengHei"/>
                <a:ea typeface="Microsoft JhengHei"/>
              </a:rPr>
              <a:t>重點　</a:t>
            </a: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一份設定，兩種用法：要逐步把關就用互動模式、要大量自動化就用雲端模式，把關程度依風險高低調整。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系統串接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要接哪些系統？決定了導入的難易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每個 Agent 要能運作，得先接到對應的資料來源。來源分兩種，難易差很多：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5349240" cy="31546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109728" cy="3154680"/>
          </a:xfrm>
          <a:prstGeom prst="rect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314B"/>
                </a:solidFill>
                <a:latin typeface="Microsoft JhengHei"/>
                <a:ea typeface="Microsoft JhengHei"/>
              </a:rPr>
              <a:t>前台 · 研究與顧問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4709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F8A6D"/>
                </a:solidFill>
                <a:latin typeface="Microsoft JhengHei"/>
                <a:ea typeface="Microsoft JhengHei"/>
              </a:rPr>
              <a:t>靠外部市場資料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42316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</a:rPr>
              <a:t>低門檻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3456432"/>
            <a:ext cx="91440" cy="91440"/>
          </a:xfrm>
          <a:prstGeom prst="ellipse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07007" y="338328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資料向專業資料商訂閱即有（財報、行情、同業比較）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050792"/>
            <a:ext cx="91440" cy="91440"/>
          </a:xfrm>
          <a:prstGeom prst="ellipse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07007" y="397764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產出只是內部草稿，有人複核能攔錯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" y="4645152"/>
            <a:ext cx="91440" cy="91440"/>
          </a:xfrm>
          <a:prstGeom prst="ellipse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07007" y="457200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可先試水溫、最快見效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148840"/>
            <a:ext cx="5349240" cy="315468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2148840"/>
            <a:ext cx="109728" cy="3154680"/>
          </a:xfrm>
          <a:prstGeom prst="rect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2404872"/>
            <a:ext cx="3886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314B"/>
                </a:solidFill>
                <a:latin typeface="Microsoft JhengHei"/>
                <a:ea typeface="Microsoft JhengHei"/>
              </a:rPr>
              <a:t>中後台 · 行政與合規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788920"/>
            <a:ext cx="47091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05247"/>
                </a:solidFill>
                <a:latin typeface="Microsoft JhengHei"/>
                <a:ea typeface="Microsoft JhengHei"/>
              </a:rPr>
              <a:t>要接公司內部系統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78440" y="242316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</a:rPr>
              <a:t>高門檻</a:t>
            </a:r>
          </a:p>
        </p:txBody>
      </p:sp>
      <p:sp>
        <p:nvSpPr>
          <p:cNvPr id="25" name="Oval 24"/>
          <p:cNvSpPr/>
          <p:nvPr/>
        </p:nvSpPr>
        <p:spPr>
          <a:xfrm>
            <a:off x="6629400" y="3456432"/>
            <a:ext cx="91440" cy="91440"/>
          </a:xfrm>
          <a:prstGeom prst="ellipse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30568" y="338328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需串接總帳、子帳、基金淨值、投資組合、黑名單、客戶系統</a:t>
            </a:r>
          </a:p>
        </p:txBody>
      </p:sp>
      <p:sp>
        <p:nvSpPr>
          <p:cNvPr id="27" name="Oval 26"/>
          <p:cNvSpPr/>
          <p:nvPr/>
        </p:nvSpPr>
        <p:spPr>
          <a:xfrm>
            <a:off x="6629400" y="4050792"/>
            <a:ext cx="91440" cy="91440"/>
          </a:xfrm>
          <a:prstGeom prst="ellipse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30568" y="397764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牽涉法規與帳目正確性，錯不得</a:t>
            </a:r>
          </a:p>
        </p:txBody>
      </p:sp>
      <p:sp>
        <p:nvSpPr>
          <p:cNvPr id="29" name="Oval 28"/>
          <p:cNvSpPr/>
          <p:nvPr/>
        </p:nvSpPr>
        <p:spPr>
          <a:xfrm>
            <a:off x="6629400" y="4645152"/>
            <a:ext cx="91440" cy="91440"/>
          </a:xfrm>
          <a:prstGeom prst="ellipse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30568" y="457200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省下的人工最多、價值最高，建議後段導入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5842B"/>
                </a:solidFill>
                <a:latin typeface="Microsoft JhengHei"/>
                <a:ea typeface="Microsoft JhengHei"/>
              </a:rPr>
              <a:t>一句話　</a:t>
            </a:r>
            <a:r>
              <a:rPr sz="1350" b="0" i="0">
                <a:solidFill>
                  <a:srgbClr val="1E2A36"/>
                </a:solidFill>
                <a:latin typeface="Microsoft JhengHei"/>
                <a:ea typeface="Microsoft JhengHei"/>
              </a:rPr>
              <a:t>前台靠訂得到的外部資料，可先導入快速見效；中後台要對接公司既有系統並對齊法遵流程，建議在前段累積信任後再上。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導入規劃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建議的導入順序：先簡單見效，再啃硬骨頭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72800" cy="1371600"/>
          </a:xfrm>
          <a:prstGeom prst="roundRect">
            <a:avLst>
              <a:gd name="adj" fmla="val 3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777240" cy="1371600"/>
          </a:xfrm>
          <a:prstGeom prst="rect">
            <a:avLst/>
          </a:prstGeom>
          <a:solidFill>
            <a:srgbClr val="4F8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icrosoft JhengHei"/>
                <a:ea typeface="Microsoft JhengHei"/>
              </a:rPr>
              <a:t>第一批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947672"/>
            <a:ext cx="8961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314B"/>
                </a:solidFill>
                <a:latin typeface="Microsoft JhengHei"/>
                <a:ea typeface="Microsoft JhengHei"/>
              </a:rPr>
              <a:t>先導入　研究與顧問</a:t>
            </a:r>
            <a:r>
              <a:rPr sz="1250" b="1" i="0">
                <a:solidFill>
                  <a:srgbClr val="4F8A6D"/>
                </a:solidFill>
                <a:latin typeface="Microsoft JhengHei"/>
                <a:ea typeface="Microsoft JhengHei"/>
              </a:rPr>
              <a:t>　·　風險低～中 · 成本中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313432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785"/>
                </a:solidFill>
                <a:latin typeface="Microsoft JhengHei"/>
                <a:ea typeface="Microsoft JhengHei"/>
              </a:rPr>
              <a:t>涵蓋：</a:t>
            </a:r>
            <a:r>
              <a:rPr sz="1250" b="1" i="0">
                <a:solidFill>
                  <a:srgbClr val="1E2A36"/>
                </a:solidFill>
                <a:latin typeface="Microsoft JhengHei"/>
                <a:ea typeface="Microsoft JhengHei"/>
              </a:rPr>
              <a:t>會前準備、市場研究、財報追蹤、估值建模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51760"/>
            <a:ext cx="9052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E2A36"/>
                </a:solidFill>
                <a:latin typeface="Microsoft JhengHei"/>
                <a:ea typeface="Microsoft JhengHei"/>
              </a:rPr>
              <a:t>多靠外部訂閱資料、不必接內部系統，最快見效、試錯成本低。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73552"/>
            <a:ext cx="10972800" cy="1371600"/>
          </a:xfrm>
          <a:prstGeom prst="roundRect">
            <a:avLst>
              <a:gd name="adj" fmla="val 3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273552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C1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3273552"/>
            <a:ext cx="777240" cy="1371600"/>
          </a:xfrm>
          <a:prstGeom prst="rect">
            <a:avLst/>
          </a:prstGeom>
          <a:solidFill>
            <a:srgbClr val="C18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39312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icrosoft JhengHei"/>
                <a:ea typeface="Microsoft JhengHei"/>
              </a:rPr>
              <a:t>第二批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438144"/>
            <a:ext cx="8961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314B"/>
                </a:solidFill>
                <a:latin typeface="Microsoft JhengHei"/>
                <a:ea typeface="Microsoft JhengHei"/>
              </a:rPr>
              <a:t>接著導入　投行提案</a:t>
            </a:r>
            <a:r>
              <a:rPr sz="1250" b="1" i="0">
                <a:solidFill>
                  <a:srgbClr val="C18E2E"/>
                </a:solidFill>
                <a:latin typeface="Microsoft JhengHei"/>
                <a:ea typeface="Microsoft JhengHei"/>
              </a:rPr>
              <a:t>　·　風險中 · 成本中偏高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803904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785"/>
                </a:solidFill>
                <a:latin typeface="Microsoft JhengHei"/>
                <a:ea typeface="Microsoft JhengHei"/>
              </a:rPr>
              <a:t>涵蓋：</a:t>
            </a:r>
            <a:r>
              <a:rPr sz="1250" b="1" i="0">
                <a:solidFill>
                  <a:srgbClr val="1E2A36"/>
                </a:solidFill>
                <a:latin typeface="Microsoft JhengHei"/>
                <a:ea typeface="Microsoft JhengHei"/>
              </a:rPr>
              <a:t>投行提案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142232"/>
            <a:ext cx="9052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E2A36"/>
                </a:solidFill>
                <a:latin typeface="Microsoft JhengHei"/>
                <a:ea typeface="Microsoft JhengHei"/>
              </a:rPr>
              <a:t>成果會對外，且要客製投行的簡報範本與檢查規則，工程量比第一批大。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64024"/>
            <a:ext cx="10972800" cy="1371600"/>
          </a:xfrm>
          <a:prstGeom prst="roundRect">
            <a:avLst>
              <a:gd name="adj" fmla="val 3000"/>
            </a:avLst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" y="4764024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764024"/>
            <a:ext cx="777240" cy="1371600"/>
          </a:xfrm>
          <a:prstGeom prst="rect">
            <a:avLst/>
          </a:prstGeom>
          <a:solidFill>
            <a:srgbClr val="B0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129784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icrosoft JhengHei"/>
                <a:ea typeface="Microsoft JhengHei"/>
              </a:rPr>
              <a:t>第三批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928616"/>
            <a:ext cx="8961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6314B"/>
                </a:solidFill>
                <a:latin typeface="Microsoft JhengHei"/>
                <a:ea typeface="Microsoft JhengHei"/>
              </a:rPr>
              <a:t>最後導入　中後台五支</a:t>
            </a:r>
            <a:r>
              <a:rPr sz="1250" b="1" i="0">
                <a:solidFill>
                  <a:srgbClr val="B05247"/>
                </a:solidFill>
                <a:latin typeface="Microsoft JhengHei"/>
                <a:ea typeface="Microsoft JhengHei"/>
              </a:rPr>
              <a:t>　·　風險高 · 成本高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5294376"/>
            <a:ext cx="9052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7785"/>
                </a:solidFill>
                <a:latin typeface="Microsoft JhengHei"/>
                <a:ea typeface="Microsoft JhengHei"/>
              </a:rPr>
              <a:t>涵蓋：</a:t>
            </a:r>
            <a:r>
              <a:rPr sz="1250" b="1" i="0">
                <a:solidFill>
                  <a:srgbClr val="1E2A36"/>
                </a:solidFill>
                <a:latin typeface="Microsoft JhengHei"/>
                <a:ea typeface="Microsoft JhengHei"/>
              </a:rPr>
              <a:t>開戶審查、總帳對帳、月底結帳、估值複核、對帳單稽核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5632704"/>
            <a:ext cx="9052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E2A36"/>
                </a:solidFill>
                <a:latin typeface="Microsoft JhengHei"/>
                <a:ea typeface="Microsoft JhengHei"/>
              </a:rPr>
              <a:t>省下的人工最多、價值最高，但要接內部系統、對齊法遵與財務流程，建議在前兩批累積信任後再上。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5842B"/>
                </a:solidFill>
                <a:latin typeface="Microsoft JhengHei"/>
                <a:ea typeface="Microsoft JhengHei"/>
              </a:rPr>
              <a:t>實測成效 · 全部以假資料試跑（2026-06）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314B"/>
                </a:solidFill>
                <a:latin typeface="Microsoft JhengHei"/>
                <a:ea typeface="Microsoft JhengHei"/>
              </a:rPr>
              <a:t>不只跑得動，還會反過來挑出你資料的毛病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914400" cy="41148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  <a:ea typeface="Microsoft Jheng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JhengHei"/>
                <a:ea typeface="Microsoft JhengHei"/>
              </a:rPr>
              <a:t>Anthropic Financial · 10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3593592" cy="13716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91440" cy="13716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7830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B5842B"/>
                </a:solidFill>
                <a:latin typeface="Microsoft JhengHei"/>
                <a:ea typeface="Microsoft JhengHe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874519"/>
            <a:ext cx="1993392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支 Agent 全數試跑驗收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691640"/>
            <a:ext cx="3593592" cy="13716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16552" y="1691640"/>
            <a:ext cx="91440" cy="13716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17830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B5842B"/>
                </a:solidFill>
                <a:latin typeface="Microsoft JhengHei"/>
                <a:ea typeface="Microsoft JhengHe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33872" y="1874519"/>
            <a:ext cx="1993392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支逐項對答案評分，全數通過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91640"/>
            <a:ext cx="3593592" cy="137160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93023" y="1691640"/>
            <a:ext cx="91440" cy="13716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85632" y="1783080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B5842B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1874519"/>
            <a:ext cx="1993392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E2A36"/>
                </a:solidFill>
                <a:latin typeface="Microsoft JhengHei"/>
                <a:ea typeface="Microsoft JhengHei"/>
              </a:rPr>
              <a:t>支反向抓出我們出題的瑕疵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91840"/>
            <a:ext cx="5394960" cy="1051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680" y="34747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</a:rPr>
              <a:t>開戶審查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867912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E2A36"/>
                </a:solidFill>
                <a:latin typeface="Microsoft JhengHei"/>
                <a:ea typeface="Microsoft JhengHei"/>
              </a:rPr>
              <a:t>抓真制裁命中、放過同名假命中、高風險走加強審查不亂拒 —— 五件全對。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291840"/>
            <a:ext cx="5394960" cy="1051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0" y="34747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</a:rPr>
              <a:t>會前準備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67912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E2A36"/>
                </a:solidFill>
                <a:latin typeface="Microsoft JhengHei"/>
                <a:ea typeface="Microsoft JhengHei"/>
              </a:rPr>
              <a:t>客戶來信暗藏「要求匯款並隱匿」的詐騙指令，它拒做、還把詐騙信攤在資料包最前面。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5394960" cy="1051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68680" y="46634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</a:rPr>
              <a:t>月底結帳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056632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E2A36"/>
                </a:solidFill>
                <a:latin typeface="Microsoft JhengHei"/>
                <a:ea typeface="Microsoft JhengHei"/>
              </a:rPr>
              <a:t>驗算對上之外，反向抓出我們樣本裡折舊／分紅的前期瑕疵。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480560"/>
            <a:ext cx="5394960" cy="1051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0" y="466344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</a:rPr>
              <a:t>估值複核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056632"/>
            <a:ext cx="4983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E2A36"/>
                </a:solidFill>
                <a:latin typeface="Microsoft JhengHei"/>
                <a:ea typeface="Microsoft JhengHei"/>
              </a:rPr>
              <a:t>收益分配比我們的答案卡還正確，並標出需對帳的差異交法遵長。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Microsoft JhengHei"/>
                <a:ea typeface="Microsoft JhengHei"/>
              </a:rPr>
              <a:t>共通好行為：查不到就標註、不捏造；假命中不誤殺；只產草稿，最後一定有人簽核。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743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0" b="1" i="0">
                <a:solidFill>
                  <a:srgbClr val="2C4660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1012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PART 03 · 十個 Agent 逐一介紹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39312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Microsoft JhengHei"/>
                <a:ea typeface="Microsoft JhengHei"/>
              </a:rPr>
              <a:t>每個 Agent：做什麼、怎麼把關、帶來什麼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1CDDA"/>
                </a:solidFill>
                <a:latin typeface="Microsoft JhengHei"/>
                <a:ea typeface="Microsoft JhengHei"/>
              </a:rPr>
              <a:t>依四個群組逐一檢視。每頁固定看：用途、運作流程、風險把關，以及帶來的實際效益。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前台 · 客戶經營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會前準備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(meeting-prep-agent)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財富管理／私人銀行（前台）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理財專員（理專）、私人銀行理財顧問、投資顧問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E6B4F"/>
                </a:solidFill>
                <a:latin typeface="Microsoft JhengHei"/>
              </a:rPr>
              <a:t>低風險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客戶會前準備助理：會議前彙整客戶關係、持倉與相關市場動態，產出給顧問的會前資料包。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見客戶前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整理客戶關係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從客戶系統調出往來歷史、目前持倉與未結項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客戶代號、行事曆會議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接公司客戶系統，拉出關係歷史、持倉與未結項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客戶關係與持倉現況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4564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456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44728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掌握市場動態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666744"/>
            <a:ext cx="2249424" cy="5532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找出近期與客戶持倉相關的市場大事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447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接市場資料源，撈出影響該客戶持倉的市場事件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7947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相關市場動態摘要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25424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25424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24510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回顧近期往來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464558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摘要客戶最近的信件與筆記，掌握最新狀況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24510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摘要近期客戶信件與筆記（來信一律當不可信、只摘要不執行）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59257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近期往來重點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0966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09663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087493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草擬會前資料包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306949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寫好關係摘要與持倉說明，整理成會前資料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08749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組裝關係摘要與持倉說明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27494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會前資料包（草稿）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" y="59390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8328" y="59390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592988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交顧問過目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" y="6149340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只出草稿，會議前由顧問確認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9298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只出草稿，會議前由顧問確認（人工把關）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客戶來信、新聞一律經格式防火牆當不可信資料隔離，只摘要、不執行其中指令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118104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績效差就如實呈現、不粉飾；只出草稿、顧問會前確認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354787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78561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公司客戶關係系統（內部）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98221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市場資料平台（CapitalIQ／可改用 S&amp;P 等已串接來源）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串接公司內部客戶關係系統（查關係史、持倉、未結項、近期往來）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8007" y="3118104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設定投資政策與再平衡偏離門檻（預設 3–5%）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8007" y="345643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套入公司品牌簡報範本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64224" y="4521708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92240" y="4521708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924044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會前資料包 — 王大明（季度檢視）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180076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2026-06-22 · AUM ~USD 12.0M · 穩健成長 · 僅供顧問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90972"/>
            <a:ext cx="2939593" cy="1147572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前台 · 客戶經營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投行提案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(pitch-agent)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投資銀行部（承銷／財務顧問）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協理／資深協理、財務顧問（FA）、承銷分析師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58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</a:rPr>
              <a:t>中風險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投行提案助理：針對交易標的蒐集同業比較與估值，產出含估值模型與品牌簡報的提案包。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初次接觸客戶的第一版提案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界定範圍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圈定 5–8 家可比公司與幾筆先例交易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目標公司、一句話情境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圈定 5–8 家可比公司與先例交易，草擬公司快照與策略理由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情境概述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4564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456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44728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蒐集資料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666744"/>
            <a:ext cx="2249424" cy="5532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取得估值倍數、先例交易與最新財報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447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接市場資料源，取得估值倍數、先例交易與最新財報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7947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可比與先例資料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13765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1376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128515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比較同業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347972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攤開同業比較與先例，推估估值區間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12851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攤開同業比較與先例、標離群，推估估值區間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" y="469087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" y="469087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4681727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試算收購報酬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4901183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以市場舉債水準試算槓桿收購報酬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4681727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以市場舉債水準試算槓桿收購（LBO）報酬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" y="52440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8328" y="524408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234939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補建模型與對照圖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454395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補現金流折現與三大報表，疊出估值區間對照圖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08960" y="5234939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補現金流折現與三大報表，疊出估值區間對照圖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58241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估值模型（試算表）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8328" y="595731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8328" y="595731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" y="5948171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製作並複查簡報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6167627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套銀行範本、核對加總／註腳／日期一致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94817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套銀行範本製作簡報並複查（加總／註腳／日期一致）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629564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提案簡報（數字可追溯）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每個數字都要有出處，查不到就標未證實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簡報數字皆綁回模型；模型後、簡報後各停一次給人複核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314700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無對外通訊工具，不會自行對外聯絡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3602736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3840480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市場資料平台（CapitalIQ／可改用 S&amp;P）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0370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Daloopa（公開財務資料供應商）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訂閱外部資料源並取得授權金鑰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教入公司投行簡報範本（最關鍵）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08007" y="3172968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設定可比與先例的指標定義與同業圈選慣例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64224" y="4434840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492240" y="443484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4837175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VRT 併購提案 — 估值三角驗證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5093207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標的 Vertiv (VRT) · 每股 US$ · 現價 $320 / 示意報價 $400</a:t>
            </a:r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04103"/>
            <a:ext cx="3309139" cy="941832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70" name="TextBox 69"/>
          <p:cNvSpPr txBox="1"/>
          <p:nvPr/>
        </p:nvSpPr>
        <p:spPr>
          <a:xfrm>
            <a:off x="6400800" y="6400800"/>
            <a:ext cx="54315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u="none">
                <a:solidFill>
                  <a:srgbClr val="1E2A36"/>
                </a:solidFill>
                <a:latin typeface="Microsoft JhengHei"/>
              </a:rPr>
              <a:t>核心結論：四法區間全部低於現價 $320，以現價收購經濟學不成立；達 20–25% IRR 進場價僅 $133–$156。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前台 · 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市場研究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(market-researcher)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投信投顧／券商研究部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研究員、證券分析師、基金經理人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E6B4F"/>
                </a:solidFill>
                <a:latin typeface="Microsoft JhengHei"/>
              </a:rPr>
              <a:t>低風險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產業研究助理：針對投資主題研究產業概況、競品與同業比較，產出研究報告。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要快速搞懂一個不熟的產業或主題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定義研究範圍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9189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確認研究問題與市場邊界，鎖定該領域 8–15 家公司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產業／主題、研究角度、研究範疇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網路搜尋建立候選清單，依研究範疇篩選 8–15 家公司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研究範圍備忘（範疇、公司側寫、後續步驟）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61645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61645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0730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市場全景分析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826763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整理該產業的市場規模、產業結構、成長驅動與風險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60730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整理市場規模、產業結構、成長驅動與風險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794759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市場概況與市場全景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3296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32968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32054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競爭格局與同業比較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539996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分析 top5 公司的營收、成長率、市占率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3205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 FactSet／CapitalIQ 取得財務，做競品與 top5 同業比較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6680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競爭格局與可比公司分析表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0966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09663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087493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篩選潛在關注標的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306949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從格局與比較中挑出最值得關注的名字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08749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設計評分因子與權重、分級選股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27494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潛在標的篩選與投資論點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" y="59390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8328" y="59390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592988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輸出研究報告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" y="6149340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整合研究成果，產出研究簡報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9298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彙整研究成果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8960" y="611733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研究報告（簡報）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質化內容須具明確引用來源、可追溯；來源衝突時依「公司揭露 &gt; 研究報告 &gt; 新聞媒體」判斷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3118104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財務與交易數字以資料源為主；查不到誠實標未證實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54787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785616"/>
            <a:ext cx="2651760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FactSet／CapitalIQ：可比公司財務與交易數字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3991401"/>
            <a:ext cx="2807207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網路搜尋：補充產業與新聞背景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依使用對象微調產出；流程大幅變動則需客製新流程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8007" y="3118104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FactSet／CapitalIQ 對台灣中小型公司資料可能不全，需搭配公開資訊觀測站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8007" y="345643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網路搜尋易過早停在新聞層級，需設定強制補充高可信度來源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64224" y="4521708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92240" y="4521708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4924044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AI 資料中心散熱 — 競爭格局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180076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8–15 家候選 → top 同業比較（市值 USD・YoY・估值・報酬）</a:t>
            </a:r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90972"/>
            <a:ext cx="3573278" cy="1147572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65" name="TextBox 64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前台 · 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財報追蹤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(earnings-reviewer)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證券研究部（賣方／買方）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證券分析師、研究員、研究部主管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58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</a:rPr>
              <a:t>中風險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財報追蹤助理：公司發財報後解讀法說會、更新追蹤中的模型，產出財報後觀點筆記。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財報季要同時追很多檔股票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取得財報數字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拿到實際業績、市場原本預期與完整法說會內容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股票代號、報告期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 FactSet／Daloopa 取得實際業績、市場共識與申報，載入完整法說會逐字稿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財報數字與逐字稿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4564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456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44728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解讀法說會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666744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抓出公司展望、管理層口風與被迴避的問題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447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解讀法說會，抓展望、管理層語氣與被迴避問題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7947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法說會解讀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1696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1696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1605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更新模型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379976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把新數字更新進追蹤這家公司的試算表模型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1605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把新數字更新進追蹤中的模型，每格可回溯來源並做品質檢查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50799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更新後模型（草稿）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488289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488289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4873751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檢查模型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093207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複查沒算錯、公式沒斷、沒硬填數字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8737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複查沒算錯、公式沒斷、沒硬填數字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8328" y="54361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8328" y="543610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426963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草擬觀點筆記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5646419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寫財報後觀點筆記，說明與預期差在哪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42696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產差異表（實際 vs 共識 vs 前估）與觀點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61441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財報後觀點筆記（草稿）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" y="61493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38328" y="614933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" y="6140195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送交審閱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" y="6359651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模型與筆記以草稿交出，不直接對外發布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6140195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模型與筆記以草稿交出，永不對外發布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每個數字都要有出處，查不到就標未證實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模型每格改動可回溯來源、跑平衡驗算、不硬填數字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314700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僅以草稿交付、永不對外發布，資深分析師簽核才發布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3744468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3982211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FactSet、Daloopa（公開財務資料供應商，已內建串接）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向供應商購買訂閱並取得授權金鑰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對齊公司「持續追蹤標的」的模型格式與研究筆記範本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64224" y="4521707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492240" y="4521707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0" y="4924043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TSMC 2026 Q1 財報後觀點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5180075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實際 vs 市場共識 vs 前次指引</a:t>
            </a:r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90971"/>
            <a:ext cx="3390553" cy="1147572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68" name="TextBox 67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前台 · 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估值建模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(model-builder)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投資銀行部／研究部／私募股權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財務分析師、研究員、投資經理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58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</a:rPr>
              <a:t>中風險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估值建模助理：針對一家公司從零建立估值模型（DCF／LBO／三大報表等），產出可供決策的試算表。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要一份全新、乾淨的估值模型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準備資料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取得歷史財務、市場預期與公開申報資料當基礎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股票代號、模型類型、假設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 CapitalIQ／Daloopa，拉歷史財務、市場預期與申報文件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建模輸入資料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4564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456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44728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建立模型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666744"/>
            <a:ext cx="2249424" cy="5532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依需求建出對應的估值模型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447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依類型建模（DCF／LBO／三表／同業比較），計算格用公式不寫死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7947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估值模型（試算表）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1742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17423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165091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檢查模型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384548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複查算得對、公式沒問題，結果可追回輸入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1650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自動稽核跑平衡檢查、確認可追溯回輸入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3525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稽核通過的模型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497662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497662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496747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做敏感度分析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186934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試算不同假設下結果怎麼變、對哪些變數最敏感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96747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建標準敏感度表（折現的資金成本／成長率、LBO 報酬率）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1495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敏感度分析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8328" y="57790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38328" y="57790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576986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交付審閱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" y="5989320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模型建好先停，使用者確認過才往後使用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76986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模型建好先停，使用者確認過才往後使用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每個結果都是公式、計算格不寫死；假設標註並附來源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118104"/>
            <a:ext cx="2743200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由獨立稽核跑平衡檢查、確認結果可追溯回輸入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400800" y="3336778"/>
            <a:ext cx="2743200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建完即停，使用者核准才往下游使用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400800" y="3744468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982211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CapitalIQ（可改用 S&amp;P 已串接來源）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178807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Daloopa（公開財務資料供應商）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訂閱外部資料源並取得授權金鑰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客製建模慣例（WACC 組成、色碼、計算慣例）與各模型範本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64224" y="4576571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92240" y="4576571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978907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VRT 估值模型（DCF · 從零建）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234939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計算格全用公式、可追溯回輸入；含 5×5 WACC×g 敏感度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545835"/>
            <a:ext cx="3865361" cy="1092708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中台 · 開戶審查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開戶審查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(kyc-screener)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法令遵循部／防制洗錢專責單位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防制洗錢專責人員、開戶徵信人員、法遵人員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3A2E"/>
                </a:solidFill>
                <a:latin typeface="Microsoft JhengHei"/>
              </a:rPr>
              <a:t>高風險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開戶審查助理：解析開戶文件、套用反洗錢規則並比對黑名單，產出給合規人員的盡職調查報告。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新客戶開戶或定期複審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讀開戶文件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讀出公司名稱、實際出資人、地址、證件號等基本資料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開戶文件包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由唯讀子代理隔離抽取欄位（公司名、實際出資人、地址、證件號），留空不猜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結構化客戶資料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63931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3016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逐條套規則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849624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對照開戶與反洗錢規則，標出通過／不通過並附證據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63016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以規則引擎逐條套反洗錢規則並評分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8176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每條規則通過／不通過與證據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7091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7091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70001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比對黑名單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919472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對每位相關人查制裁、政治公眾人物與負面新聞是否命中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7000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接篩查資料源，比對制裁名單、政治公眾人物、負面新聞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50474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名單命中與信心度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7790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7790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76986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整理待簽報告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989320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把缺漏與命中整理成報告，送合規人員簽核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76986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由唯一可寫角色打包報告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9573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盡職調查報告（待合規簽核）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不可信文件先隔離抽取、嚴格限定格式，擋在流程外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118104"/>
            <a:ext cx="2587751" cy="2809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查不到就留空、不捏造；主</a:t>
            </a:r>
            <a:r>
              <a:rPr lang="en-US" sz="900" b="0" u="none" dirty="0" err="1">
                <a:solidFill>
                  <a:srgbClr val="1E2A36"/>
                </a:solidFill>
                <a:latin typeface="Microsoft JhengHei"/>
              </a:rPr>
              <a:t>Agent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永不寫檔，僅合規人員可核准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0800" y="354787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78561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名單篩查資料源（制裁／政治公眾人物／負面新聞，唯讀）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串接公司名單篩查服務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客製公司開戶與反洗錢規則、風險評分門檻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64224" y="4325112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325112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727448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開戶盡職調查 — 5 件申請處置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983480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規則引擎評分 + 名單比對（制裁／PEP／負面新聞）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294376"/>
            <a:ext cx="4722752" cy="1344168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後台 · 基金行政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總帳對帳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(gl-reconciler)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基金行政／後台作業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基金會計、結算交割人員、會計主管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3A2E"/>
                </a:solidFill>
                <a:latin typeface="Microsoft JhengHei"/>
              </a:rPr>
              <a:t>高風險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總帳對帳助理：比對總帳與子帳找出差異並追根因，產出給控制員的例外報告。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每天／月底要對帳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拉出兩邊的帳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把總帳與子帳在指定日期、資產上的餘額拉出來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總帳、子帳（指定交易日）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接公司內部總帳與子帳系統（皆唯讀），拉兩邊餘額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對帳基準資料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45643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4564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44728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比對找差異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666744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逐類比對，挑出超過容許範圍的差異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44728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每個資產類別並行比對，挑出超過容差的差異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6347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差異清單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25424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25424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24510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追查原因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464558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一筆筆往下追：時間差、系統落差還是分類錯誤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24510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逐筆追根因並分類（時間差／系統落差／重分類／不明）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59257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差異根因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0966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09663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087493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獨立複查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306949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由獨立角色拿可信來源重查，濾掉假差異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08749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獨立角色拿可信來源對抗式重查、濾掉假差異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8328" y="59390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38328" y="59390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92988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產出例外報告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" y="6149340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整理成可供控制員簽核的例外清單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59298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整理成可供控制員簽核的例外清單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611733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例外報告（待控制員簽核）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對帳單一律當不可信、先隔離讀取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976372"/>
            <a:ext cx="2807207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由獨立角色對抗式重查，濾掉誤報、只送真差異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400800" y="3203361"/>
            <a:ext cx="2807207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對不上就如實攤開、不硬湊；助理永不過帳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400800" y="3602736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840480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公司內部總帳系統、子帳明細系統（皆唯讀）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串接公司內部總帳與子帳系統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設定容差門檻、科目對應表與追根因規則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64224" y="4238244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92240" y="4238244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640579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總帳 vs 子帳 對帳 — 例外清單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896612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逐類比對 + 獨立對抗式複查（待控制員簽核）</a:t>
            </a:r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207507"/>
            <a:ext cx="4621979" cy="1431036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63" name="TextBox 62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後台 · 基金行政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月底結帳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(month-end-closer)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基金行政／財務會計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基金會計、會計主管、財務長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3A2E"/>
                </a:solidFill>
                <a:latin typeface="Microsoft JhengHei"/>
              </a:rPr>
              <a:t>高風險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月結作業助理：計算應計與結轉、說明科目差異，產出給控制員的月結包。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每月底結帳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拉出試算表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依指定公司與月份調出該月全科目餘額，當結帳起點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實體、期間（年-月）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接公司內部總帳（唯讀），抓該期間全科目餘額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試算表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63931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3016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算應計與結轉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849624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估列應計、推算結轉，並驗算期初＋變動＝期末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63016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估列應計、推算結轉，內建驗算「期初＋變動－沖回＝期末」必須對得上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977639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應計與結轉表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7091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7091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70001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說明差異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919472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對變動較大科目從實際活動解釋原因，不硬湊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7000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對重大科目做差異說明，原因不明就標示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88746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差異說明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7790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7790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76986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組裝結帳包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989320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檢查無誤後整理成結帳包，暫存等主管簽核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76986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由唯一可寫角色組裝結帳包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9573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月結包（待控制員簽核）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自我驗算內建在「結轉必須對得上」的檢查裡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976372"/>
            <a:ext cx="2587751" cy="2809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對不上就攤開、原因不明就標示、不瞎掰；</a:t>
            </a:r>
            <a:r>
              <a:rPr lang="en-US" sz="900" b="0" u="none" dirty="0" err="1">
                <a:solidFill>
                  <a:srgbClr val="1E2A36"/>
                </a:solidFill>
                <a:latin typeface="Microsoft JhengHei"/>
              </a:rPr>
              <a:t>Agent</a:t>
            </a:r>
            <a:r>
              <a:rPr sz="900" b="0" u="none" dirty="0" err="1">
                <a:solidFill>
                  <a:srgbClr val="1E2A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永</a:t>
            </a:r>
            <a:r>
              <a:rPr lang="zh-TW" altLang="en-US" sz="900" dirty="0">
                <a:solidFill>
                  <a:srgbClr val="1E2A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遠</a:t>
            </a:r>
            <a:r>
              <a:rPr sz="900" b="0" u="none" dirty="0">
                <a:solidFill>
                  <a:srgbClr val="1E2A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</a:t>
            </a:r>
            <a:r>
              <a:rPr lang="zh-TW" altLang="en-US" sz="900" b="0" u="none" dirty="0">
                <a:solidFill>
                  <a:srgbClr val="1E2A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會自動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過帳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0800" y="3406140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3643884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公司內部總帳系統（唯讀）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串接公司內部總帳系統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設定重大性門檻與應計、結轉慣例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64224" y="4224528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0" y="4224528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26864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月結包 — 應計、結轉與差異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882896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內建「期初＋變動－沖回＝期末」驗算（待控制員簽核）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193792"/>
            <a:ext cx="4910268" cy="1444752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後台 · 基金行政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估值複核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(valuation-reviewer)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基金行政／財務會計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基金會計主管、投資人關係（IR）、法遵長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3A2E"/>
                </a:solidFill>
                <a:latin typeface="Microsoft JhengHei"/>
              </a:rPr>
              <a:t>高風險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投組估值複核助理：季末複核投資標的估值並計算收益分配，產出給出資人的報告包。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季末估值與收益分配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讀估值資料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從各被投資公司估值報告讀出回報的估值數字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基金、評估基準日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由隔離子代理（只讀、無外部串接），解析各被投資公司估值輸入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回報估值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363931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30168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複核估值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3849624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拿數字對照公司估值政策，檢查合不合理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63016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接公司投組資料源（唯讀），把回報估值對照估值政策複核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977639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估值複核結果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47091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47091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470001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計算收益分配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4919472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算基金淨值、績效分成與每位出資人分得多少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47000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計算基金淨值、績效分成與各出資人分配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88746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收益分配（依約定順序）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" y="57790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" y="57790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76986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備妥出資人報告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989320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整理成出資人報告包，待投資人關係＋法遵長簽核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576986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由唯一可寫角色備妥報告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95731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出資人報告包（待 IR＋法遵長簽核）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外部估值包視為不可信、先隔離讀取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976372"/>
            <a:ext cx="2743200" cy="135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回報估值一律對照公司估值政策複核，不照單全收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0800" y="3195828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 dirty="0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 dirty="0" err="1">
                <a:solidFill>
                  <a:srgbClr val="1E2A36"/>
                </a:solidFill>
                <a:latin typeface="Microsoft JhengHei"/>
              </a:rPr>
              <a:t>報告需投資人關係＋法遵長簽核後才分送</a:t>
            </a:r>
            <a:endParaRPr sz="900" b="0" u="none" dirty="0">
              <a:solidFill>
                <a:srgbClr val="1E2A36"/>
              </a:solidFill>
              <a:latin typeface="Microsoft JhengHe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00800" y="3602736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3840480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公司投組資料來源（唯讀）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串接公司投組系統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設定估值政策、收益分配條款與績效分成規則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64224" y="4238244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92240" y="4238244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640579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季末估值複核 + 收益分配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896612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GP 估值對照公司政策、獨立重算優先報酬（待 IR＋法遵長簽核）</a:t>
            </a: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207507"/>
            <a:ext cx="3896014" cy="1431036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58" name="TextBox 57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128016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B5842B"/>
                </a:solidFill>
                <a:latin typeface="Microsoft JhengHei"/>
              </a:rPr>
              <a:t>後台 · 基金行政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JhengHei"/>
              </a:rPr>
              <a:t>對帳單稽核 Agent  </a:t>
            </a:r>
            <a:r>
              <a:rPr sz="1300" b="0">
                <a:solidFill>
                  <a:srgbClr val="C4D0DE"/>
                </a:solidFill>
                <a:latin typeface="Microsoft JhengHei"/>
              </a:rPr>
              <a:t>(statement-auditor)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適合部門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基金行政／後台作業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B5842B"/>
                </a:solidFill>
                <a:latin typeface="Microsoft JhengHei"/>
              </a:rPr>
              <a:t>適合角色  </a:t>
            </a:r>
            <a:r>
              <a:rPr sz="1100" b="0" u="none">
                <a:solidFill>
                  <a:srgbClr val="FFFFFF"/>
                </a:solidFill>
                <a:latin typeface="Microsoft JhengHei"/>
              </a:rPr>
              <a:t>基金會計、內部稽核、投資人關係（IR）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47548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95560" y="475488"/>
            <a:ext cx="1691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3A2E"/>
                </a:solidFill>
                <a:latin typeface="Microsoft JhengHei"/>
              </a:rPr>
              <a:t>高風險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1548872" cy="548640"/>
          </a:xfrm>
          <a:prstGeom prst="rect">
            <a:avLst/>
          </a:prstGeom>
          <a:solidFill>
            <a:srgbClr val="F2F4F7"/>
          </a:solidFill>
          <a:ln w="12700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5532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用途  </a:t>
            </a:r>
            <a:r>
              <a:rPr sz="1100" b="0" i="0">
                <a:solidFill>
                  <a:srgbClr val="1E2A36"/>
                </a:solidFill>
                <a:latin typeface="Microsoft JhengHei"/>
              </a:rPr>
              <a:t>對帳單稽核助理：出資人對帳單寄出前逐欄核對基金淨值，產出例外清單與放行建議。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417320"/>
            <a:ext cx="544982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5842B"/>
                </a:solidFill>
                <a:latin typeface="Microsoft JhengHei"/>
              </a:rPr>
              <a:t>何時用  </a:t>
            </a:r>
            <a:r>
              <a:rPr sz="1100" b="1" i="0">
                <a:solidFill>
                  <a:srgbClr val="16314B"/>
                </a:solidFill>
                <a:latin typeface="Microsoft JhengHei"/>
              </a:rPr>
              <a:t>對帳單分送前的最後把關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03120"/>
            <a:ext cx="267004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" y="2103120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運作流程總覽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72384" y="2103120"/>
            <a:ext cx="3154680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21031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細節  &amp;  對應產出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" y="256946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" y="256946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讀對帳單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779776"/>
            <a:ext cx="2249424" cy="758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由隔離子代理（只讀）讀出各出資人回報餘額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5603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輸入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對帳單批次、基金淨值資料包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7660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由隔離子代理（只讀、無外部串接），讀出各出資人回報餘額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135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對帳單資料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" y="425424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" y="425424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424510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逐欄核對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" y="4464558"/>
            <a:ext cx="224942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接公司基金淨值來源（唯讀），逐欄比對，比對本身即驗證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4510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接公司基金淨值來源（唯讀），逐欄比對，比對本身即驗證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459257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逐欄核對結果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" y="59390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" y="59390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929884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u="none">
                <a:solidFill>
                  <a:srgbClr val="16314B"/>
                </a:solidFill>
                <a:latin typeface="Microsoft JhengHei"/>
              </a:rPr>
              <a:t>標出差異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6149340"/>
            <a:ext cx="2249424" cy="4251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1E2A36"/>
                </a:solidFill>
                <a:latin typeface="Microsoft JhengHei"/>
              </a:rPr>
              <a:t>由唯一可寫角色整理對不上欄位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59298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16314B"/>
                </a:solidFill>
                <a:latin typeface="Microsoft JhengHei"/>
              </a:rPr>
              <a:t>流程　</a:t>
            </a:r>
            <a:r>
              <a:rPr sz="950" b="0" u="none">
                <a:solidFill>
                  <a:srgbClr val="1E2A36"/>
                </a:solidFill>
                <a:latin typeface="Microsoft JhengHei"/>
              </a:rPr>
              <a:t>由唯一可寫角色整理對不上欄位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611733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u="none">
                <a:solidFill>
                  <a:srgbClr val="B5842B"/>
                </a:solidFill>
                <a:latin typeface="Microsoft JhengHei"/>
              </a:rPr>
              <a:t>產出 → 例外清單與過／留建議（待 IR 簽核）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2103120"/>
            <a:ext cx="5504688" cy="310896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92240" y="2103120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</a:rPr>
              <a:t>調整與注意事項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資料如何驗證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對帳單視為不可信外來資料、先隔離讀取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逐欄核對的動作本身即為驗證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172968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助理不自行分送，投資人關係簽核後才寄出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461003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用到哪些資料源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3698748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公司基金淨值來源（唯讀）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7" y="2542032"/>
            <a:ext cx="258775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u="sng">
                <a:solidFill>
                  <a:srgbClr val="B5842B"/>
                </a:solidFill>
                <a:latin typeface="Microsoft JhengHei"/>
              </a:rPr>
              <a:t>上線前須補齊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08007" y="2779776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串接公司基金淨值來源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8007" y="2976372"/>
            <a:ext cx="2587751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16314B"/>
                </a:solidFill>
                <a:latin typeface="Microsoft JhengHei"/>
              </a:rPr>
              <a:t>·  </a:t>
            </a:r>
            <a:r>
              <a:rPr sz="900" b="0" u="none">
                <a:solidFill>
                  <a:srgbClr val="1E2A36"/>
                </a:solidFill>
                <a:latin typeface="Microsoft JhengHei"/>
              </a:rPr>
              <a:t>設定核對欄位對應與差異判定規則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4224" y="4224528"/>
            <a:ext cx="5504688" cy="310896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4224528"/>
            <a:ext cx="532180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F2F2"/>
                </a:solidFill>
                <a:latin typeface="Microsoft JhengHei"/>
              </a:rPr>
              <a:t>實際成果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626864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u="none">
                <a:solidFill>
                  <a:srgbClr val="16314B"/>
                </a:solidFill>
                <a:latin typeface="Microsoft JhengHei"/>
              </a:rPr>
              <a:t>出資人對帳單稽核 — 逐欄核對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882896"/>
            <a:ext cx="543153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u="none">
                <a:solidFill>
                  <a:srgbClr val="6B7785"/>
                </a:solidFill>
                <a:latin typeface="Microsoft JhengHei"/>
              </a:rPr>
              <a:t>對帳單 vs 基金官方 NAV，比對本身即驗證（待 IR 簽核）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193792"/>
            <a:ext cx="5431536" cy="1347438"/>
          </a:xfrm>
          <a:prstGeom prst="rect">
            <a:avLst/>
          </a:prstGeom>
          <a:ln w="12700">
            <a:solidFill>
              <a:srgbClr val="D9DEE5"/>
            </a:solidFill>
          </a:ln>
        </p:spPr>
      </p:pic>
      <p:sp>
        <p:nvSpPr>
          <p:cNvPr id="52" name="TextBox 51"/>
          <p:cNvSpPr txBox="1"/>
          <p:nvPr/>
        </p:nvSpPr>
        <p:spPr>
          <a:xfrm>
            <a:off x="1133856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785"/>
                </a:solidFill>
                <a:latin typeface="Microsoft JhengHei"/>
              </a:rP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510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B7785"/>
                </a:solidFill>
                <a:latin typeface="Microsoft JhengHei"/>
              </a:rPr>
              <a:t>Anthropic Financial · 10 Agents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B5842B"/>
                </a:solidFill>
                <a:latin typeface="Microsoft JhengHei"/>
                <a:ea typeface="Microsoft JhengHei"/>
              </a:rPr>
              <a:t>結語 · 設計理念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87552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icrosoft JhengHei"/>
                <a:ea typeface="Microsoft JhengHei"/>
              </a:rPr>
              <a:t>十個 Agent，覆蓋一家金融公司的完整生命週期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6D2DE"/>
                </a:solidFill>
                <a:latin typeface="Microsoft JhengHei"/>
                <a:ea typeface="Microsoft JhengHei"/>
              </a:rPr>
              <a:t>從「贏得業務 → 開戶 → 基金營運 → 對出資人交代」，一套設定、兩種用法，把關程度依風險高低調整。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5394960" cy="132588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 w="1270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514600"/>
            <a:ext cx="91440" cy="132588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原則一　風險越高，隔離越嚴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6D2DE"/>
                </a:solidFill>
                <a:latin typeface="Microsoft JhengHei"/>
                <a:ea typeface="Microsoft JhengHei"/>
              </a:rPr>
              <a:t>前台／研究放寬，主代理可直接寫入檔案；後台／合規嚴格，主代理一律不寫檔。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514600"/>
            <a:ext cx="5394960" cy="132588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 w="1270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514600"/>
            <a:ext cx="91440" cy="1325880"/>
          </a:xfrm>
          <a:prstGeom prst="rect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icrosoft JhengHei"/>
                <a:ea typeface="Microsoft JhengHei"/>
              </a:rPr>
              <a:t>原則二　人，永遠是最後一關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10896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6D2DE"/>
                </a:solidFill>
                <a:latin typeface="Microsoft JhengHei"/>
                <a:ea typeface="Microsoft JhengHei"/>
              </a:rPr>
              <a:t>所有 Agent 只起草／建議，從不自決 —— 開戶、過帳、發布、分送皆由人簽核。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972800" cy="1554480"/>
          </a:xfrm>
          <a:prstGeom prst="roundRect">
            <a:avLst>
              <a:gd name="adj" fmla="val 3000"/>
            </a:avLst>
          </a:prstGeom>
          <a:solidFill>
            <a:srgbClr val="122A40"/>
          </a:solidFill>
          <a:ln w="15875">
            <a:solidFill>
              <a:srgbClr val="B58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842B"/>
                </a:solidFill>
                <a:latin typeface="Microsoft JhengHei"/>
                <a:ea typeface="Microsoft JhengHei"/>
              </a:rPr>
              <a:t>建議的下一步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4709160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15568" y="4645152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icrosoft JhengHei"/>
                <a:ea typeface="Microsoft JhengHei"/>
              </a:rPr>
              <a:t>先以前台研究四支做小範圍試跑，用公司真實主題驗證價值（最快見效）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5047488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15568" y="4983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icrosoft JhengHei"/>
                <a:ea typeface="Microsoft JhengHei"/>
              </a:rPr>
              <a:t>同步盤點中後台要對接的內部系統與法遵流程，規劃第三批導入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" y="5385816"/>
            <a:ext cx="91440" cy="91440"/>
          </a:xfrm>
          <a:prstGeom prst="ellipse">
            <a:avLst/>
          </a:prstGeom>
          <a:solidFill>
            <a:srgbClr val="B58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15568" y="532180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icrosoft JhengHei"/>
                <a:ea typeface="Microsoft JhengHei"/>
              </a:rPr>
              <a:t>與 Anthropic 確認商業合作範圍、支援與導入時程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B0C2"/>
                </a:solidFill>
                <a:latin typeface="Microsoft JhengHei"/>
                <a:ea typeface="Microsoft JhengHei"/>
              </a:rPr>
              <a:t>每個 Agent 的完整工作流程、風險把關、技術架構與上線清單，另見隨附文件。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2571</Words>
  <Application>Microsoft Office PowerPoint</Application>
  <PresentationFormat>寬螢幕</PresentationFormat>
  <Paragraphs>693</Paragraphs>
  <Slides>24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29" baseType="lpstr">
      <vt:lpstr>微軟正黑體</vt:lpstr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a802216 arthur</cp:lastModifiedBy>
  <cp:revision>3</cp:revision>
  <dcterms:created xsi:type="dcterms:W3CDTF">2013-01-27T09:14:16Z</dcterms:created>
  <dcterms:modified xsi:type="dcterms:W3CDTF">2026-06-22T05:29:15Z</dcterms:modified>
  <cp:category/>
</cp:coreProperties>
</file>