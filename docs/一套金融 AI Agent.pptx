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321" r:id="rId2"/>
    <p:sldId id="260" r:id="rId3"/>
    <p:sldId id="309" r:id="rId4"/>
    <p:sldId id="310" r:id="rId5"/>
    <p:sldId id="311" r:id="rId6"/>
    <p:sldId id="293" r:id="rId7"/>
    <p:sldId id="365" r:id="rId8"/>
    <p:sldId id="313" r:id="rId9"/>
    <p:sldId id="314" r:id="rId10"/>
    <p:sldId id="315" r:id="rId11"/>
    <p:sldId id="298" r:id="rId12"/>
    <p:sldId id="363" r:id="rId13"/>
    <p:sldId id="358" r:id="rId14"/>
    <p:sldId id="359" r:id="rId15"/>
    <p:sldId id="352" r:id="rId16"/>
    <p:sldId id="362" r:id="rId17"/>
    <p:sldId id="338" r:id="rId18"/>
    <p:sldId id="335" r:id="rId19"/>
    <p:sldId id="353" r:id="rId20"/>
    <p:sldId id="329" r:id="rId21"/>
    <p:sldId id="350" r:id="rId22"/>
    <p:sldId id="320" r:id="rId2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93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113" autoAdjust="0"/>
    <p:restoredTop sz="94660"/>
  </p:normalViewPr>
  <p:slideViewPr>
    <p:cSldViewPr snapToGrid="0">
      <p:cViewPr varScale="1">
        <p:scale>
          <a:sx n="89" d="100"/>
          <a:sy n="89" d="100"/>
        </p:scale>
        <p:origin x="114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687C1-EE26-5BF6-8E7A-5F1AAF64E6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AEDED6A-ACB1-B39C-E743-110C6A18A4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834C7E4-74F1-02E3-D9B7-062570D16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542F2-8D1A-41C7-A8DE-95AC1360D390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1CE309C-3232-2886-AB85-AF558C3ED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5C0B0E4-DA19-3F60-6921-7E291C473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FAD38-D942-49DD-B657-2D78F40AF13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1619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3C3C84-6674-BDA2-0B32-0A2E906D6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CA88B4-D011-BFBD-ACC4-73BD58201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47D0546-AB65-1A8D-A9E8-C492AE2D1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542F2-8D1A-41C7-A8DE-95AC1360D390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2DAB8E-1FA1-EF08-1ECB-00B4DC943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115B235-5AE2-D963-7098-7E29250B3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FAD38-D942-49DD-B657-2D78F40AF13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4053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A214D6-2732-9D29-F5CD-27969EF48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47354D9-66DF-2336-D4CA-192CC8114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76D8E7B-E1CE-EE9B-CD72-588D6194A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542F2-8D1A-41C7-A8DE-95AC1360D390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40BC57F-9031-6EB6-D8CC-E654ABBD8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F3CE10D-58A4-FA05-C288-0D5287674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FAD38-D942-49DD-B657-2D78F40AF13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130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2E3CC4-73ED-EDAF-7354-43F887B7D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B814B1-7936-8863-5F16-958F52E304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34422AC-316D-CCBD-D7FD-48F11464BD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998AD45-6873-F8AE-978B-61348464C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542F2-8D1A-41C7-A8DE-95AC1360D390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3E9BEC2-CE84-9275-4BFF-B999E1E5A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533C0CB-F509-05CB-4EAE-AFB90336C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FAD38-D942-49DD-B657-2D78F40AF13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3993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37D49B-186E-35F2-C382-12363F5F8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6008F46-89D5-9216-6080-993634E095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8449E83-814D-9FF8-2266-F5ED3C4CD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F15395C-E0E2-914E-84FC-55B0559296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D2622F7-8A4F-6A12-F85E-A7292983D9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931CA8A-04CC-32CD-01ED-5240400F5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542F2-8D1A-41C7-A8DE-95AC1360D390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05B2ABC-519C-583C-3A60-B9EA451E5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06ED8530-6619-7F6D-9E5C-CD696319F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FAD38-D942-49DD-B657-2D78F40AF13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52065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BD1F72-E626-D808-1DFD-A05BC6735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0B1F583-0B0C-36C4-C689-4D11D0C09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542F2-8D1A-41C7-A8DE-95AC1360D390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E3D3653-8079-3917-0538-5A144620A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778F7F1-399F-546A-53A2-776E0CC94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FAD38-D942-49DD-B657-2D78F40AF13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15370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9779873-0A93-DEE1-1C82-07431B508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542F2-8D1A-41C7-A8DE-95AC1360D390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32D6F4F-4994-0C0E-2126-BBFC047E7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6E6464F-9D66-677A-31A3-D137BF746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FAD38-D942-49DD-B657-2D78F40AF13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32994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21779A-ED4E-4462-CF0B-82D3A30CA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79D48A9-FB15-A99E-AC5D-F6F797F36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21D4E88-DFA0-0D19-D621-9C5A6DFA1B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A71F443-6727-3D0B-C526-9197C54B5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542F2-8D1A-41C7-A8DE-95AC1360D390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9F268EE-0682-3370-1D38-936801332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8F92489-9034-7288-5C10-A8183450D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FAD38-D942-49DD-B657-2D78F40AF13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7675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376D87-4431-6D0C-1236-C1510E39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742CE0E-9657-2778-5762-8F58D5F104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22E1360-A186-5973-98E0-B263C10B40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561EB2A-9D59-28E3-6BAF-469AF759E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542F2-8D1A-41C7-A8DE-95AC1360D390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0938A2D-F4CD-8A20-5D5D-871582A1A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210279D-C51A-DF8F-9465-D63185AD5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FAD38-D942-49DD-B657-2D78F40AF13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8895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17B5F8-9295-7399-99EE-5DBE969DB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CF9EC8A-8058-623D-B3B1-456118BAE0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75F5D61-B23F-7B5D-3912-B90782F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542F2-8D1A-41C7-A8DE-95AC1360D390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CE1C374-AD8A-F216-EA36-136D89311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68AE149-CE02-05FA-2650-8D4C7FC5C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FAD38-D942-49DD-B657-2D78F40AF13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0433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4013471-6746-BA91-7935-92204B8B85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B9488A8-9227-C6B3-71C8-0C795EF787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DE953A0-C6B4-D8E1-4377-B60A0598D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542F2-8D1A-41C7-A8DE-95AC1360D390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A880B32-024E-1EFE-4DA4-DB7FE277B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6C39F88-0B11-D62D-E7CF-E15BAE85C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FAD38-D942-49DD-B657-2D78F40AF13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0906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CB7D96A0-52F5-0192-D8A1-14183BDF6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C2B6EFF-0815-1EF4-1311-CD8AEA244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69B02F3-03DC-55D2-3171-7892D70347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A542F2-8D1A-41C7-A8DE-95AC1360D390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3023689-F172-61F0-D440-3BA3313710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8B4C7C-08C0-5A63-1B69-3FA69C2390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3FAD38-D942-49DD-B657-2D78F40AF13F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990" name="AccentBar"/>
          <p:cNvSpPr/>
          <p:nvPr/>
        </p:nvSpPr>
        <p:spPr>
          <a:xfrm>
            <a:off x="0" y="6353175"/>
            <a:ext cx="2057400" cy="45720"/>
          </a:xfrm>
          <a:prstGeom prst="rect">
            <a:avLst/>
          </a:prstGeom>
          <a:solidFill>
            <a:srgbClr val="1B8EA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61103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F2A44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05C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44108C-04EC-3A8A-3E5C-D33F9E841E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zh-TW" sz="4400" b="1" dirty="0"/>
              <a:t>一套金融 AI Agent 班底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13BADE5-5845-D2B5-02EB-F3D145AD40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zh-TW" sz="2000" b="1" dirty="0">
                <a:solidFill>
                  <a:schemeClr val="accent1"/>
                </a:solidFill>
              </a:rPr>
              <a:t>贏得業務　→　開戶　→　基金營運　→　對出資人交代</a:t>
            </a:r>
          </a:p>
          <a:p>
            <a:pPr algn="ctr"/>
            <a:r>
              <a:rPr lang="zh-TW" sz="1600" dirty="0">
                <a:solidFill>
                  <a:schemeClr val="accent5"/>
                </a:solidFill>
              </a:rPr>
              <a:t>十個 Agent · 一個</a:t>
            </a:r>
            <a:r>
              <a:rPr lang="zh-TW" altLang="en-US" sz="1600" dirty="0">
                <a:solidFill>
                  <a:schemeClr val="accent5"/>
                </a:solidFill>
              </a:rPr>
              <a:t>金融操作的</a:t>
            </a:r>
            <a:r>
              <a:rPr lang="zh-TW" sz="1600" dirty="0">
                <a:solidFill>
                  <a:schemeClr val="accent5"/>
                </a:solidFill>
              </a:rPr>
              <a:t>完整生命週期</a:t>
            </a:r>
          </a:p>
        </p:txBody>
      </p:sp>
    </p:spTree>
    <p:extLst>
      <p:ext uri="{BB962C8B-B14F-4D97-AF65-F5344CB8AC3E}">
        <p14:creationId xmlns:p14="http://schemas.microsoft.com/office/powerpoint/2010/main" val="30205221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7B165E-CAED-1A19-6188-B0F2EC69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000" b="1" dirty="0"/>
              <a:t>第一段　高層總覽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F3BA1E2-09E3-C34E-3230-C8452B27BC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b="1" dirty="0">
                <a:solidFill>
                  <a:schemeClr val="accent1"/>
                </a:solidFill>
              </a:rPr>
              <a:t>PART 01　·　商業視角</a:t>
            </a:r>
          </a:p>
          <a:p>
            <a:r>
              <a:rPr lang="zh-TW" sz="1600" dirty="0">
                <a:solidFill>
                  <a:schemeClr val="accent5"/>
                </a:solidFill>
              </a:rPr>
              <a:t>十個 Agent</a:t>
            </a:r>
            <a:r>
              <a:rPr lang="zh-TW" altLang="en-US" sz="1600" dirty="0">
                <a:solidFill>
                  <a:schemeClr val="accent5"/>
                </a:solidFill>
              </a:rPr>
              <a:t>，</a:t>
            </a:r>
            <a:r>
              <a:rPr lang="zh-TW" sz="1600" dirty="0">
                <a:solidFill>
                  <a:schemeClr val="accent5"/>
                </a:solidFill>
              </a:rPr>
              <a:t>如何串成一家金融公司的完整生命週期</a:t>
            </a:r>
          </a:p>
        </p:txBody>
      </p:sp>
    </p:spTree>
    <p:extLst>
      <p:ext uri="{BB962C8B-B14F-4D97-AF65-F5344CB8AC3E}">
        <p14:creationId xmlns:p14="http://schemas.microsoft.com/office/powerpoint/2010/main" val="2126538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群組 5">
            <a:extLst>
              <a:ext uri="{FF2B5EF4-FFF2-40B4-BE49-F238E27FC236}">
                <a16:creationId xmlns:a16="http://schemas.microsoft.com/office/drawing/2014/main" id="{34EDF87C-ED04-F643-BB4B-1A3525D9F279}"/>
              </a:ext>
            </a:extLst>
          </p:cNvPr>
          <p:cNvGrpSpPr/>
          <p:nvPr/>
        </p:nvGrpSpPr>
        <p:grpSpPr>
          <a:xfrm>
            <a:off x="457200" y="1905000"/>
            <a:ext cx="2641600" cy="4419600"/>
            <a:chOff x="457200" y="1905000"/>
            <a:chExt cx="2641600" cy="4419600"/>
          </a:xfrm>
        </p:grpSpPr>
        <p:sp>
          <p:nvSpPr>
            <p:cNvPr id="500" name="body0"/>
            <p:cNvSpPr/>
            <p:nvPr/>
          </p:nvSpPr>
          <p:spPr>
            <a:xfrm>
              <a:off x="457200" y="2667000"/>
              <a:ext cx="2641600" cy="3657600"/>
            </a:xfrm>
            <a:prstGeom prst="rect">
              <a:avLst/>
            </a:prstGeom>
            <a:solidFill>
              <a:srgbClr val="EEF2FA"/>
            </a:solidFill>
            <a:ln w="9525">
              <a:solidFill>
                <a:srgbClr val="1B8EA6">
                  <a:alpha val="35000"/>
                </a:srgbClr>
              </a:solidFill>
            </a:ln>
          </p:spPr>
          <p:txBody>
            <a:bodyPr lIns="114300" tIns="114300" rIns="91440" bIns="91440" anchor="t"/>
            <a:lstStyle/>
            <a:p>
              <a:pPr>
                <a:spcBef>
                  <a:spcPts val="700"/>
                </a:spcBef>
              </a:pPr>
              <a:r>
                <a:rPr lang="en-US" sz="1500" b="1" dirty="0">
                  <a:solidFill>
                    <a:srgbClr val="1B8EA6"/>
                  </a:solidFill>
                </a:rPr>
                <a:t>pitch-agent</a:t>
              </a:r>
            </a:p>
            <a:p>
              <a:r>
                <a:rPr lang="zh-TW" sz="1400" dirty="0">
                  <a:solidFill>
                    <a:srgbClr val="4A5468"/>
                  </a:solidFill>
                </a:rPr>
                <a:t>自動產 同業比較＋估值＋品牌提案簡報</a:t>
              </a:r>
            </a:p>
            <a:p>
              <a:pPr>
                <a:spcBef>
                  <a:spcPts val="700"/>
                </a:spcBef>
              </a:pPr>
              <a:r>
                <a:rPr lang="en-US" sz="1500" b="1" dirty="0">
                  <a:solidFill>
                    <a:srgbClr val="1B8EA6"/>
                  </a:solidFill>
                </a:rPr>
                <a:t>meeting-prep-agent</a:t>
              </a:r>
            </a:p>
            <a:p>
              <a:r>
                <a:rPr lang="zh-TW" sz="1400" dirty="0">
                  <a:solidFill>
                    <a:srgbClr val="4A5468"/>
                  </a:solidFill>
                </a:rPr>
                <a:t>會前抓關係、持倉、市場動態做簡報包</a:t>
              </a:r>
            </a:p>
          </p:txBody>
        </p:sp>
        <p:sp>
          <p:nvSpPr>
            <p:cNvPr id="501" name="hdr0"/>
            <p:cNvSpPr/>
            <p:nvPr/>
          </p:nvSpPr>
          <p:spPr>
            <a:xfrm>
              <a:off x="457200" y="1905000"/>
              <a:ext cx="2641600" cy="762000"/>
            </a:xfrm>
            <a:prstGeom prst="rect">
              <a:avLst/>
            </a:prstGeom>
            <a:solidFill>
              <a:srgbClr val="1B8EA6"/>
            </a:solidFill>
            <a:ln>
              <a:noFill/>
            </a:ln>
          </p:spPr>
          <p:txBody>
            <a:bodyPr lIns="114300" rIns="91440" anchor="ctr"/>
            <a:lstStyle/>
            <a:p>
              <a:r>
                <a:rPr lang="zh-TW" sz="1400" dirty="0">
                  <a:solidFill>
                    <a:srgbClr val="FFFFFF">
                      <a:alpha val="75000"/>
                    </a:srgbClr>
                  </a:solidFill>
                </a:rPr>
                <a:t>前台</a:t>
              </a:r>
            </a:p>
            <a:p>
              <a:r>
                <a:rPr lang="zh-TW" sz="1800" b="1" dirty="0">
                  <a:solidFill>
                    <a:srgbClr val="FFFFFF"/>
                  </a:solidFill>
                </a:rPr>
                <a:t>客戶經營與顧問</a:t>
              </a:r>
            </a:p>
          </p:txBody>
        </p: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9B830A4C-2345-CC54-43E6-8C1E8C15EFF2}"/>
              </a:ext>
            </a:extLst>
          </p:cNvPr>
          <p:cNvGrpSpPr/>
          <p:nvPr/>
        </p:nvGrpSpPr>
        <p:grpSpPr>
          <a:xfrm>
            <a:off x="3302000" y="1905000"/>
            <a:ext cx="2641600" cy="4419600"/>
            <a:chOff x="3302000" y="1905000"/>
            <a:chExt cx="2641600" cy="4419600"/>
          </a:xfrm>
        </p:grpSpPr>
        <p:sp>
          <p:nvSpPr>
            <p:cNvPr id="502" name="body1"/>
            <p:cNvSpPr/>
            <p:nvPr/>
          </p:nvSpPr>
          <p:spPr>
            <a:xfrm>
              <a:off x="3302000" y="2667000"/>
              <a:ext cx="2641600" cy="3657600"/>
            </a:xfrm>
            <a:prstGeom prst="rect">
              <a:avLst/>
            </a:prstGeom>
            <a:solidFill>
              <a:srgbClr val="E8F3F0"/>
            </a:solidFill>
            <a:ln w="9525">
              <a:solidFill>
                <a:srgbClr val="34A56E">
                  <a:alpha val="35000"/>
                </a:srgbClr>
              </a:solidFill>
            </a:ln>
          </p:spPr>
          <p:txBody>
            <a:bodyPr lIns="114300" tIns="114300" rIns="91440" bIns="91440" anchor="t"/>
            <a:lstStyle/>
            <a:p>
              <a:pPr>
                <a:spcBef>
                  <a:spcPts val="700"/>
                </a:spcBef>
              </a:pPr>
              <a:r>
                <a:rPr lang="en-US" sz="1500" b="1" dirty="0">
                  <a:solidFill>
                    <a:srgbClr val="34A56E"/>
                  </a:solidFill>
                </a:rPr>
                <a:t>market-researcher</a:t>
              </a:r>
            </a:p>
            <a:p>
              <a:r>
                <a:rPr lang="zh-TW" sz="1400" dirty="0">
                  <a:solidFill>
                    <a:srgbClr val="4A5468"/>
                  </a:solidFill>
                </a:rPr>
                <a:t>產業／主題研究報告</a:t>
              </a:r>
            </a:p>
            <a:p>
              <a:pPr>
                <a:spcBef>
                  <a:spcPts val="700"/>
                </a:spcBef>
              </a:pPr>
              <a:r>
                <a:rPr lang="en-US" sz="1500" b="1" dirty="0">
                  <a:solidFill>
                    <a:srgbClr val="34A56E"/>
                  </a:solidFill>
                </a:rPr>
                <a:t>earnings-reviewer</a:t>
              </a:r>
            </a:p>
            <a:p>
              <a:r>
                <a:rPr lang="zh-TW" sz="1400" dirty="0">
                  <a:solidFill>
                    <a:srgbClr val="4A5468"/>
                  </a:solidFill>
                </a:rPr>
                <a:t>財報後更新模型＋寫筆記</a:t>
              </a:r>
            </a:p>
            <a:p>
              <a:pPr>
                <a:spcBef>
                  <a:spcPts val="700"/>
                </a:spcBef>
              </a:pPr>
              <a:r>
                <a:rPr lang="en-US" sz="1500" b="1" dirty="0">
                  <a:solidFill>
                    <a:srgbClr val="34A56E"/>
                  </a:solidFill>
                </a:rPr>
                <a:t>model-builder</a:t>
              </a:r>
            </a:p>
            <a:p>
              <a:r>
                <a:rPr lang="zh-TW" sz="1400" dirty="0">
                  <a:solidFill>
                    <a:srgbClr val="4A5468"/>
                  </a:solidFill>
                </a:rPr>
                <a:t>從零建 現金流折現／槓桿收購／三大財報／同業比較 模型</a:t>
              </a:r>
            </a:p>
          </p:txBody>
        </p:sp>
        <p:sp>
          <p:nvSpPr>
            <p:cNvPr id="503" name="hdr1"/>
            <p:cNvSpPr/>
            <p:nvPr/>
          </p:nvSpPr>
          <p:spPr>
            <a:xfrm>
              <a:off x="3302000" y="1905000"/>
              <a:ext cx="2641600" cy="762000"/>
            </a:xfrm>
            <a:prstGeom prst="rect">
              <a:avLst/>
            </a:prstGeom>
            <a:solidFill>
              <a:srgbClr val="34A56E"/>
            </a:solidFill>
            <a:ln>
              <a:noFill/>
            </a:ln>
          </p:spPr>
          <p:txBody>
            <a:bodyPr lIns="114300" rIns="91440" anchor="ctr"/>
            <a:lstStyle/>
            <a:p>
              <a:r>
                <a:rPr lang="zh-TW" sz="1400" dirty="0">
                  <a:solidFill>
                    <a:srgbClr val="FFFFFF">
                      <a:alpha val="75000"/>
                    </a:srgbClr>
                  </a:solidFill>
                </a:rPr>
                <a:t>前台</a:t>
              </a:r>
            </a:p>
            <a:p>
              <a:r>
                <a:rPr lang="zh-TW" sz="1800" b="1" dirty="0">
                  <a:solidFill>
                    <a:srgbClr val="FFFFFF"/>
                  </a:solidFill>
                </a:rPr>
                <a:t>研究與建模</a:t>
              </a:r>
            </a:p>
          </p:txBody>
        </p: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D375C6FD-46EF-787C-DBBD-7F6896BDB3AC}"/>
              </a:ext>
            </a:extLst>
          </p:cNvPr>
          <p:cNvGrpSpPr/>
          <p:nvPr/>
        </p:nvGrpSpPr>
        <p:grpSpPr>
          <a:xfrm>
            <a:off x="8991600" y="1905000"/>
            <a:ext cx="2641600" cy="4419600"/>
            <a:chOff x="6146800" y="1905000"/>
            <a:chExt cx="2641600" cy="4419600"/>
          </a:xfrm>
        </p:grpSpPr>
        <p:sp>
          <p:nvSpPr>
            <p:cNvPr id="504" name="body2"/>
            <p:cNvSpPr/>
            <p:nvPr/>
          </p:nvSpPr>
          <p:spPr>
            <a:xfrm>
              <a:off x="6146800" y="2667000"/>
              <a:ext cx="2641600" cy="3657600"/>
            </a:xfrm>
            <a:prstGeom prst="rect">
              <a:avLst/>
            </a:prstGeom>
            <a:solidFill>
              <a:srgbClr val="FAF1E6"/>
            </a:solidFill>
            <a:ln w="9525">
              <a:solidFill>
                <a:srgbClr val="E8B547">
                  <a:alpha val="35000"/>
                </a:srgbClr>
              </a:solidFill>
            </a:ln>
          </p:spPr>
          <p:txBody>
            <a:bodyPr lIns="114300" tIns="114300" rIns="91440" bIns="91440" anchor="t"/>
            <a:lstStyle/>
            <a:p>
              <a:pPr>
                <a:spcBef>
                  <a:spcPts val="700"/>
                </a:spcBef>
              </a:pPr>
              <a:r>
                <a:rPr lang="en-US" sz="1500" b="1" dirty="0">
                  <a:solidFill>
                    <a:srgbClr val="E8B547"/>
                  </a:solidFill>
                </a:rPr>
                <a:t>valuation-reviewer</a:t>
              </a:r>
            </a:p>
            <a:p>
              <a:r>
                <a:rPr lang="zh-TW" sz="1400" dirty="0">
                  <a:solidFill>
                    <a:srgbClr val="4A5468"/>
                  </a:solidFill>
                </a:rPr>
                <a:t>投資組合估值複核＋收益分配順序</a:t>
              </a:r>
            </a:p>
            <a:p>
              <a:pPr>
                <a:spcBef>
                  <a:spcPts val="700"/>
                </a:spcBef>
              </a:pPr>
              <a:r>
                <a:rPr lang="en-US" sz="1500" b="1" dirty="0">
                  <a:solidFill>
                    <a:srgbClr val="E8B547"/>
                  </a:solidFill>
                </a:rPr>
                <a:t>gl-reconciler</a:t>
              </a:r>
            </a:p>
            <a:p>
              <a:r>
                <a:rPr lang="zh-TW" sz="1400" dirty="0">
                  <a:solidFill>
                    <a:srgbClr val="4A5468"/>
                  </a:solidFill>
                </a:rPr>
                <a:t>總帳 vs 子帳對帳、追根因</a:t>
              </a:r>
            </a:p>
            <a:p>
              <a:pPr>
                <a:spcBef>
                  <a:spcPts val="700"/>
                </a:spcBef>
              </a:pPr>
              <a:r>
                <a:rPr lang="en-US" sz="1500" b="1" dirty="0">
                  <a:solidFill>
                    <a:srgbClr val="E8B547"/>
                  </a:solidFill>
                </a:rPr>
                <a:t>month-end-closer</a:t>
              </a:r>
            </a:p>
            <a:p>
              <a:r>
                <a:rPr lang="zh-TW" sz="1400" dirty="0">
                  <a:solidFill>
                    <a:srgbClr val="4A5468"/>
                  </a:solidFill>
                </a:rPr>
                <a:t>月結:應計、結轉、差異說明</a:t>
              </a:r>
            </a:p>
            <a:p>
              <a:pPr>
                <a:spcBef>
                  <a:spcPts val="700"/>
                </a:spcBef>
              </a:pPr>
              <a:r>
                <a:rPr lang="en-US" sz="1500" b="1" dirty="0">
                  <a:solidFill>
                    <a:srgbClr val="E8B547"/>
                  </a:solidFill>
                </a:rPr>
                <a:t>statement-auditor</a:t>
              </a:r>
            </a:p>
            <a:p>
              <a:r>
                <a:rPr lang="zh-TW" sz="1400" dirty="0">
                  <a:solidFill>
                    <a:srgbClr val="4A5468"/>
                  </a:solidFill>
                </a:rPr>
                <a:t>對帳單寄出前最後稽核</a:t>
              </a:r>
            </a:p>
          </p:txBody>
        </p:sp>
        <p:sp>
          <p:nvSpPr>
            <p:cNvPr id="505" name="hdr2"/>
            <p:cNvSpPr/>
            <p:nvPr/>
          </p:nvSpPr>
          <p:spPr>
            <a:xfrm>
              <a:off x="6146800" y="1905000"/>
              <a:ext cx="2641600" cy="762000"/>
            </a:xfrm>
            <a:prstGeom prst="rect">
              <a:avLst/>
            </a:prstGeom>
            <a:solidFill>
              <a:srgbClr val="E8B547"/>
            </a:solidFill>
            <a:ln>
              <a:noFill/>
            </a:ln>
          </p:spPr>
          <p:txBody>
            <a:bodyPr lIns="114300" rIns="91440" anchor="ctr"/>
            <a:lstStyle/>
            <a:p>
              <a:r>
                <a:rPr lang="zh-TW" sz="1400" dirty="0">
                  <a:solidFill>
                    <a:srgbClr val="FFFFFF">
                      <a:alpha val="75000"/>
                    </a:srgbClr>
                  </a:solidFill>
                </a:rPr>
                <a:t>後台</a:t>
              </a:r>
            </a:p>
            <a:p>
              <a:r>
                <a:rPr lang="zh-TW" altLang="en-US" sz="1800" b="1" dirty="0">
                  <a:solidFill>
                    <a:srgbClr val="FFFFFF"/>
                  </a:solidFill>
                </a:rPr>
                <a:t>帳務</a:t>
              </a:r>
              <a:r>
                <a:rPr lang="zh-TW" altLang="en-US" b="1" dirty="0">
                  <a:solidFill>
                    <a:srgbClr val="FFFFFF"/>
                  </a:solidFill>
                </a:rPr>
                <a:t>管理</a:t>
              </a:r>
              <a:endParaRPr lang="zh-TW" sz="1800" b="1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4" name="群組 3">
            <a:extLst>
              <a:ext uri="{FF2B5EF4-FFF2-40B4-BE49-F238E27FC236}">
                <a16:creationId xmlns:a16="http://schemas.microsoft.com/office/drawing/2014/main" id="{BD1B8852-4B23-DD23-7E2D-C17F3107E3D0}"/>
              </a:ext>
            </a:extLst>
          </p:cNvPr>
          <p:cNvGrpSpPr/>
          <p:nvPr/>
        </p:nvGrpSpPr>
        <p:grpSpPr>
          <a:xfrm>
            <a:off x="6146800" y="1905000"/>
            <a:ext cx="2641600" cy="4419600"/>
            <a:chOff x="8991600" y="1905000"/>
            <a:chExt cx="2641600" cy="4419600"/>
          </a:xfrm>
        </p:grpSpPr>
        <p:sp>
          <p:nvSpPr>
            <p:cNvPr id="506" name="body3"/>
            <p:cNvSpPr/>
            <p:nvPr/>
          </p:nvSpPr>
          <p:spPr>
            <a:xfrm>
              <a:off x="8991600" y="2667000"/>
              <a:ext cx="2641600" cy="3657600"/>
            </a:xfrm>
            <a:prstGeom prst="rect">
              <a:avLst/>
            </a:prstGeom>
            <a:solidFill>
              <a:srgbClr val="F7EBED"/>
            </a:solidFill>
            <a:ln w="9525">
              <a:solidFill>
                <a:srgbClr val="D5526A">
                  <a:alpha val="35000"/>
                </a:srgbClr>
              </a:solidFill>
            </a:ln>
          </p:spPr>
          <p:txBody>
            <a:bodyPr lIns="114300" tIns="114300" rIns="91440" bIns="91440" anchor="t"/>
            <a:lstStyle/>
            <a:p>
              <a:pPr>
                <a:spcBef>
                  <a:spcPts val="700"/>
                </a:spcBef>
              </a:pPr>
              <a:r>
                <a:rPr lang="en-US" sz="1500" b="1" dirty="0">
                  <a:solidFill>
                    <a:srgbClr val="D5526A"/>
                  </a:solidFill>
                </a:rPr>
                <a:t>kyc-screener</a:t>
              </a:r>
            </a:p>
            <a:p>
              <a:r>
                <a:rPr lang="zh-TW" sz="1400" dirty="0">
                  <a:solidFill>
                    <a:srgbClr val="4A5468"/>
                  </a:solidFill>
                </a:rPr>
                <a:t>開戶文件審查＋制裁名單／政治公眾人物 篩查</a:t>
              </a:r>
            </a:p>
            <a:p>
              <a:pPr>
                <a:spcBef>
                  <a:spcPts val="1000"/>
                </a:spcBef>
              </a:pPr>
              <a:r>
                <a:rPr lang="zh-TW" sz="1400" i="1" dirty="0">
                  <a:solidFill>
                    <a:srgbClr val="D5526A"/>
                  </a:solidFill>
                </a:rPr>
                <a:t>資金進場的閘門 —— 沒過這關,後面都不會發生</a:t>
              </a:r>
            </a:p>
          </p:txBody>
        </p:sp>
        <p:sp>
          <p:nvSpPr>
            <p:cNvPr id="507" name="hdr3"/>
            <p:cNvSpPr/>
            <p:nvPr/>
          </p:nvSpPr>
          <p:spPr>
            <a:xfrm>
              <a:off x="8991600" y="1905000"/>
              <a:ext cx="2641600" cy="762000"/>
            </a:xfrm>
            <a:prstGeom prst="rect">
              <a:avLst/>
            </a:prstGeom>
            <a:solidFill>
              <a:srgbClr val="D5526A"/>
            </a:solidFill>
            <a:ln>
              <a:noFill/>
            </a:ln>
          </p:spPr>
          <p:txBody>
            <a:bodyPr lIns="114300" rIns="91440" anchor="ctr"/>
            <a:lstStyle/>
            <a:p>
              <a:r>
                <a:rPr lang="zh-TW" sz="1400" dirty="0">
                  <a:solidFill>
                    <a:srgbClr val="FFFFFF">
                      <a:alpha val="75000"/>
                    </a:srgbClr>
                  </a:solidFill>
                </a:rPr>
                <a:t>中台</a:t>
              </a:r>
            </a:p>
            <a:p>
              <a:r>
                <a:rPr lang="zh-TW" sz="1800" b="1" dirty="0">
                  <a:solidFill>
                    <a:srgbClr val="FFFFFF"/>
                  </a:solidFill>
                </a:rPr>
                <a:t>營運與開戶</a:t>
              </a:r>
            </a:p>
          </p:txBody>
        </p:sp>
      </p:grpSp>
      <p:sp>
        <p:nvSpPr>
          <p:cNvPr id="600" name="titleTick"/>
          <p:cNvSpPr/>
          <p:nvPr/>
        </p:nvSpPr>
        <p:spPr>
          <a:xfrm>
            <a:off x="457200" y="660400"/>
            <a:ext cx="88900" cy="584200"/>
          </a:xfrm>
          <a:prstGeom prst="rect">
            <a:avLst/>
          </a:prstGeom>
          <a:solidFill>
            <a:srgbClr val="1B8E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TitleTxt"/>
          <p:cNvSpPr/>
          <p:nvPr/>
        </p:nvSpPr>
        <p:spPr>
          <a:xfrm>
            <a:off x="711200" y="558800"/>
            <a:ext cx="10922000" cy="8128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zh-TW" sz="3200" b="1" dirty="0">
                <a:solidFill>
                  <a:srgbClr val="1F2A44"/>
                </a:solidFill>
              </a:rPr>
              <a:t>十個 Agent</a:t>
            </a:r>
            <a:r>
              <a:rPr lang="en-US" sz="3200" b="1" dirty="0">
                <a:solidFill>
                  <a:srgbClr val="8A93A6"/>
                </a:solidFill>
              </a:rPr>
              <a:t>　·　</a:t>
            </a:r>
            <a:r>
              <a:rPr lang="zh-TW" altLang="en-US" sz="3200" b="1" dirty="0">
                <a:solidFill>
                  <a:srgbClr val="1F2A44"/>
                </a:solidFill>
              </a:rPr>
              <a:t>四個群組</a:t>
            </a:r>
            <a:endParaRPr lang="zh-TW" sz="3200" b="1" dirty="0">
              <a:solidFill>
                <a:srgbClr val="1F2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2049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41B4BE-9199-1B64-FD29-58B6287BD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一個商業故事</a:t>
            </a:r>
            <a:r>
              <a:rPr lang="en-US" altLang="zh-TW" dirty="0"/>
              <a:t>:</a:t>
            </a:r>
            <a:r>
              <a:rPr lang="zh-TW" altLang="en-US" dirty="0"/>
              <a:t>晨曦資本的一季</a:t>
            </a:r>
          </a:p>
        </p:txBody>
      </p:sp>
      <p:sp>
        <p:nvSpPr>
          <p:cNvPr id="610" name="sub"/>
          <p:cNvSpPr/>
          <p:nvPr/>
        </p:nvSpPr>
        <p:spPr>
          <a:xfrm>
            <a:off x="457200" y="1524000"/>
            <a:ext cx="11277600" cy="355600"/>
          </a:xfrm>
          <a:prstGeom prst="rect">
            <a:avLst/>
          </a:prstGeom>
          <a:noFill/>
        </p:spPr>
        <p:txBody>
          <a:bodyPr lIns="0" tIns="0" bIns="0" anchor="ctr"/>
          <a:lstStyle/>
          <a:p>
            <a:r>
              <a:rPr lang="zh-TW" sz="1500" dirty="0">
                <a:solidFill>
                  <a:srgbClr val="5B6B8C"/>
                </a:solidFill>
              </a:rPr>
              <a:t>晨曦資本同時做投行顧問與自有基金 —— 看十個 Agent 各自在哪一刻登場</a:t>
            </a:r>
          </a:p>
        </p:txBody>
      </p:sp>
      <p:sp>
        <p:nvSpPr>
          <p:cNvPr id="620" name="sb0"/>
          <p:cNvSpPr/>
          <p:nvPr/>
        </p:nvSpPr>
        <p:spPr>
          <a:xfrm>
            <a:off x="457200" y="2743200"/>
            <a:ext cx="2540000" cy="3429000"/>
          </a:xfrm>
          <a:prstGeom prst="rect">
            <a:avLst/>
          </a:prstGeom>
          <a:solidFill>
            <a:srgbClr val="EEF2FA"/>
          </a:solidFill>
          <a:ln w="9525">
            <a:solidFill>
              <a:srgbClr val="1B8EA6">
                <a:alpha val="35000"/>
              </a:srgbClr>
            </a:solidFill>
          </a:ln>
        </p:spPr>
        <p:txBody>
          <a:bodyPr lIns="100584" tIns="100584" rIns="76200" bIns="76200" anchor="t"/>
          <a:lstStyle/>
          <a:p>
            <a:pPr marL="91440" indent="-91440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meeting-prep　會前備關係/持倉</a:t>
            </a:r>
          </a:p>
          <a:p>
            <a:pPr marL="91440" indent="-91440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market-researcher　主題研究</a:t>
            </a:r>
          </a:p>
          <a:p>
            <a:pPr marL="91440" indent="-91440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earnings-reviewer　財報後更新</a:t>
            </a:r>
          </a:p>
          <a:p>
            <a:pPr marL="91440" indent="-91440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model-builder　建現金流折現／槓桿收購</a:t>
            </a:r>
          </a:p>
          <a:p>
            <a:pPr marL="91440" indent="-91440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pitch-agent　產出提案簡報</a:t>
            </a:r>
          </a:p>
          <a:p>
            <a:pPr>
              <a:spcBef>
                <a:spcPts val="900"/>
              </a:spcBef>
              <a:buNone/>
            </a:pPr>
            <a:r>
              <a:rPr lang="zh-TW" sz="1400" i="1" dirty="0">
                <a:solidFill>
                  <a:srgbClr val="1B8EA6"/>
                </a:solidFill>
              </a:rPr>
              <a:t>把潛在出資人 變成有興趣的客戶</a:t>
            </a:r>
          </a:p>
        </p:txBody>
      </p:sp>
      <p:sp>
        <p:nvSpPr>
          <p:cNvPr id="621" name="sh0"/>
          <p:cNvSpPr/>
          <p:nvPr/>
        </p:nvSpPr>
        <p:spPr>
          <a:xfrm>
            <a:off x="457200" y="2032000"/>
            <a:ext cx="2540000" cy="711200"/>
          </a:xfrm>
          <a:prstGeom prst="rect">
            <a:avLst/>
          </a:prstGeom>
          <a:solidFill>
            <a:srgbClr val="1B8EA6"/>
          </a:solidFill>
          <a:ln>
            <a:noFill/>
          </a:ln>
        </p:spPr>
        <p:txBody>
          <a:bodyPr lIns="100584" rIns="76200" anchor="ctr"/>
          <a:lstStyle/>
          <a:p>
            <a:r>
              <a:rPr lang="en-US" sz="1300" b="1" dirty="0">
                <a:solidFill>
                  <a:srgbClr val="FFFFFF">
                    <a:alpha val="78000"/>
                  </a:srgbClr>
                </a:solidFill>
              </a:rPr>
              <a:t>STEP 1　·　前台</a:t>
            </a:r>
          </a:p>
          <a:p>
            <a:r>
              <a:rPr lang="zh-TW" sz="1900" b="1" dirty="0">
                <a:solidFill>
                  <a:srgbClr val="FFFFFF"/>
                </a:solidFill>
              </a:rPr>
              <a:t>贏得業務</a:t>
            </a:r>
          </a:p>
        </p:txBody>
      </p:sp>
      <p:sp>
        <p:nvSpPr>
          <p:cNvPr id="622" name="ar0"/>
          <p:cNvSpPr/>
          <p:nvPr/>
        </p:nvSpPr>
        <p:spPr>
          <a:xfrm>
            <a:off x="3022600" y="3810000"/>
            <a:ext cx="317500" cy="355600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3" name="sb1"/>
          <p:cNvSpPr/>
          <p:nvPr/>
        </p:nvSpPr>
        <p:spPr>
          <a:xfrm>
            <a:off x="3365500" y="2743200"/>
            <a:ext cx="2540000" cy="3429000"/>
          </a:xfrm>
          <a:prstGeom prst="rect">
            <a:avLst/>
          </a:prstGeom>
          <a:solidFill>
            <a:srgbClr val="F7EBED"/>
          </a:solidFill>
          <a:ln w="9525">
            <a:solidFill>
              <a:srgbClr val="D5526A">
                <a:alpha val="35000"/>
              </a:srgbClr>
            </a:solidFill>
          </a:ln>
        </p:spPr>
        <p:txBody>
          <a:bodyPr lIns="100584" tIns="100584" rIns="76200" bIns="76200" anchor="t"/>
          <a:lstStyle/>
          <a:p>
            <a:pPr marL="91440" indent="-91440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kyc-screener　開戶審查＋制裁名單／政治公眾人物 篩查</a:t>
            </a:r>
          </a:p>
          <a:p>
            <a:pPr>
              <a:spcBef>
                <a:spcPts val="900"/>
              </a:spcBef>
              <a:buNone/>
            </a:pPr>
            <a:r>
              <a:rPr lang="zh-TW" sz="1400" i="1" dirty="0">
                <a:solidFill>
                  <a:srgbClr val="D5526A"/>
                </a:solidFill>
              </a:rPr>
              <a:t>資金進場的閘門:沒過,後面都不發生</a:t>
            </a:r>
          </a:p>
        </p:txBody>
      </p:sp>
      <p:sp>
        <p:nvSpPr>
          <p:cNvPr id="624" name="sh1"/>
          <p:cNvSpPr/>
          <p:nvPr/>
        </p:nvSpPr>
        <p:spPr>
          <a:xfrm>
            <a:off x="3365500" y="2032000"/>
            <a:ext cx="2540000" cy="711200"/>
          </a:xfrm>
          <a:prstGeom prst="rect">
            <a:avLst/>
          </a:prstGeom>
          <a:solidFill>
            <a:srgbClr val="D5526A"/>
          </a:solidFill>
          <a:ln>
            <a:noFill/>
          </a:ln>
        </p:spPr>
        <p:txBody>
          <a:bodyPr lIns="100584" rIns="76200" anchor="ctr"/>
          <a:lstStyle/>
          <a:p>
            <a:r>
              <a:rPr lang="en-US" sz="1300" b="1" dirty="0">
                <a:solidFill>
                  <a:srgbClr val="FFFFFF">
                    <a:alpha val="78000"/>
                  </a:srgbClr>
                </a:solidFill>
              </a:rPr>
              <a:t>STEP 2　·　中台</a:t>
            </a:r>
          </a:p>
          <a:p>
            <a:r>
              <a:rPr lang="zh-TW" sz="1900" b="1" dirty="0">
                <a:solidFill>
                  <a:srgbClr val="FFFFFF"/>
                </a:solidFill>
              </a:rPr>
              <a:t>開戶</a:t>
            </a:r>
          </a:p>
        </p:txBody>
      </p:sp>
      <p:sp>
        <p:nvSpPr>
          <p:cNvPr id="625" name="ar1"/>
          <p:cNvSpPr/>
          <p:nvPr/>
        </p:nvSpPr>
        <p:spPr>
          <a:xfrm>
            <a:off x="5930900" y="3810000"/>
            <a:ext cx="317500" cy="355600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6" name="sb2"/>
          <p:cNvSpPr/>
          <p:nvPr/>
        </p:nvSpPr>
        <p:spPr>
          <a:xfrm>
            <a:off x="6273800" y="2743200"/>
            <a:ext cx="2540000" cy="3429000"/>
          </a:xfrm>
          <a:prstGeom prst="rect">
            <a:avLst/>
          </a:prstGeom>
          <a:solidFill>
            <a:srgbClr val="FAF1E6"/>
          </a:solidFill>
          <a:ln w="9525">
            <a:solidFill>
              <a:srgbClr val="E8B547">
                <a:alpha val="35000"/>
              </a:srgbClr>
            </a:solidFill>
          </a:ln>
        </p:spPr>
        <p:txBody>
          <a:bodyPr lIns="100584" tIns="100584" rIns="76200" bIns="76200" anchor="t"/>
          <a:lstStyle/>
          <a:p>
            <a:pPr marL="91440" indent="-91440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gl-reconciler　每日總帳 vs 子帳對帳</a:t>
            </a:r>
          </a:p>
          <a:p>
            <a:pPr marL="91440" indent="-91440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month-end-closer　月底結帳</a:t>
            </a:r>
          </a:p>
          <a:p>
            <a:pPr>
              <a:spcBef>
                <a:spcPts val="900"/>
              </a:spcBef>
              <a:buNone/>
            </a:pPr>
            <a:r>
              <a:rPr lang="zh-TW" sz="1400" i="1" dirty="0">
                <a:solidFill>
                  <a:srgbClr val="E8B547"/>
                </a:solidFill>
              </a:rPr>
              <a:t>資金進場後的日常營運</a:t>
            </a:r>
          </a:p>
        </p:txBody>
      </p:sp>
      <p:sp>
        <p:nvSpPr>
          <p:cNvPr id="627" name="sh2"/>
          <p:cNvSpPr/>
          <p:nvPr/>
        </p:nvSpPr>
        <p:spPr>
          <a:xfrm>
            <a:off x="6273800" y="2032000"/>
            <a:ext cx="2540000" cy="711200"/>
          </a:xfrm>
          <a:prstGeom prst="rect">
            <a:avLst/>
          </a:prstGeom>
          <a:solidFill>
            <a:srgbClr val="E8B547"/>
          </a:solidFill>
          <a:ln>
            <a:noFill/>
          </a:ln>
        </p:spPr>
        <p:txBody>
          <a:bodyPr lIns="100584" rIns="76200" anchor="ctr"/>
          <a:lstStyle/>
          <a:p>
            <a:r>
              <a:rPr lang="en-US" sz="1300" b="1" dirty="0">
                <a:solidFill>
                  <a:srgbClr val="FFFFFF">
                    <a:alpha val="78000"/>
                  </a:srgbClr>
                </a:solidFill>
              </a:rPr>
              <a:t>STEP 3　·　後台</a:t>
            </a:r>
          </a:p>
          <a:p>
            <a:r>
              <a:rPr lang="zh-TW" altLang="en-US" sz="1900" b="1" dirty="0">
                <a:solidFill>
                  <a:srgbClr val="FFFFFF"/>
                </a:solidFill>
              </a:rPr>
              <a:t>帳務管理</a:t>
            </a:r>
            <a:r>
              <a:rPr lang="zh-TW" sz="1900" b="1" dirty="0">
                <a:solidFill>
                  <a:srgbClr val="FFFFFF"/>
                </a:solidFill>
              </a:rPr>
              <a:t>日常</a:t>
            </a:r>
          </a:p>
        </p:txBody>
      </p:sp>
      <p:sp>
        <p:nvSpPr>
          <p:cNvPr id="628" name="ar2"/>
          <p:cNvSpPr/>
          <p:nvPr/>
        </p:nvSpPr>
        <p:spPr>
          <a:xfrm>
            <a:off x="8839200" y="3810000"/>
            <a:ext cx="317500" cy="355600"/>
          </a:xfrm>
          <a:prstGeom prst="rightArrow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9" name="sb3"/>
          <p:cNvSpPr/>
          <p:nvPr/>
        </p:nvSpPr>
        <p:spPr>
          <a:xfrm>
            <a:off x="9182100" y="2743200"/>
            <a:ext cx="2540000" cy="3429000"/>
          </a:xfrm>
          <a:prstGeom prst="rect">
            <a:avLst/>
          </a:prstGeom>
          <a:solidFill>
            <a:srgbClr val="FAF1E6"/>
          </a:solidFill>
          <a:ln w="9525">
            <a:solidFill>
              <a:srgbClr val="E8B547">
                <a:alpha val="35000"/>
              </a:srgbClr>
            </a:solidFill>
          </a:ln>
        </p:spPr>
        <p:txBody>
          <a:bodyPr lIns="100584" tIns="100584" rIns="76200" bIns="76200" anchor="t"/>
          <a:lstStyle/>
          <a:p>
            <a:pPr marL="91440" indent="-91440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valuation-reviewer　複核估值＋算 收益分配順序</a:t>
            </a:r>
          </a:p>
          <a:p>
            <a:pPr marL="91440" indent="-91440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statement-auditor　對帳單寄出前把關</a:t>
            </a:r>
          </a:p>
          <a:p>
            <a:pPr>
              <a:spcBef>
                <a:spcPts val="900"/>
              </a:spcBef>
              <a:buNone/>
            </a:pPr>
            <a:r>
              <a:rPr lang="zh-TW" sz="1400" i="1" dirty="0">
                <a:solidFill>
                  <a:srgbClr val="E8B547"/>
                </a:solidFill>
              </a:rPr>
              <a:t>通過後,報告才寄給 出資人</a:t>
            </a:r>
          </a:p>
        </p:txBody>
      </p:sp>
      <p:sp>
        <p:nvSpPr>
          <p:cNvPr id="630" name="sh3"/>
          <p:cNvSpPr/>
          <p:nvPr/>
        </p:nvSpPr>
        <p:spPr>
          <a:xfrm>
            <a:off x="9182100" y="2032000"/>
            <a:ext cx="2540000" cy="711200"/>
          </a:xfrm>
          <a:prstGeom prst="rect">
            <a:avLst/>
          </a:prstGeom>
          <a:solidFill>
            <a:srgbClr val="E8B547"/>
          </a:solidFill>
          <a:ln>
            <a:noFill/>
          </a:ln>
        </p:spPr>
        <p:txBody>
          <a:bodyPr lIns="100584" rIns="76200" anchor="ctr"/>
          <a:lstStyle/>
          <a:p>
            <a:r>
              <a:rPr lang="en-US" sz="1300" b="1" dirty="0">
                <a:solidFill>
                  <a:srgbClr val="FFFFFF">
                    <a:alpha val="78000"/>
                  </a:srgbClr>
                </a:solidFill>
              </a:rPr>
              <a:t>STEP 4　·　後台</a:t>
            </a:r>
          </a:p>
          <a:p>
            <a:r>
              <a:rPr lang="zh-TW" sz="1900" b="1" dirty="0">
                <a:solidFill>
                  <a:srgbClr val="FFFFFF"/>
                </a:solidFill>
              </a:rPr>
              <a:t>季末交代</a:t>
            </a:r>
          </a:p>
        </p:txBody>
      </p:sp>
    </p:spTree>
    <p:extLst>
      <p:ext uri="{BB962C8B-B14F-4D97-AF65-F5344CB8AC3E}">
        <p14:creationId xmlns:p14="http://schemas.microsoft.com/office/powerpoint/2010/main" val="991156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CBE473-792F-FBF4-36BD-793EC6D8D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兩條設計規律</a:t>
            </a:r>
          </a:p>
        </p:txBody>
      </p:sp>
      <p:sp>
        <p:nvSpPr>
          <p:cNvPr id="700" name="tk"/>
          <p:cNvSpPr/>
          <p:nvPr/>
        </p:nvSpPr>
        <p:spPr>
          <a:xfrm>
            <a:off x="609600" y="1676400"/>
            <a:ext cx="88900" cy="381000"/>
          </a:xfrm>
          <a:prstGeom prst="rect">
            <a:avLst/>
          </a:prstGeom>
          <a:solidFill>
            <a:srgbClr val="1B8E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1" name="t"/>
          <p:cNvSpPr/>
          <p:nvPr/>
        </p:nvSpPr>
        <p:spPr>
          <a:xfrm>
            <a:off x="812800" y="1651000"/>
            <a:ext cx="10769600" cy="4318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zh-TW" sz="2000" b="1" dirty="0">
                <a:solidFill>
                  <a:srgbClr val="1F2A44"/>
                </a:solidFill>
              </a:rPr>
              <a:t>規律一　風險高低 ↔ 是否隔離「寫入檔案」權限</a:t>
            </a:r>
          </a:p>
        </p:txBody>
      </p:sp>
      <p:sp>
        <p:nvSpPr>
          <p:cNvPr id="702" name="c"/>
          <p:cNvSpPr/>
          <p:nvPr/>
        </p:nvSpPr>
        <p:spPr>
          <a:xfrm>
            <a:off x="609600" y="2260600"/>
            <a:ext cx="5334000" cy="1498600"/>
          </a:xfrm>
          <a:prstGeom prst="rect">
            <a:avLst/>
          </a:prstGeom>
          <a:solidFill>
            <a:srgbClr val="EAF3EF"/>
          </a:solidFill>
          <a:ln w="9525">
            <a:solidFill>
              <a:srgbClr val="34A56E">
                <a:alpha val="45000"/>
              </a:srgbClr>
            </a:solidFill>
          </a:ln>
        </p:spPr>
        <p:txBody>
          <a:bodyPr lIns="114300" tIns="91440" rIns="91440" bIns="91440" anchor="ctr"/>
          <a:lstStyle/>
          <a:p>
            <a:r>
              <a:rPr lang="zh-TW" sz="1600" b="1" dirty="0">
                <a:solidFill>
                  <a:srgbClr val="34A56E"/>
                </a:solidFill>
              </a:rPr>
              <a:t>低風險 · 前台／研究</a:t>
            </a:r>
          </a:p>
          <a:p>
            <a:pPr>
              <a:spcBef>
                <a:spcPts val="500"/>
              </a:spcBef>
            </a:pPr>
            <a:r>
              <a:rPr lang="zh-TW" sz="1500" dirty="0">
                <a:solidFill>
                  <a:srgbClr val="33405C"/>
                </a:solidFill>
              </a:rPr>
              <a:t>產出是內部草稿,主代理可直接寫入檔案(放寬)</a:t>
            </a:r>
          </a:p>
        </p:txBody>
      </p:sp>
      <p:sp>
        <p:nvSpPr>
          <p:cNvPr id="703" name="c"/>
          <p:cNvSpPr/>
          <p:nvPr/>
        </p:nvSpPr>
        <p:spPr>
          <a:xfrm>
            <a:off x="6248400" y="2260600"/>
            <a:ext cx="5334000" cy="1498600"/>
          </a:xfrm>
          <a:prstGeom prst="rect">
            <a:avLst/>
          </a:prstGeom>
          <a:solidFill>
            <a:srgbClr val="F7EBED"/>
          </a:solidFill>
          <a:ln w="9525">
            <a:solidFill>
              <a:srgbClr val="D5526A">
                <a:alpha val="45000"/>
              </a:srgbClr>
            </a:solidFill>
          </a:ln>
        </p:spPr>
        <p:txBody>
          <a:bodyPr lIns="114300" tIns="91440" rIns="91440" bIns="91440" anchor="ctr"/>
          <a:lstStyle/>
          <a:p>
            <a:r>
              <a:rPr lang="zh-TW" sz="1600" b="1" dirty="0">
                <a:solidFill>
                  <a:srgbClr val="D5526A"/>
                </a:solidFill>
              </a:rPr>
              <a:t>高風險 · 後台／合規</a:t>
            </a:r>
          </a:p>
          <a:p>
            <a:pPr>
              <a:spcBef>
                <a:spcPts val="500"/>
              </a:spcBef>
            </a:pPr>
            <a:r>
              <a:rPr lang="zh-TW" sz="1500" dirty="0">
                <a:solidFill>
                  <a:srgbClr val="33405C"/>
                </a:solidFill>
              </a:rPr>
              <a:t>牽涉法規與財務誠信,主代理無寫入檔案、嚴格隔離</a:t>
            </a:r>
          </a:p>
        </p:txBody>
      </p:sp>
      <p:sp>
        <p:nvSpPr>
          <p:cNvPr id="704" name="div"/>
          <p:cNvSpPr/>
          <p:nvPr/>
        </p:nvSpPr>
        <p:spPr>
          <a:xfrm>
            <a:off x="609600" y="3962400"/>
            <a:ext cx="10972800" cy="12700"/>
          </a:xfrm>
          <a:prstGeom prst="rect">
            <a:avLst/>
          </a:prstGeom>
          <a:solidFill>
            <a:srgbClr val="D6DCE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5" name="tk"/>
          <p:cNvSpPr/>
          <p:nvPr/>
        </p:nvSpPr>
        <p:spPr>
          <a:xfrm>
            <a:off x="609600" y="4191000"/>
            <a:ext cx="88900" cy="381000"/>
          </a:xfrm>
          <a:prstGeom prst="rect">
            <a:avLst/>
          </a:prstGeom>
          <a:solidFill>
            <a:srgbClr val="D5526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6" name="t"/>
          <p:cNvSpPr/>
          <p:nvPr/>
        </p:nvSpPr>
        <p:spPr>
          <a:xfrm>
            <a:off x="812800" y="4165600"/>
            <a:ext cx="10769600" cy="4318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zh-TW" sz="2000" b="1" dirty="0">
                <a:solidFill>
                  <a:srgbClr val="1F2A44"/>
                </a:solidFill>
              </a:rPr>
              <a:t>規律二　人類永遠是最後一關</a:t>
            </a:r>
          </a:p>
        </p:txBody>
      </p:sp>
      <p:sp>
        <p:nvSpPr>
          <p:cNvPr id="707" name="t"/>
          <p:cNvSpPr/>
          <p:nvPr/>
        </p:nvSpPr>
        <p:spPr>
          <a:xfrm>
            <a:off x="812800" y="4648200"/>
            <a:ext cx="10769600" cy="3302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zh-TW" sz="1500" dirty="0">
                <a:solidFill>
                  <a:srgbClr val="5B6B8C"/>
                </a:solidFill>
              </a:rPr>
              <a:t>所有 agent 只「起草／建議」,從不自決 —— 最後由人按下決定鍵</a:t>
            </a:r>
          </a:p>
        </p:txBody>
      </p:sp>
      <p:sp>
        <p:nvSpPr>
          <p:cNvPr id="708" name="c"/>
          <p:cNvSpPr/>
          <p:nvPr/>
        </p:nvSpPr>
        <p:spPr>
          <a:xfrm>
            <a:off x="609600" y="5080000"/>
            <a:ext cx="2565400" cy="1143000"/>
          </a:xfrm>
          <a:prstGeom prst="rect">
            <a:avLst/>
          </a:prstGeom>
          <a:solidFill>
            <a:srgbClr val="EEF1F6"/>
          </a:solidFill>
          <a:ln w="9525">
            <a:solidFill>
              <a:srgbClr val="5B6B8C">
                <a:alpha val="45000"/>
              </a:srgbClr>
            </a:solidFill>
          </a:ln>
        </p:spPr>
        <p:txBody>
          <a:bodyPr lIns="114300" tIns="91440" rIns="91440" bIns="91440" anchor="ctr"/>
          <a:lstStyle/>
          <a:p>
            <a:r>
              <a:rPr lang="zh-TW" sz="1700" b="1" dirty="0">
                <a:solidFill>
                  <a:srgbClr val="1F2A44"/>
                </a:solidFill>
              </a:rPr>
              <a:t>開戶</a:t>
            </a:r>
          </a:p>
          <a:p>
            <a:pPr>
              <a:spcBef>
                <a:spcPts val="400"/>
              </a:spcBef>
            </a:pPr>
            <a:r>
              <a:rPr lang="zh-TW" sz="1500" b="1" dirty="0">
                <a:solidFill>
                  <a:srgbClr val="1B8EA6"/>
                </a:solidFill>
              </a:rPr>
              <a:t>→ 合規官</a:t>
            </a:r>
          </a:p>
        </p:txBody>
      </p:sp>
      <p:sp>
        <p:nvSpPr>
          <p:cNvPr id="709" name="c"/>
          <p:cNvSpPr/>
          <p:nvPr/>
        </p:nvSpPr>
        <p:spPr>
          <a:xfrm>
            <a:off x="3403600" y="5080000"/>
            <a:ext cx="2565400" cy="1143000"/>
          </a:xfrm>
          <a:prstGeom prst="rect">
            <a:avLst/>
          </a:prstGeom>
          <a:solidFill>
            <a:srgbClr val="EEF1F6"/>
          </a:solidFill>
          <a:ln w="9525">
            <a:solidFill>
              <a:srgbClr val="5B6B8C">
                <a:alpha val="45000"/>
              </a:srgbClr>
            </a:solidFill>
          </a:ln>
        </p:spPr>
        <p:txBody>
          <a:bodyPr lIns="114300" tIns="91440" rIns="91440" bIns="91440" anchor="ctr"/>
          <a:lstStyle/>
          <a:p>
            <a:r>
              <a:rPr lang="zh-TW" sz="1700" b="1" dirty="0">
                <a:solidFill>
                  <a:srgbClr val="1F2A44"/>
                </a:solidFill>
              </a:rPr>
              <a:t>過帳</a:t>
            </a:r>
          </a:p>
          <a:p>
            <a:pPr>
              <a:spcBef>
                <a:spcPts val="400"/>
              </a:spcBef>
            </a:pPr>
            <a:r>
              <a:rPr lang="zh-TW" sz="1500" b="1" dirty="0">
                <a:solidFill>
                  <a:srgbClr val="1B8EA6"/>
                </a:solidFill>
              </a:rPr>
              <a:t>→ 控制員</a:t>
            </a:r>
          </a:p>
        </p:txBody>
      </p:sp>
      <p:sp>
        <p:nvSpPr>
          <p:cNvPr id="710" name="c"/>
          <p:cNvSpPr/>
          <p:nvPr/>
        </p:nvSpPr>
        <p:spPr>
          <a:xfrm>
            <a:off x="6197600" y="5080000"/>
            <a:ext cx="2565400" cy="1143000"/>
          </a:xfrm>
          <a:prstGeom prst="rect">
            <a:avLst/>
          </a:prstGeom>
          <a:solidFill>
            <a:srgbClr val="EEF1F6"/>
          </a:solidFill>
          <a:ln w="9525">
            <a:solidFill>
              <a:srgbClr val="5B6B8C">
                <a:alpha val="45000"/>
              </a:srgbClr>
            </a:solidFill>
          </a:ln>
        </p:spPr>
        <p:txBody>
          <a:bodyPr lIns="114300" tIns="91440" rIns="91440" bIns="91440" anchor="ctr"/>
          <a:lstStyle/>
          <a:p>
            <a:r>
              <a:rPr lang="zh-TW" sz="1700" b="1" dirty="0">
                <a:solidFill>
                  <a:srgbClr val="1F2A44"/>
                </a:solidFill>
              </a:rPr>
              <a:t>發布</a:t>
            </a:r>
          </a:p>
          <a:p>
            <a:pPr>
              <a:spcBef>
                <a:spcPts val="400"/>
              </a:spcBef>
            </a:pPr>
            <a:r>
              <a:rPr lang="zh-TW" sz="1500" b="1" dirty="0">
                <a:solidFill>
                  <a:srgbClr val="1B8EA6"/>
                </a:solidFill>
              </a:rPr>
              <a:t>→ 分析師</a:t>
            </a:r>
          </a:p>
        </p:txBody>
      </p:sp>
      <p:sp>
        <p:nvSpPr>
          <p:cNvPr id="711" name="c"/>
          <p:cNvSpPr/>
          <p:nvPr/>
        </p:nvSpPr>
        <p:spPr>
          <a:xfrm>
            <a:off x="8991600" y="5080000"/>
            <a:ext cx="2565400" cy="1143000"/>
          </a:xfrm>
          <a:prstGeom prst="rect">
            <a:avLst/>
          </a:prstGeom>
          <a:solidFill>
            <a:srgbClr val="EEF1F6"/>
          </a:solidFill>
          <a:ln w="9525">
            <a:solidFill>
              <a:srgbClr val="5B6B8C">
                <a:alpha val="45000"/>
              </a:srgbClr>
            </a:solidFill>
          </a:ln>
        </p:spPr>
        <p:txBody>
          <a:bodyPr lIns="114300" tIns="91440" rIns="91440" bIns="91440" anchor="ctr"/>
          <a:lstStyle/>
          <a:p>
            <a:r>
              <a:rPr lang="zh-TW" sz="1700" b="1" dirty="0">
                <a:solidFill>
                  <a:srgbClr val="1F2A44"/>
                </a:solidFill>
              </a:rPr>
              <a:t>分送</a:t>
            </a:r>
          </a:p>
          <a:p>
            <a:pPr>
              <a:spcBef>
                <a:spcPts val="400"/>
              </a:spcBef>
            </a:pPr>
            <a:r>
              <a:rPr lang="zh-TW" sz="1500" b="1" dirty="0">
                <a:solidFill>
                  <a:srgbClr val="1B8EA6"/>
                </a:solidFill>
              </a:rPr>
              <a:t>→ 投資人關係／合規長</a:t>
            </a:r>
          </a:p>
        </p:txBody>
      </p:sp>
    </p:spTree>
    <p:extLst>
      <p:ext uri="{BB962C8B-B14F-4D97-AF65-F5344CB8AC3E}">
        <p14:creationId xmlns:p14="http://schemas.microsoft.com/office/powerpoint/2010/main" val="768020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CDF6AA-7EA7-DBED-D8A0-0603B74DB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000" b="1" dirty="0"/>
              <a:t>第二段　技術概要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DAD9F64-20AC-B68A-99F3-2D45B0E5BA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b="1" dirty="0">
                <a:solidFill>
                  <a:schemeClr val="accent1"/>
                </a:solidFill>
              </a:rPr>
              <a:t>PART 02　·　工程視角</a:t>
            </a:r>
          </a:p>
          <a:p>
            <a:r>
              <a:rPr lang="zh-TW" sz="1600" dirty="0">
                <a:solidFill>
                  <a:schemeClr val="accent5"/>
                </a:solidFill>
              </a:rPr>
              <a:t>一個來源兩種輸出、Plugin vs CMA、要接哪些 外部系統連接器、怎麼佈署與維護</a:t>
            </a:r>
          </a:p>
        </p:txBody>
      </p:sp>
    </p:spTree>
    <p:extLst>
      <p:ext uri="{BB962C8B-B14F-4D97-AF65-F5344CB8AC3E}">
        <p14:creationId xmlns:p14="http://schemas.microsoft.com/office/powerpoint/2010/main" val="2685571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EBA0F2B-1654-1AFB-3B56-B7C5D4D70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一個來源</a:t>
            </a:r>
            <a:r>
              <a:rPr lang="en-US" altLang="zh-TW"/>
              <a:t>,</a:t>
            </a:r>
            <a:r>
              <a:rPr lang="zh-TW" altLang="en-US"/>
              <a:t>兩個輸出</a:t>
            </a:r>
          </a:p>
        </p:txBody>
      </p:sp>
      <p:sp>
        <p:nvSpPr>
          <p:cNvPr id="720" name="b"/>
          <p:cNvSpPr/>
          <p:nvPr/>
        </p:nvSpPr>
        <p:spPr>
          <a:xfrm>
            <a:off x="3556000" y="3867150"/>
            <a:ext cx="5080000" cy="10922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txBody>
          <a:bodyPr lIns="114300" tIns="91440" rIns="91440" bIns="91440" anchor="ctr"/>
          <a:lstStyle/>
          <a:p>
            <a:pPr algn="ctr"/>
            <a:r>
              <a:rPr lang="zh-TW" sz="1700" b="1" dirty="0">
                <a:solidFill>
                  <a:srgbClr val="FFFFFF"/>
                </a:solidFill>
              </a:rPr>
              <a:t>唯一來源</a:t>
            </a:r>
          </a:p>
          <a:p>
            <a:pPr algn="ctr"/>
            <a:r>
              <a:rPr lang="zh-TW" sz="1500" b="1" dirty="0">
                <a:solidFill>
                  <a:srgbClr val="FFFFFF"/>
                </a:solidFill>
              </a:rPr>
              <a:t>一份 Agent 設定</a:t>
            </a:r>
            <a:br>
              <a:rPr lang="en-US" altLang="zh-TW" sz="1500" b="1" dirty="0">
                <a:solidFill>
                  <a:srgbClr val="FFFFFF"/>
                </a:solidFill>
              </a:rPr>
            </a:br>
            <a:endParaRPr lang="zh-TW" sz="1500" b="1" dirty="0">
              <a:solidFill>
                <a:srgbClr val="FFFFFF"/>
              </a:solidFill>
            </a:endParaRPr>
          </a:p>
          <a:p>
            <a:pPr algn="ctr"/>
            <a:r>
              <a:rPr lang="zh-TW" sz="1250" b="0" dirty="0">
                <a:solidFill>
                  <a:srgbClr val="D7DEEA"/>
                </a:solidFill>
              </a:rPr>
              <a:t>角色 · 流程 · 規範 · 工具 · 把關規則</a:t>
            </a:r>
          </a:p>
        </p:txBody>
      </p:sp>
      <p:sp>
        <p:nvSpPr>
          <p:cNvPr id="721" name="b"/>
          <p:cNvSpPr/>
          <p:nvPr/>
        </p:nvSpPr>
        <p:spPr>
          <a:xfrm>
            <a:off x="3556000" y="319405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lIns="114300" tIns="91440" rIns="91440" bIns="91440" anchor="ctr"/>
          <a:lstStyle/>
          <a:p>
            <a:pPr algn="ctr"/>
            <a:r>
              <a:rPr lang="zh-TW" sz="1350" b="1" dirty="0">
                <a:solidFill>
                  <a:srgbClr val="1F2A44"/>
                </a:solidFill>
              </a:rPr>
              <a:t>兩種部署</a:t>
            </a:r>
            <a:r>
              <a:rPr lang="zh-TW" altLang="en-US" sz="1350" b="1" dirty="0">
                <a:solidFill>
                  <a:srgbClr val="1F2A44"/>
                </a:solidFill>
              </a:rPr>
              <a:t>模式，</a:t>
            </a:r>
            <a:r>
              <a:rPr lang="zh-TW" sz="1350" b="1" dirty="0">
                <a:solidFill>
                  <a:srgbClr val="1F2A44"/>
                </a:solidFill>
              </a:rPr>
              <a:t>都來自同一份設定</a:t>
            </a:r>
          </a:p>
        </p:txBody>
      </p:sp>
      <p:sp>
        <p:nvSpPr>
          <p:cNvPr id="722" name="ln"/>
          <p:cNvSpPr/>
          <p:nvPr/>
        </p:nvSpPr>
        <p:spPr>
          <a:xfrm>
            <a:off x="6083300" y="3536950"/>
            <a:ext cx="25400" cy="3302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23" name="ln"/>
          <p:cNvSpPr/>
          <p:nvPr/>
        </p:nvSpPr>
        <p:spPr>
          <a:xfrm>
            <a:off x="3276600" y="3536950"/>
            <a:ext cx="5638800" cy="254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24" name="da"/>
          <p:cNvSpPr/>
          <p:nvPr/>
        </p:nvSpPr>
        <p:spPr>
          <a:xfrm rot="10800000">
            <a:off x="3149600" y="3257550"/>
            <a:ext cx="254000" cy="2540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25" name="da"/>
          <p:cNvSpPr/>
          <p:nvPr/>
        </p:nvSpPr>
        <p:spPr>
          <a:xfrm rot="10800000">
            <a:off x="8788400" y="3257550"/>
            <a:ext cx="254000" cy="254000"/>
          </a:xfrm>
          <a:prstGeom prst="downArrow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26" name="b"/>
          <p:cNvSpPr/>
          <p:nvPr/>
        </p:nvSpPr>
        <p:spPr>
          <a:xfrm>
            <a:off x="812800" y="1690688"/>
            <a:ext cx="4927600" cy="1300163"/>
          </a:xfrm>
          <a:prstGeom prst="rect">
            <a:avLst/>
          </a:prstGeom>
          <a:solidFill>
            <a:srgbClr val="FFFFFF"/>
          </a:solidFill>
          <a:ln w="12700">
            <a:solidFill>
              <a:srgbClr val="1B8EA6">
                <a:alpha val="100000"/>
              </a:srgbClr>
            </a:solidFill>
          </a:ln>
        </p:spPr>
        <p:txBody>
          <a:bodyPr lIns="114300" tIns="91440" rIns="91440" bIns="91440" anchor="t"/>
          <a:lstStyle/>
          <a:p>
            <a:r>
              <a:rPr lang="zh-TW" sz="1800" b="1" dirty="0">
                <a:solidFill>
                  <a:srgbClr val="1B8EA6"/>
                </a:solidFill>
              </a:rPr>
              <a:t>互動協作模式（外掛）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zh-TW" sz="1500" dirty="0">
                <a:solidFill>
                  <a:srgbClr val="33405C"/>
                </a:solidFill>
              </a:rPr>
              <a:t>在工具中與專人一起操作,過程由人逐步確認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zh-TW" sz="1500" dirty="0">
                <a:solidFill>
                  <a:srgbClr val="33405C"/>
                </a:solidFill>
              </a:rPr>
              <a:t>適合高風險、需要把關的工作</a:t>
            </a:r>
          </a:p>
        </p:txBody>
      </p:sp>
      <p:sp>
        <p:nvSpPr>
          <p:cNvPr id="727" name="b"/>
          <p:cNvSpPr/>
          <p:nvPr/>
        </p:nvSpPr>
        <p:spPr>
          <a:xfrm>
            <a:off x="6451600" y="1690688"/>
            <a:ext cx="4927600" cy="1325563"/>
          </a:xfrm>
          <a:prstGeom prst="rect">
            <a:avLst/>
          </a:prstGeom>
          <a:solidFill>
            <a:srgbClr val="FFFFFF"/>
          </a:solidFill>
          <a:ln w="12700">
            <a:solidFill>
              <a:srgbClr val="E8B547">
                <a:alpha val="100000"/>
              </a:srgbClr>
            </a:solidFill>
          </a:ln>
        </p:spPr>
        <p:txBody>
          <a:bodyPr lIns="114300" tIns="91440" rIns="91440" bIns="91440" anchor="t"/>
          <a:lstStyle/>
          <a:p>
            <a:r>
              <a:rPr lang="zh-TW" sz="1800" b="1" dirty="0">
                <a:solidFill>
                  <a:srgbClr val="E8B547"/>
                </a:solidFill>
              </a:rPr>
              <a:t>自動執行模式（雲端）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zh-TW" sz="1500" dirty="0">
                <a:solidFill>
                  <a:srgbClr val="33405C"/>
                </a:solidFill>
              </a:rPr>
              <a:t>部署到雲端自動運行,過程不需專人在旁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zh-TW" sz="1500" dirty="0">
                <a:solidFill>
                  <a:srgbClr val="33405C"/>
                </a:solidFill>
              </a:rPr>
              <a:t>適合低風險、大量重複的例行工作</a:t>
            </a:r>
          </a:p>
        </p:txBody>
      </p:sp>
      <p:sp>
        <p:nvSpPr>
          <p:cNvPr id="728" name="b"/>
          <p:cNvSpPr/>
          <p:nvPr/>
        </p:nvSpPr>
        <p:spPr>
          <a:xfrm>
            <a:off x="457200" y="5264150"/>
            <a:ext cx="10922000" cy="736600"/>
          </a:xfrm>
          <a:prstGeom prst="rect">
            <a:avLst/>
          </a:prstGeom>
          <a:solidFill>
            <a:srgbClr val="EEF1F6"/>
          </a:solidFill>
          <a:ln w="9525">
            <a:solidFill>
              <a:srgbClr val="5B6B8C">
                <a:alpha val="40000"/>
              </a:srgbClr>
            </a:solidFill>
          </a:ln>
        </p:spPr>
        <p:txBody>
          <a:bodyPr lIns="114300" tIns="91440" rIns="91440" bIns="91440" anchor="ctr"/>
          <a:lstStyle/>
          <a:p>
            <a:pPr algn="ctr"/>
            <a:r>
              <a:rPr lang="zh-TW" sz="1500" b="1" dirty="0">
                <a:solidFill>
                  <a:srgbClr val="1B8EA6"/>
                </a:solidFill>
              </a:rPr>
              <a:t>重點　</a:t>
            </a:r>
            <a:r>
              <a:rPr lang="zh-TW" sz="1500" b="1" dirty="0">
                <a:solidFill>
                  <a:srgbClr val="1F2A44"/>
                </a:solidFill>
              </a:rPr>
              <a:t>一份設定</a:t>
            </a:r>
            <a:r>
              <a:rPr lang="zh-TW" altLang="en-US" sz="1500" b="1" dirty="0">
                <a:solidFill>
                  <a:srgbClr val="1F2A44"/>
                </a:solidFill>
              </a:rPr>
              <a:t>，</a:t>
            </a:r>
            <a:r>
              <a:rPr lang="zh-TW" sz="1500" b="1" dirty="0">
                <a:solidFill>
                  <a:srgbClr val="1F2A44"/>
                </a:solidFill>
              </a:rPr>
              <a:t>兩種用法</a:t>
            </a:r>
            <a:r>
              <a:rPr lang="zh-TW" altLang="en-US" sz="1500" b="1" dirty="0">
                <a:solidFill>
                  <a:srgbClr val="1F2A44"/>
                </a:solidFill>
              </a:rPr>
              <a:t>：</a:t>
            </a:r>
            <a:r>
              <a:rPr lang="zh-TW" sz="1500" b="1" dirty="0">
                <a:solidFill>
                  <a:srgbClr val="1F2A44"/>
                </a:solidFill>
              </a:rPr>
              <a:t>要逐步把關就用互動模式、要大量自動化就用雲端模式,把關程度依風險高低調整。</a:t>
            </a:r>
          </a:p>
        </p:txBody>
      </p:sp>
    </p:spTree>
    <p:extLst>
      <p:ext uri="{BB962C8B-B14F-4D97-AF65-F5344CB8AC3E}">
        <p14:creationId xmlns:p14="http://schemas.microsoft.com/office/powerpoint/2010/main" val="38881634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9F9ADE-1001-5C6B-051B-35A61FC08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Claude</a:t>
            </a:r>
            <a:r>
              <a:rPr lang="zh-TW" altLang="en-US" dirty="0"/>
              <a:t>外掛　</a:t>
            </a:r>
            <a:r>
              <a:rPr lang="en-US" altLang="zh-TW" dirty="0"/>
              <a:t>vs</a:t>
            </a:r>
            <a:r>
              <a:rPr lang="zh-TW" altLang="en-US" dirty="0"/>
              <a:t>　雲端託管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E6670DC-0817-41F3-A773-EB570A2142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5464738"/>
              </p:ext>
            </p:extLst>
          </p:nvPr>
        </p:nvGraphicFramePr>
        <p:xfrm>
          <a:off x="635000" y="1600200"/>
          <a:ext cx="10922000" cy="3302000"/>
        </p:xfrm>
        <a:graphic>
          <a:graphicData uri="http://schemas.openxmlformats.org/drawingml/2006/table">
            <a:tbl>
              <a:tblPr/>
              <a:tblGrid>
                <a:gridCol w="1320800">
                  <a:extLst>
                    <a:ext uri="{9D8B030D-6E8A-4147-A177-3AD203B41FA5}">
                      <a16:colId xmlns:a16="http://schemas.microsoft.com/office/drawing/2014/main" val="3738158497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1460741789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169102262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500" b="1">
                          <a:solidFill>
                            <a:srgbClr val="FFFFFF"/>
                          </a:solidFill>
                        </a:rPr>
                        <a:t>面向</a:t>
                      </a:r>
                    </a:p>
                  </a:txBody>
                  <a:tcPr marT="9072" marB="9072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500" b="1" dirty="0">
                          <a:solidFill>
                            <a:srgbClr val="FFFFFF"/>
                          </a:solidFill>
                        </a:rPr>
                        <a:t>Claude</a:t>
                      </a:r>
                      <a:r>
                        <a:rPr lang="zh-TW" altLang="en-US" sz="1500" b="1" dirty="0">
                          <a:solidFill>
                            <a:srgbClr val="FFFFFF"/>
                          </a:solidFill>
                        </a:rPr>
                        <a:t>外掛（Plugin）</a:t>
                      </a:r>
                    </a:p>
                  </a:txBody>
                  <a:tcPr marT="9072" marB="9072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B8E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500" b="1" dirty="0">
                          <a:solidFill>
                            <a:srgbClr val="FFFFFF"/>
                          </a:solidFill>
                        </a:rPr>
                        <a:t>雲端託管</a:t>
                      </a:r>
                    </a:p>
                  </a:txBody>
                  <a:tcPr marT="9072" marB="9072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8B5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5688019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1F2A44"/>
                          </a:solidFill>
                        </a:rPr>
                        <a:t>執行環境</a:t>
                      </a:r>
                    </a:p>
                  </a:txBody>
                  <a:tcPr marT="9072" marB="9072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dirty="0">
                          <a:solidFill>
                            <a:srgbClr val="33405C"/>
                          </a:solidFill>
                        </a:rPr>
                        <a:t>使用者的 Claude Code／Cowork(電腦／IDE)</a:t>
                      </a:r>
                    </a:p>
                  </a:txBody>
                  <a:tcPr marT="9072" marB="9072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dirty="0">
                          <a:solidFill>
                            <a:srgbClr val="33405C"/>
                          </a:solidFill>
                        </a:rPr>
                        <a:t>部署 Anthropic 平台在雲端(PaaS)</a:t>
                      </a:r>
                    </a:p>
                  </a:txBody>
                  <a:tcPr marT="9072" marB="9072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438829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1F2A44"/>
                          </a:solidFill>
                        </a:rPr>
                        <a:t>觸發</a:t>
                      </a:r>
                    </a:p>
                  </a:txBody>
                  <a:tcPr marT="9072" marB="9072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dirty="0">
                          <a:solidFill>
                            <a:srgbClr val="33405C"/>
                          </a:solidFill>
                        </a:rPr>
                        <a:t>使用者打 /指令 或對話</a:t>
                      </a:r>
                    </a:p>
                  </a:txBody>
                  <a:tcPr marT="9072" marB="9072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dirty="0">
                          <a:solidFill>
                            <a:srgbClr val="33405C"/>
                          </a:solidFill>
                        </a:rPr>
                        <a:t>後端程式 </a:t>
                      </a:r>
                      <a:r>
                        <a:rPr lang="en-US" altLang="zh-TW" sz="1400" dirty="0">
                          <a:solidFill>
                            <a:srgbClr val="33405C"/>
                          </a:solidFill>
                        </a:rPr>
                        <a:t>API</a:t>
                      </a:r>
                      <a:r>
                        <a:rPr lang="zh-TW" altLang="en-US" sz="1400" dirty="0">
                          <a:solidFill>
                            <a:srgbClr val="33405C"/>
                          </a:solidFill>
                        </a:rPr>
                        <a:t> 呼叫</a:t>
                      </a:r>
                    </a:p>
                  </a:txBody>
                  <a:tcPr marT="9072" marB="9072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953000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1F2A44"/>
                          </a:solidFill>
                        </a:rPr>
                        <a:t>監督</a:t>
                      </a:r>
                    </a:p>
                  </a:txBody>
                  <a:tcPr marT="9072" marB="9072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dirty="0">
                          <a:solidFill>
                            <a:srgbClr val="33405C"/>
                          </a:solidFill>
                        </a:rPr>
                        <a:t>使用者全程參與,可以自行決定每個步驟是否執行</a:t>
                      </a:r>
                    </a:p>
                  </a:txBody>
                  <a:tcPr marT="9072" marB="9072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dirty="0">
                          <a:solidFill>
                            <a:srgbClr val="33405C"/>
                          </a:solidFill>
                        </a:rPr>
                        <a:t>沒有使用者介入，需要靠「權限設計」約束</a:t>
                      </a:r>
                    </a:p>
                  </a:txBody>
                  <a:tcPr marT="9072" marB="9072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77956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1F2A44"/>
                          </a:solidFill>
                        </a:rPr>
                        <a:t>寫入檔案權</a:t>
                      </a:r>
                    </a:p>
                  </a:txBody>
                  <a:tcPr marT="9072" marB="9072" anchor="ctr">
                    <a:lnL w="0"/>
                    <a:lnR w="0">
                      <a:noFill/>
                    </a:lnR>
                    <a:lnT w="0">
                      <a:noFill/>
                    </a:lnT>
                    <a:lnB w="0"/>
                    <a:lnTlToBr w="0"/>
                    <a:lnBlToTr w="0"/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dirty="0">
                          <a:solidFill>
                            <a:srgbClr val="33405C"/>
                          </a:solidFill>
                        </a:rPr>
                        <a:t>低風險：主</a:t>
                      </a:r>
                      <a:r>
                        <a:rPr lang="en-US" altLang="zh-TW" sz="1400" dirty="0">
                          <a:solidFill>
                            <a:srgbClr val="33405C"/>
                          </a:solidFill>
                        </a:rPr>
                        <a:t>Agent</a:t>
                      </a:r>
                      <a:r>
                        <a:rPr lang="zh-TW" altLang="en-US" sz="1400" dirty="0">
                          <a:solidFill>
                            <a:srgbClr val="33405C"/>
                          </a:solidFill>
                        </a:rPr>
                        <a:t>具有寫入權限</a:t>
                      </a:r>
                    </a:p>
                  </a:txBody>
                  <a:tcPr marT="9072" marB="907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dirty="0">
                          <a:solidFill>
                            <a:srgbClr val="33405C"/>
                          </a:solidFill>
                        </a:rPr>
                        <a:t>高風險:主</a:t>
                      </a:r>
                      <a:r>
                        <a:rPr lang="en-US" altLang="zh-TW" sz="1400" dirty="0">
                          <a:solidFill>
                            <a:srgbClr val="33405C"/>
                          </a:solidFill>
                        </a:rPr>
                        <a:t>Agent</a:t>
                      </a:r>
                      <a:r>
                        <a:rPr lang="zh-TW" altLang="en-US" sz="1400" dirty="0">
                          <a:solidFill>
                            <a:srgbClr val="33405C"/>
                          </a:solidFill>
                        </a:rPr>
                        <a:t>無寫入檔案權限，交給子</a:t>
                      </a:r>
                      <a:r>
                        <a:rPr lang="en-US" altLang="zh-TW" sz="1400" dirty="0">
                          <a:solidFill>
                            <a:srgbClr val="33405C"/>
                          </a:solidFill>
                        </a:rPr>
                        <a:t>Agent</a:t>
                      </a:r>
                      <a:r>
                        <a:rPr lang="zh-TW" altLang="en-US" sz="1400" dirty="0">
                          <a:solidFill>
                            <a:srgbClr val="33405C"/>
                          </a:solidFill>
                        </a:rPr>
                        <a:t>執行</a:t>
                      </a:r>
                    </a:p>
                  </a:txBody>
                  <a:tcPr marT="9072" marB="9072" anchor="ctr">
                    <a:lnL w="0">
                      <a:noFill/>
                    </a:lnL>
                    <a:lnR w="0"/>
                    <a:lnT w="0">
                      <a:noFill/>
                    </a:lnT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54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 dirty="0">
                          <a:solidFill>
                            <a:srgbClr val="1F2A44"/>
                          </a:solidFill>
                        </a:rPr>
                        <a:t>產出</a:t>
                      </a:r>
                    </a:p>
                  </a:txBody>
                  <a:tcPr marT="9072" marB="9072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dirty="0">
                          <a:solidFill>
                            <a:srgbClr val="33405C"/>
                          </a:solidFill>
                        </a:rPr>
                        <a:t>對話訊息＋檔案</a:t>
                      </a:r>
                    </a:p>
                  </a:txBody>
                  <a:tcPr marT="9072" marB="9072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dirty="0">
                          <a:solidFill>
                            <a:srgbClr val="33405C"/>
                          </a:solidFill>
                        </a:rPr>
                        <a:t>SSE 事件流(伺服器推送訊息)</a:t>
                      </a:r>
                    </a:p>
                  </a:txBody>
                  <a:tcPr marT="9072" marB="9072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494886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898FBCB3-C770-4AA5-B260-D5FD4E4A51C1}"/>
              </a:ext>
            </a:extLst>
          </p:cNvPr>
          <p:cNvSpPr/>
          <p:nvPr/>
        </p:nvSpPr>
        <p:spPr>
          <a:xfrm>
            <a:off x="635000" y="5204908"/>
            <a:ext cx="10922000" cy="7112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r>
              <a:rPr lang="zh-TW" altLang="en-US" sz="1400" dirty="0">
                <a:solidFill>
                  <a:srgbClr val="FFFFFF"/>
                </a:solidFill>
              </a:rPr>
              <a:t>為什麼 雲端託管</a:t>
            </a:r>
            <a:r>
              <a:rPr lang="en-US" altLang="zh-TW" sz="1400" dirty="0">
                <a:solidFill>
                  <a:srgbClr val="FFFFFF"/>
                </a:solidFill>
              </a:rPr>
              <a:t> </a:t>
            </a:r>
            <a:r>
              <a:rPr lang="zh-TW" altLang="en-US" sz="1400" dirty="0">
                <a:solidFill>
                  <a:srgbClr val="FFFFFF"/>
                </a:solidFill>
              </a:rPr>
              <a:t>才有子代理</a:t>
            </a:r>
            <a:r>
              <a:rPr lang="en-US" altLang="zh-TW" sz="1400" dirty="0">
                <a:solidFill>
                  <a:srgbClr val="FFFFFF"/>
                </a:solidFill>
              </a:rPr>
              <a:t>? </a:t>
            </a:r>
            <a:r>
              <a:rPr lang="zh-TW" altLang="en-US" sz="1400" dirty="0">
                <a:solidFill>
                  <a:srgbClr val="FFFFFF"/>
                </a:solidFill>
              </a:rPr>
              <a:t>外掛有「人」可隨時介入</a:t>
            </a:r>
            <a:r>
              <a:rPr lang="en-US" altLang="zh-TW" sz="1400" dirty="0">
                <a:solidFill>
                  <a:srgbClr val="FFFFFF"/>
                </a:solidFill>
              </a:rPr>
              <a:t>,</a:t>
            </a:r>
            <a:r>
              <a:rPr lang="zh-TW" altLang="en-US" sz="1400" dirty="0">
                <a:solidFill>
                  <a:srgbClr val="FFFFFF"/>
                </a:solidFill>
              </a:rPr>
              <a:t>安全靠人</a:t>
            </a:r>
            <a:r>
              <a:rPr lang="en-US" altLang="zh-TW" sz="1400" dirty="0">
                <a:solidFill>
                  <a:srgbClr val="FFFFFF"/>
                </a:solidFill>
              </a:rPr>
              <a:t>;</a:t>
            </a:r>
            <a:r>
              <a:rPr lang="zh-TW" altLang="en-US" sz="1400" dirty="0">
                <a:solidFill>
                  <a:srgbClr val="FFFFFF"/>
                </a:solidFill>
              </a:rPr>
              <a:t>雲端託管</a:t>
            </a:r>
            <a:r>
              <a:rPr lang="en-US" altLang="zh-TW" sz="1400" dirty="0">
                <a:solidFill>
                  <a:srgbClr val="FFFFFF"/>
                </a:solidFill>
              </a:rPr>
              <a:t> </a:t>
            </a:r>
            <a:r>
              <a:rPr lang="zh-TW" altLang="en-US" sz="1400" dirty="0">
                <a:solidFill>
                  <a:srgbClr val="FFFFFF"/>
                </a:solidFill>
              </a:rPr>
              <a:t>沒有人可以介入，安全性只能靠「權限設計」</a:t>
            </a:r>
            <a:r>
              <a:rPr lang="en-US" altLang="zh-TW" sz="1400" dirty="0">
                <a:solidFill>
                  <a:srgbClr val="FFFFFF"/>
                </a:solidFill>
              </a:rPr>
              <a:t>—— </a:t>
            </a:r>
            <a:r>
              <a:rPr lang="zh-TW" altLang="en-US" sz="1400" dirty="0">
                <a:solidFill>
                  <a:srgbClr val="FFFFFF"/>
                </a:solidFill>
              </a:rPr>
              <a:t>把高風險動作鎖進權限最小的子代理。</a:t>
            </a:r>
          </a:p>
        </p:txBody>
      </p:sp>
    </p:spTree>
    <p:extLst>
      <p:ext uri="{BB962C8B-B14F-4D97-AF65-F5344CB8AC3E}">
        <p14:creationId xmlns:p14="http://schemas.microsoft.com/office/powerpoint/2010/main" val="12746065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0C4F1B-09A6-C007-A0D4-129B67B1F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十個 </a:t>
            </a:r>
            <a:r>
              <a:rPr lang="en-US" altLang="zh-TW"/>
              <a:t>Agent </a:t>
            </a:r>
            <a:r>
              <a:rPr lang="zh-TW" altLang="en-US"/>
              <a:t>各需要哪些 </a:t>
            </a:r>
            <a:r>
              <a:rPr lang="en-US" altLang="zh-TW"/>
              <a:t>外部系統連接器</a:t>
            </a:r>
            <a:endParaRPr lang="zh-TW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1E82A8A-38CF-4851-8047-38C5E4290BF5}"/>
              </a:ext>
            </a:extLst>
          </p:cNvPr>
          <p:cNvGraphicFramePr>
            <a:graphicFrameLocks noGrp="1"/>
          </p:cNvGraphicFramePr>
          <p:nvPr/>
        </p:nvGraphicFramePr>
        <p:xfrm>
          <a:off x="508000" y="1600200"/>
          <a:ext cx="11176000" cy="3581400"/>
        </p:xfrm>
        <a:graphic>
          <a:graphicData uri="http://schemas.openxmlformats.org/drawingml/2006/table">
            <a:tbl>
              <a:tblPr/>
              <a:tblGrid>
                <a:gridCol w="2133600">
                  <a:extLst>
                    <a:ext uri="{9D8B030D-6E8A-4147-A177-3AD203B41FA5}">
                      <a16:colId xmlns:a16="http://schemas.microsoft.com/office/drawing/2014/main" val="1418364973"/>
                    </a:ext>
                  </a:extLst>
                </a:gridCol>
                <a:gridCol w="2387600">
                  <a:extLst>
                    <a:ext uri="{9D8B030D-6E8A-4147-A177-3AD203B41FA5}">
                      <a16:colId xmlns:a16="http://schemas.microsoft.com/office/drawing/2014/main" val="361993334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594746195"/>
                    </a:ext>
                  </a:extLst>
                </a:gridCol>
                <a:gridCol w="5435600">
                  <a:extLst>
                    <a:ext uri="{9D8B030D-6E8A-4147-A177-3AD203B41FA5}">
                      <a16:colId xmlns:a16="http://schemas.microsoft.com/office/drawing/2014/main" val="3646310832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FFFFFF"/>
                          </a:solidFill>
                        </a:rPr>
                        <a:t>需要的 外部系統連接器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FFFFFF"/>
                          </a:solidFill>
                        </a:rPr>
                        <a:t>性質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FFFFFF"/>
                          </a:solidFill>
                        </a:rPr>
                        <a:t>這個 外部系統連接器 要能提供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0041887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F2A44"/>
                          </a:solidFill>
                        </a:rPr>
                        <a:t>earnings-reviewer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factset、daloopa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1F6B58"/>
                          </a:solidFill>
                        </a:rPr>
                        <a:t>公開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CDE7D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財報實際值、共識、申報、逐字稿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402631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F2A44"/>
                          </a:solidFill>
                        </a:rPr>
                        <a:t>market-researcher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capiq、factset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955513"/>
                          </a:solidFill>
                        </a:rPr>
                        <a:t>佔位＋公開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6DFB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同業倍數、產業數據、基本面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991767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F2A44"/>
                          </a:solidFill>
                        </a:rPr>
                        <a:t>model-builder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capiq、daloopa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955513"/>
                          </a:solidFill>
                        </a:rPr>
                        <a:t>佔位＋公開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6DFB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歷史財務、共識、申報文件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16439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F2A44"/>
                          </a:solidFill>
                        </a:rPr>
                        <a:t>pitch-agent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capiq（＋daloopa）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955513"/>
                          </a:solidFill>
                        </a:rPr>
                        <a:t>佔位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6DFB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交易倍數、先例交易、最新申報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2474050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F2A44"/>
                          </a:solidFill>
                        </a:rPr>
                        <a:t>meeting-prep-agent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crm、capiq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955513"/>
                          </a:solidFill>
                        </a:rPr>
                        <a:t>佔位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6DFB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關係史／持倉／未結、市場事件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193738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F2A44"/>
                          </a:solidFill>
                        </a:rPr>
                        <a:t>kyc-screener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screening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955513"/>
                          </a:solidFill>
                        </a:rPr>
                        <a:t>佔位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6DFB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制裁名單／政治公眾人物／負面新聞篩查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974925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F2A44"/>
                          </a:solidFill>
                        </a:rPr>
                        <a:t>gl-reconciler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internal-gl、subledger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955513"/>
                          </a:solidFill>
                        </a:rPr>
                        <a:t>佔位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6DFB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總帳與子帳餘額、傳票明細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270342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F2A44"/>
                          </a:solidFill>
                        </a:rPr>
                        <a:t>month-end-closer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internal-gl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955513"/>
                          </a:solidFill>
                        </a:rPr>
                        <a:t>佔位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6DFB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指定主體與期間的試算表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427425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F2A44"/>
                          </a:solidFill>
                        </a:rPr>
                        <a:t>statement-auditor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nav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955513"/>
                          </a:solidFill>
                        </a:rPr>
                        <a:t>佔位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6DFB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基金淨值 基金淨值 資料包(逐欄核對)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5255420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F2A44"/>
                          </a:solidFill>
                        </a:rPr>
                        <a:t>valuation-reviewer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portfolio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b="1">
                          <a:solidFill>
                            <a:srgbClr val="955513"/>
                          </a:solidFill>
                        </a:rPr>
                        <a:t>佔位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6DFB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>
                          <a:solidFill>
                            <a:srgbClr val="33405C"/>
                          </a:solidFill>
                        </a:rPr>
                        <a:t>估值、報酬、收益分配順序 輸入</a:t>
                      </a:r>
                    </a:p>
                  </a:txBody>
                  <a:tcPr marT="34637" marB="34637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5576378"/>
                  </a:ext>
                </a:extLst>
              </a:tr>
            </a:tbl>
          </a:graphicData>
        </a:graphic>
      </p:graphicFrame>
      <p:sp>
        <p:nvSpPr>
          <p:cNvPr id="800" name="warn"/>
          <p:cNvSpPr/>
          <p:nvPr/>
        </p:nvSpPr>
        <p:spPr>
          <a:xfrm>
            <a:off x="508000" y="5257800"/>
            <a:ext cx="11176000" cy="1066800"/>
          </a:xfrm>
          <a:prstGeom prst="rect">
            <a:avLst/>
          </a:prstGeom>
          <a:solidFill>
            <a:srgbClr val="FBF3E7"/>
          </a:solidFill>
          <a:ln w="12700">
            <a:solidFill>
              <a:srgbClr val="E8B547"/>
            </a:solidFill>
          </a:ln>
        </p:spPr>
        <p:txBody>
          <a:bodyPr lIns="114300" tIns="68580" rIns="91440" bIns="68580" anchor="ctr"/>
          <a:lstStyle/>
          <a:p>
            <a:r>
              <a:rPr lang="zh-TW" sz="1500" b="1" dirty="0">
                <a:solidFill>
                  <a:srgbClr val="E8B547"/>
                </a:solidFill>
              </a:rPr>
              <a:t>兩個要注意的點(多數 外部系統連接器 是佔位,需自接公司內部系統)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zh-TW" sz="1400" dirty="0">
                <a:solidFill>
                  <a:srgbClr val="5A4420"/>
                </a:solidFill>
              </a:rPr>
              <a:t>capiq 是佔位名稱 —— 沒有任何 .mcp.json 定義過它,要接公司 CapIQ 來源、或改用 factset／sp-global 等已定義連接器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zh-TW" sz="1400" dirty="0">
                <a:solidFill>
                  <a:srgbClr val="5A4420"/>
                </a:solidFill>
              </a:rPr>
              <a:t>financial-analysis/.mcp.json 有 JSON 語法錯(egnyte 後缺逗號、box 缺收尾括號,commit #187),程式讀取設定時會失敗,接公開連接器前要先修</a:t>
            </a:r>
          </a:p>
        </p:txBody>
      </p:sp>
    </p:spTree>
    <p:extLst>
      <p:ext uri="{BB962C8B-B14F-4D97-AF65-F5344CB8AC3E}">
        <p14:creationId xmlns:p14="http://schemas.microsoft.com/office/powerpoint/2010/main" val="70198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1E428F-3644-FF7E-E871-B83277957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佈署與維護</a:t>
            </a:r>
          </a:p>
        </p:txBody>
      </p:sp>
      <p:sp>
        <p:nvSpPr>
          <p:cNvPr id="800" name="tk"/>
          <p:cNvSpPr/>
          <p:nvPr/>
        </p:nvSpPr>
        <p:spPr>
          <a:xfrm>
            <a:off x="457200" y="1651000"/>
            <a:ext cx="88900" cy="355600"/>
          </a:xfrm>
          <a:prstGeom prst="rect">
            <a:avLst/>
          </a:prstGeom>
          <a:solidFill>
            <a:srgbClr val="1B8E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1" name="h"/>
          <p:cNvSpPr/>
          <p:nvPr/>
        </p:nvSpPr>
        <p:spPr>
          <a:xfrm>
            <a:off x="660400" y="1625600"/>
            <a:ext cx="5080000" cy="4318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zh-TW" sz="1800" b="1" dirty="0">
                <a:solidFill>
                  <a:srgbClr val="1F2A44"/>
                </a:solidFill>
              </a:rPr>
              <a:t>佈署 · 兩種輸出,兩條路</a:t>
            </a:r>
          </a:p>
        </p:txBody>
      </p:sp>
      <p:sp>
        <p:nvSpPr>
          <p:cNvPr id="802" name="c"/>
          <p:cNvSpPr/>
          <p:nvPr/>
        </p:nvSpPr>
        <p:spPr>
          <a:xfrm>
            <a:off x="457200" y="2133600"/>
            <a:ext cx="5232400" cy="1676400"/>
          </a:xfrm>
          <a:prstGeom prst="rect">
            <a:avLst/>
          </a:prstGeom>
          <a:solidFill>
            <a:srgbClr val="EEF2FA"/>
          </a:solidFill>
          <a:ln w="9525">
            <a:solidFill>
              <a:srgbClr val="1B8EA6">
                <a:alpha val="40000"/>
              </a:srgbClr>
            </a:solidFill>
          </a:ln>
        </p:spPr>
        <p:txBody>
          <a:bodyPr lIns="114300" tIns="91440" rIns="91440" bIns="80000" anchor="t"/>
          <a:lstStyle/>
          <a:p>
            <a:r>
              <a:rPr lang="en-US" sz="1600" b="1" dirty="0">
                <a:solidFill>
                  <a:srgbClr val="1B8EA6"/>
                </a:solidFill>
              </a:rPr>
              <a:t>Claude </a:t>
            </a:r>
            <a:r>
              <a:rPr lang="en-US" sz="1600" b="1" dirty="0" err="1">
                <a:solidFill>
                  <a:srgbClr val="1B8EA6"/>
                </a:solidFill>
              </a:rPr>
              <a:t>外掛（Plugin</a:t>
            </a:r>
            <a:r>
              <a:rPr lang="en-US" sz="1600" b="1" dirty="0">
                <a:solidFill>
                  <a:srgbClr val="1B8EA6"/>
                </a:solidFill>
              </a:rPr>
              <a:t>）</a:t>
            </a:r>
          </a:p>
          <a:p>
            <a:pPr marL="100584" indent="-100584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經 marketplace.json 註冊發佈</a:t>
            </a:r>
          </a:p>
          <a:p>
            <a:pPr marL="100584" indent="-100584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使用者在 Cowork／Claude Code 安裝</a:t>
            </a:r>
          </a:p>
          <a:p>
            <a:pPr marL="100584" indent="-100584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改 markdown 即時生效,免重新編譯</a:t>
            </a:r>
          </a:p>
        </p:txBody>
      </p:sp>
      <p:sp>
        <p:nvSpPr>
          <p:cNvPr id="803" name="c"/>
          <p:cNvSpPr/>
          <p:nvPr/>
        </p:nvSpPr>
        <p:spPr>
          <a:xfrm>
            <a:off x="457200" y="3911600"/>
            <a:ext cx="5232400" cy="1676400"/>
          </a:xfrm>
          <a:prstGeom prst="rect">
            <a:avLst/>
          </a:prstGeom>
          <a:solidFill>
            <a:srgbClr val="FAF1E6"/>
          </a:solidFill>
          <a:ln w="9525">
            <a:solidFill>
              <a:srgbClr val="E8B547">
                <a:alpha val="40000"/>
              </a:srgbClr>
            </a:solidFill>
          </a:ln>
        </p:spPr>
        <p:txBody>
          <a:bodyPr lIns="114300" tIns="91440" rIns="91440" bIns="80000" anchor="t"/>
          <a:lstStyle/>
          <a:p>
            <a:r>
              <a:rPr lang="zh-TW" altLang="en-US" sz="1600" b="1" dirty="0">
                <a:solidFill>
                  <a:srgbClr val="E8B547"/>
                </a:solidFill>
              </a:rPr>
              <a:t>雲端</a:t>
            </a:r>
            <a:r>
              <a:rPr lang="en-US" sz="1600" b="1" dirty="0" err="1">
                <a:solidFill>
                  <a:srgbClr val="E8B547"/>
                </a:solidFill>
              </a:rPr>
              <a:t>託管代理</a:t>
            </a:r>
            <a:endParaRPr lang="en-US" sz="1600" b="1" dirty="0">
              <a:solidFill>
                <a:srgbClr val="E8B547"/>
              </a:solidFill>
            </a:endParaRPr>
          </a:p>
          <a:p>
            <a:pPr marL="100584" indent="-100584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deploy-managed-agent.sh 把 agent.yaml 轉成 API 請求內容</a:t>
            </a:r>
          </a:p>
          <a:p>
            <a:pPr marL="100584" indent="-100584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POST /v1/agents（beta 標頭）</a:t>
            </a:r>
          </a:p>
          <a:p>
            <a:pPr marL="100584" indent="-100584">
              <a:spcBef>
                <a:spcPts val="500"/>
              </a:spcBef>
              <a:buFont typeface="Arial"/>
              <a:buChar char="•"/>
            </a:pPr>
            <a:r>
              <a:rPr lang="en-US" sz="1400" dirty="0">
                <a:solidFill>
                  <a:srgbClr val="33405C"/>
                </a:solidFill>
              </a:rPr>
              <a:t>先設 ANTHROPIC_API_KEY 與各外部系統連接器 URL,可 --dry-run</a:t>
            </a:r>
          </a:p>
        </p:txBody>
      </p:sp>
      <p:sp>
        <p:nvSpPr>
          <p:cNvPr id="804" name="tk"/>
          <p:cNvSpPr/>
          <p:nvPr/>
        </p:nvSpPr>
        <p:spPr>
          <a:xfrm>
            <a:off x="6273800" y="1651000"/>
            <a:ext cx="88900" cy="355600"/>
          </a:xfrm>
          <a:prstGeom prst="rect">
            <a:avLst/>
          </a:prstGeom>
          <a:solidFill>
            <a:srgbClr val="34A5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5" name="h"/>
          <p:cNvSpPr/>
          <p:nvPr/>
        </p:nvSpPr>
        <p:spPr>
          <a:xfrm>
            <a:off x="6477000" y="1625600"/>
            <a:ext cx="5461000" cy="4318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zh-TW" sz="1800" b="1" dirty="0">
                <a:solidFill>
                  <a:srgbClr val="1F2A44"/>
                </a:solidFill>
              </a:rPr>
              <a:t>維護 · 改一處,自動傳播,提交前自檢</a:t>
            </a:r>
          </a:p>
        </p:txBody>
      </p:sp>
      <p:sp>
        <p:nvSpPr>
          <p:cNvPr id="806" name="st"/>
          <p:cNvSpPr/>
          <p:nvPr/>
        </p:nvSpPr>
        <p:spPr>
          <a:xfrm>
            <a:off x="6273800" y="2133600"/>
            <a:ext cx="5461000" cy="787400"/>
          </a:xfrm>
          <a:prstGeom prst="rect">
            <a:avLst/>
          </a:prstGeom>
          <a:solidFill>
            <a:srgbClr val="EEF1F6"/>
          </a:solidFill>
          <a:ln w="9525">
            <a:solidFill>
              <a:srgbClr val="5B6B8C">
                <a:alpha val="35000"/>
              </a:srgbClr>
            </a:solidFill>
          </a:ln>
        </p:spPr>
        <p:txBody>
          <a:bodyPr lIns="114300" tIns="68580" rIns="91440" bIns="40000" anchor="ctr"/>
          <a:lstStyle/>
          <a:p>
            <a:r>
              <a:rPr lang="en-US" sz="1500" b="1" dirty="0">
                <a:solidFill>
                  <a:srgbClr val="34A56E"/>
                </a:solidFill>
              </a:rPr>
              <a:t>①　改技能</a:t>
            </a:r>
          </a:p>
          <a:p>
            <a:pPr>
              <a:spcBef>
                <a:spcPts val="300"/>
              </a:spcBef>
            </a:pPr>
            <a:r>
              <a:rPr lang="en-US" sz="1400" dirty="0">
                <a:solidFill>
                  <a:srgbClr val="4A5468"/>
                </a:solidFill>
              </a:rPr>
              <a:t>編輯 vertical-plugins 的 SKILL.md(唯一真本)</a:t>
            </a:r>
          </a:p>
        </p:txBody>
      </p:sp>
      <p:sp>
        <p:nvSpPr>
          <p:cNvPr id="807" name="st"/>
          <p:cNvSpPr/>
          <p:nvPr/>
        </p:nvSpPr>
        <p:spPr>
          <a:xfrm>
            <a:off x="6273800" y="3022600"/>
            <a:ext cx="5461000" cy="787400"/>
          </a:xfrm>
          <a:prstGeom prst="rect">
            <a:avLst/>
          </a:prstGeom>
          <a:solidFill>
            <a:srgbClr val="EEF1F6"/>
          </a:solidFill>
          <a:ln w="9525">
            <a:solidFill>
              <a:srgbClr val="5B6B8C">
                <a:alpha val="35000"/>
              </a:srgbClr>
            </a:solidFill>
          </a:ln>
        </p:spPr>
        <p:txBody>
          <a:bodyPr lIns="114300" tIns="68580" rIns="91440" bIns="40000" anchor="ctr"/>
          <a:lstStyle/>
          <a:p>
            <a:r>
              <a:rPr lang="en-US" sz="1500" b="1" dirty="0">
                <a:solidFill>
                  <a:srgbClr val="34A56E"/>
                </a:solidFill>
              </a:rPr>
              <a:t>②　同步</a:t>
            </a:r>
          </a:p>
          <a:p>
            <a:pPr>
              <a:spcBef>
                <a:spcPts val="300"/>
              </a:spcBef>
            </a:pPr>
            <a:r>
              <a:rPr lang="en-US" sz="1400" dirty="0">
                <a:solidFill>
                  <a:srgbClr val="4A5468"/>
                </a:solidFill>
              </a:rPr>
              <a:t>python3 scripts/sync-agent-skills.py 覆蓋副本</a:t>
            </a:r>
          </a:p>
        </p:txBody>
      </p:sp>
      <p:sp>
        <p:nvSpPr>
          <p:cNvPr id="808" name="st"/>
          <p:cNvSpPr/>
          <p:nvPr/>
        </p:nvSpPr>
        <p:spPr>
          <a:xfrm>
            <a:off x="6273800" y="3911600"/>
            <a:ext cx="5461000" cy="787400"/>
          </a:xfrm>
          <a:prstGeom prst="rect">
            <a:avLst/>
          </a:prstGeom>
          <a:solidFill>
            <a:srgbClr val="EEF1F6"/>
          </a:solidFill>
          <a:ln w="9525">
            <a:solidFill>
              <a:srgbClr val="5B6B8C">
                <a:alpha val="35000"/>
              </a:srgbClr>
            </a:solidFill>
          </a:ln>
        </p:spPr>
        <p:txBody>
          <a:bodyPr lIns="114300" tIns="68580" rIns="91440" bIns="40000" anchor="ctr"/>
          <a:lstStyle/>
          <a:p>
            <a:r>
              <a:rPr lang="en-US" sz="1500" b="1" dirty="0">
                <a:solidFill>
                  <a:srgbClr val="34A56E"/>
                </a:solidFill>
              </a:rPr>
              <a:t>③　自檢</a:t>
            </a:r>
          </a:p>
          <a:p>
            <a:pPr>
              <a:spcBef>
                <a:spcPts val="300"/>
              </a:spcBef>
            </a:pPr>
            <a:r>
              <a:rPr lang="en-US" sz="1400" dirty="0">
                <a:solidFill>
                  <a:srgbClr val="4A5468"/>
                </a:solidFill>
              </a:rPr>
              <a:t>python3 scripts/check.py 校驗 manifest、偵測漂移</a:t>
            </a:r>
          </a:p>
        </p:txBody>
      </p:sp>
      <p:sp>
        <p:nvSpPr>
          <p:cNvPr id="809" name="st"/>
          <p:cNvSpPr/>
          <p:nvPr/>
        </p:nvSpPr>
        <p:spPr>
          <a:xfrm>
            <a:off x="6273800" y="4800600"/>
            <a:ext cx="5461000" cy="787400"/>
          </a:xfrm>
          <a:prstGeom prst="rect">
            <a:avLst/>
          </a:prstGeom>
          <a:solidFill>
            <a:srgbClr val="EEF1F6"/>
          </a:solidFill>
          <a:ln w="9525">
            <a:solidFill>
              <a:srgbClr val="5B6B8C">
                <a:alpha val="35000"/>
              </a:srgbClr>
            </a:solidFill>
          </a:ln>
        </p:spPr>
        <p:txBody>
          <a:bodyPr lIns="114300" tIns="68580" rIns="91440" bIns="40000" anchor="ctr"/>
          <a:lstStyle/>
          <a:p>
            <a:r>
              <a:rPr lang="en-US" sz="1500" b="1" dirty="0">
                <a:solidFill>
                  <a:srgbClr val="34A56E"/>
                </a:solidFill>
              </a:rPr>
              <a:t>④　版本號</a:t>
            </a:r>
          </a:p>
          <a:p>
            <a:pPr>
              <a:spcBef>
                <a:spcPts val="300"/>
              </a:spcBef>
            </a:pPr>
            <a:r>
              <a:rPr lang="en-US" sz="1400" dirty="0">
                <a:solidFill>
                  <a:srgbClr val="4A5468"/>
                </a:solidFill>
              </a:rPr>
              <a:t>pre-commit 自動補 patch,作為推送更新的閘</a:t>
            </a:r>
          </a:p>
        </p:txBody>
      </p:sp>
      <p:sp>
        <p:nvSpPr>
          <p:cNvPr id="810" name="ruleband"/>
          <p:cNvSpPr/>
          <p:nvPr/>
        </p:nvSpPr>
        <p:spPr>
          <a:xfrm>
            <a:off x="457200" y="5740400"/>
            <a:ext cx="11277600" cy="5588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txBody>
          <a:bodyPr lIns="114300" tIns="0" rIns="91440" bIns="0" anchor="ctr"/>
          <a:lstStyle/>
          <a:p>
            <a:r>
              <a:rPr lang="zh-TW" sz="1500" b="1" dirty="0">
                <a:solidFill>
                  <a:srgbClr val="FFFFFF"/>
                </a:solidFill>
              </a:rPr>
              <a:t>鐵則　</a:t>
            </a:r>
            <a:r>
              <a:rPr lang="zh-TW" sz="1500" dirty="0">
                <a:solidFill>
                  <a:srgbClr val="EEF1F6"/>
                </a:solidFill>
              </a:rPr>
              <a:t>改</a:t>
            </a:r>
            <a:r>
              <a:rPr lang="zh-TW" altLang="en-US" sz="1500" dirty="0">
                <a:solidFill>
                  <a:srgbClr val="EEF1F6"/>
                </a:solidFill>
              </a:rPr>
              <a:t>一份檔案</a:t>
            </a:r>
            <a:r>
              <a:rPr lang="zh-TW" sz="1500" dirty="0">
                <a:solidFill>
                  <a:srgbClr val="EEF1F6"/>
                </a:solidFill>
              </a:rPr>
              <a:t> → 跑 sync → 跑 check。少了 sync,check 會擋;直接改副本,check 也會擋。</a:t>
            </a:r>
          </a:p>
        </p:txBody>
      </p:sp>
    </p:spTree>
    <p:extLst>
      <p:ext uri="{BB962C8B-B14F-4D97-AF65-F5344CB8AC3E}">
        <p14:creationId xmlns:p14="http://schemas.microsoft.com/office/powerpoint/2010/main" val="23181213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87D680-17B5-D1AE-98A7-C22AAD643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000" b="1" dirty="0"/>
              <a:t>第三段　十個 Agent 重點摘要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073466D-03F9-3FA5-9699-84423D375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b="1" dirty="0">
                <a:solidFill>
                  <a:schemeClr val="accent1"/>
                </a:solidFill>
              </a:rPr>
              <a:t>PART 03　·　逐家族速查</a:t>
            </a:r>
          </a:p>
          <a:p>
            <a:r>
              <a:rPr lang="zh-TW" sz="1600" dirty="0">
                <a:solidFill>
                  <a:schemeClr val="accent5"/>
                </a:solidFill>
              </a:rPr>
              <a:t>依四</a:t>
            </a:r>
            <a:r>
              <a:rPr lang="zh-TW" altLang="en-US" sz="1600" dirty="0">
                <a:solidFill>
                  <a:schemeClr val="accent5"/>
                </a:solidFill>
              </a:rPr>
              <a:t>個群組，</a:t>
            </a:r>
            <a:r>
              <a:rPr lang="zh-TW" sz="1600" dirty="0">
                <a:solidFill>
                  <a:schemeClr val="accent5"/>
                </a:solidFill>
              </a:rPr>
              <a:t>逐一看每個 Agent 的「做什麼 · 何時用 · 風險」</a:t>
            </a:r>
          </a:p>
        </p:txBody>
      </p:sp>
    </p:spTree>
    <p:extLst>
      <p:ext uri="{BB962C8B-B14F-4D97-AF65-F5344CB8AC3E}">
        <p14:creationId xmlns:p14="http://schemas.microsoft.com/office/powerpoint/2010/main" val="2026846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5E48F1-A2F8-47E0-A5FE-2A0A4621E7F5}"/>
              </a:ext>
            </a:extLst>
          </p:cNvPr>
          <p:cNvSpPr txBox="1"/>
          <p:nvPr/>
        </p:nvSpPr>
        <p:spPr>
          <a:xfrm>
            <a:off x="304800" y="228600"/>
            <a:ext cx="8128000" cy="6604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3400" b="1" dirty="0">
                <a:solidFill>
                  <a:srgbClr val="1B8EA6"/>
                </a:solidFill>
              </a:rPr>
              <a:t>Market-Researcher Agent</a:t>
            </a:r>
            <a:endParaRPr lang="zh-TW" altLang="en-US" sz="3400" b="1" dirty="0">
              <a:solidFill>
                <a:srgbClr val="1B8EA6"/>
              </a:solidFill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350853C7-B415-4605-B74C-70BCCE94FF7F}"/>
              </a:ext>
            </a:extLst>
          </p:cNvPr>
          <p:cNvSpPr/>
          <p:nvPr/>
        </p:nvSpPr>
        <p:spPr>
          <a:xfrm>
            <a:off x="9042400" y="279400"/>
            <a:ext cx="2844800" cy="457200"/>
          </a:xfrm>
          <a:prstGeom prst="roundRect">
            <a:avLst/>
          </a:prstGeom>
          <a:solidFill>
            <a:srgbClr val="E8B5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000" b="1">
                <a:solidFill>
                  <a:srgbClr val="FFFFFF"/>
                </a:solidFill>
              </a:rPr>
              <a:t>適用對象</a:t>
            </a:r>
            <a:r>
              <a:rPr lang="en-US" altLang="zh-TW" sz="2000" b="1">
                <a:solidFill>
                  <a:srgbClr val="FFFFFF"/>
                </a:solidFill>
              </a:rPr>
              <a:t>:</a:t>
            </a:r>
            <a:r>
              <a:rPr lang="zh-TW" altLang="en-US" sz="2000" b="1">
                <a:solidFill>
                  <a:srgbClr val="FFFFFF"/>
                </a:solidFill>
              </a:rPr>
              <a:t>法金／投研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D52DCAD0-41D8-4D43-810C-074FCB9FDFFC}"/>
              </a:ext>
            </a:extLst>
          </p:cNvPr>
          <p:cNvSpPr/>
          <p:nvPr/>
        </p:nvSpPr>
        <p:spPr>
          <a:xfrm>
            <a:off x="304800" y="1041400"/>
            <a:ext cx="1016000" cy="457200"/>
          </a:xfrm>
          <a:prstGeom prst="roundRect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600" b="1" dirty="0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5" name="descBox">
            <a:extLst>
              <a:ext uri="{FF2B5EF4-FFF2-40B4-BE49-F238E27FC236}">
                <a16:creationId xmlns:a16="http://schemas.microsoft.com/office/drawing/2014/main" id="{E306E6DB-1021-472A-AA85-781FA1A779E9}"/>
              </a:ext>
            </a:extLst>
          </p:cNvPr>
          <p:cNvSpPr txBox="1"/>
          <p:nvPr/>
        </p:nvSpPr>
        <p:spPr>
          <a:xfrm>
            <a:off x="1473200" y="10160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zh-TW" altLang="en-US" dirty="0">
                <a:solidFill>
                  <a:srgbClr val="1F2A44"/>
                </a:solidFill>
              </a:rPr>
              <a:t>產業研究助理</a:t>
            </a:r>
            <a:r>
              <a:rPr lang="en-US" altLang="zh-TW" dirty="0">
                <a:solidFill>
                  <a:srgbClr val="1F2A44"/>
                </a:solidFill>
              </a:rPr>
              <a:t>,</a:t>
            </a:r>
            <a:r>
              <a:rPr lang="zh-TW" altLang="en-US" dirty="0">
                <a:solidFill>
                  <a:srgbClr val="1F2A44"/>
                </a:solidFill>
              </a:rPr>
              <a:t>針對某投資主題研究產業概況、競品、同業比較</a:t>
            </a:r>
            <a:r>
              <a:rPr lang="en-US" altLang="zh-TW" dirty="0">
                <a:solidFill>
                  <a:srgbClr val="1F2A44"/>
                </a:solidFill>
              </a:rPr>
              <a:t>,</a:t>
            </a:r>
            <a:r>
              <a:rPr lang="zh-TW" altLang="en-US" dirty="0">
                <a:solidFill>
                  <a:srgbClr val="1F2A44"/>
                </a:solidFill>
              </a:rPr>
              <a:t>最終產出研究報告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480E125-5C2C-4518-AC2B-6E4F4BB2A821}"/>
              </a:ext>
            </a:extLst>
          </p:cNvPr>
          <p:cNvSpPr/>
          <p:nvPr/>
        </p:nvSpPr>
        <p:spPr>
          <a:xfrm>
            <a:off x="3048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 dirty="0">
                <a:solidFill>
                  <a:srgbClr val="FFFFFF"/>
                </a:solidFill>
              </a:rPr>
              <a:t>Agent </a:t>
            </a:r>
            <a:r>
              <a:rPr lang="zh-TW" altLang="en-US" sz="2200" b="1" dirty="0">
                <a:solidFill>
                  <a:srgbClr val="FFFFFF"/>
                </a:solidFill>
              </a:rPr>
              <a:t>運作流程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C2356A-14AC-4BC5-B13F-CABBA997CDD3}"/>
              </a:ext>
            </a:extLst>
          </p:cNvPr>
          <p:cNvSpPr/>
          <p:nvPr/>
        </p:nvSpPr>
        <p:spPr>
          <a:xfrm>
            <a:off x="42672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步驟說明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FEF3B04-6910-4E33-ADE5-0DE565053831}"/>
              </a:ext>
            </a:extLst>
          </p:cNvPr>
          <p:cNvSpPr/>
          <p:nvPr/>
        </p:nvSpPr>
        <p:spPr>
          <a:xfrm>
            <a:off x="82296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實際產出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1947C3D2-879E-4020-AFA6-574BF9B0AF04}"/>
              </a:ext>
            </a:extLst>
          </p:cNvPr>
          <p:cNvSpPr/>
          <p:nvPr/>
        </p:nvSpPr>
        <p:spPr>
          <a:xfrm>
            <a:off x="304800" y="2235200"/>
            <a:ext cx="3657600" cy="7366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1F381FE7-79B4-466E-891A-1E6443A75D51}"/>
              </a:ext>
            </a:extLst>
          </p:cNvPr>
          <p:cNvSpPr/>
          <p:nvPr/>
        </p:nvSpPr>
        <p:spPr>
          <a:xfrm>
            <a:off x="381000" y="2425700"/>
            <a:ext cx="355600" cy="355600"/>
          </a:xfrm>
          <a:prstGeom prst="ellipse">
            <a:avLst/>
          </a:prstGeom>
          <a:solidFill>
            <a:srgbClr val="00B05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sz="1300" b="1">
                <a:solidFill>
                  <a:srgbClr val="FFFFFF"/>
                </a:solidFill>
              </a:rPr>
              <a:t>1</a:t>
            </a:r>
            <a:endParaRPr lang="zh-TW" altLang="en-US" sz="1300" b="1">
              <a:solidFill>
                <a:srgbClr val="FFFFFF"/>
              </a:solidFill>
            </a:endParaRPr>
          </a:p>
        </p:txBody>
      </p:sp>
      <p:sp>
        <p:nvSpPr>
          <p:cNvPr id="11" name="step0">
            <a:extLst>
              <a:ext uri="{FF2B5EF4-FFF2-40B4-BE49-F238E27FC236}">
                <a16:creationId xmlns:a16="http://schemas.microsoft.com/office/drawing/2014/main" id="{D8EA4C21-C360-48B8-BCCA-31A91C4FD5BB}"/>
              </a:ext>
            </a:extLst>
          </p:cNvPr>
          <p:cNvSpPr txBox="1"/>
          <p:nvPr/>
        </p:nvSpPr>
        <p:spPr>
          <a:xfrm>
            <a:off x="838200" y="2286000"/>
            <a:ext cx="3048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定義研究範圍</a:t>
            </a:r>
          </a:p>
          <a:p>
            <a:pPr>
              <a:lnSpc>
                <a:spcPts val="125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確認研究問題、市場範圍和研究邊界。找出該領域的 8-15 個公司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E4D06FEE-F20F-4C16-8A1C-72E4BE81197A}"/>
              </a:ext>
            </a:extLst>
          </p:cNvPr>
          <p:cNvSpPr/>
          <p:nvPr/>
        </p:nvSpPr>
        <p:spPr>
          <a:xfrm>
            <a:off x="304800" y="3073400"/>
            <a:ext cx="3657600" cy="7366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64FC7F29-C07F-4A28-BE6B-CC4AD712E9CD}"/>
              </a:ext>
            </a:extLst>
          </p:cNvPr>
          <p:cNvSpPr/>
          <p:nvPr/>
        </p:nvSpPr>
        <p:spPr>
          <a:xfrm>
            <a:off x="381000" y="326390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sz="1300" b="1">
                <a:solidFill>
                  <a:srgbClr val="FFFFFF"/>
                </a:solidFill>
              </a:rPr>
              <a:t>2</a:t>
            </a:r>
            <a:endParaRPr lang="zh-TW" altLang="en-US" sz="1300" b="1">
              <a:solidFill>
                <a:srgbClr val="FFFFFF"/>
              </a:solidFill>
            </a:endParaRPr>
          </a:p>
        </p:txBody>
      </p:sp>
      <p:sp>
        <p:nvSpPr>
          <p:cNvPr id="14" name="step1">
            <a:extLst>
              <a:ext uri="{FF2B5EF4-FFF2-40B4-BE49-F238E27FC236}">
                <a16:creationId xmlns:a16="http://schemas.microsoft.com/office/drawing/2014/main" id="{EA484A52-68D3-4812-ACBE-5F50373F736A}"/>
              </a:ext>
            </a:extLst>
          </p:cNvPr>
          <p:cNvSpPr txBox="1"/>
          <p:nvPr/>
        </p:nvSpPr>
        <p:spPr>
          <a:xfrm>
            <a:off x="838200" y="3124200"/>
            <a:ext cx="3048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市場全景分析</a:t>
            </a:r>
          </a:p>
          <a:p>
            <a:pPr>
              <a:lnSpc>
                <a:spcPts val="125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整理該產業的市場規模、產業結構、值得關注的點、主要成長驅動與風險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34241FD-E4C5-4658-AEF9-685F75FEDD02}"/>
              </a:ext>
            </a:extLst>
          </p:cNvPr>
          <p:cNvSpPr/>
          <p:nvPr/>
        </p:nvSpPr>
        <p:spPr>
          <a:xfrm>
            <a:off x="304800" y="3911600"/>
            <a:ext cx="3657600" cy="7366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FE77734E-BF17-4528-8653-686EABB59FE0}"/>
              </a:ext>
            </a:extLst>
          </p:cNvPr>
          <p:cNvSpPr/>
          <p:nvPr/>
        </p:nvSpPr>
        <p:spPr>
          <a:xfrm>
            <a:off x="381000" y="410210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sz="1300" b="1">
                <a:solidFill>
                  <a:srgbClr val="FFFFFF"/>
                </a:solidFill>
              </a:rPr>
              <a:t>3</a:t>
            </a:r>
            <a:endParaRPr lang="zh-TW" altLang="en-US" sz="1300" b="1">
              <a:solidFill>
                <a:srgbClr val="FFFFFF"/>
              </a:solidFill>
            </a:endParaRPr>
          </a:p>
        </p:txBody>
      </p:sp>
      <p:sp>
        <p:nvSpPr>
          <p:cNvPr id="17" name="step2">
            <a:extLst>
              <a:ext uri="{FF2B5EF4-FFF2-40B4-BE49-F238E27FC236}">
                <a16:creationId xmlns:a16="http://schemas.microsoft.com/office/drawing/2014/main" id="{80F53066-C6A7-4EBD-B2A3-8815AEC43ECD}"/>
              </a:ext>
            </a:extLst>
          </p:cNvPr>
          <p:cNvSpPr txBox="1"/>
          <p:nvPr/>
        </p:nvSpPr>
        <p:spPr>
          <a:xfrm>
            <a:off x="838200" y="3962400"/>
            <a:ext cx="3048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分析競爭格局與同業比較</a:t>
            </a:r>
          </a:p>
          <a:p>
            <a:pPr>
              <a:lnSpc>
                <a:spcPts val="125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做競爭格局分析,分析該產業 top5 公司的營收、成長率、市占率,並分析市場份額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745C473F-0E25-4068-9239-57C173D228F8}"/>
              </a:ext>
            </a:extLst>
          </p:cNvPr>
          <p:cNvSpPr/>
          <p:nvPr/>
        </p:nvSpPr>
        <p:spPr>
          <a:xfrm>
            <a:off x="304800" y="4749800"/>
            <a:ext cx="3657600" cy="7366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97A6FD79-C8F5-4AEE-A75D-022EB4DF8832}"/>
              </a:ext>
            </a:extLst>
          </p:cNvPr>
          <p:cNvSpPr/>
          <p:nvPr/>
        </p:nvSpPr>
        <p:spPr>
          <a:xfrm>
            <a:off x="381000" y="494030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sz="1300" b="1">
                <a:solidFill>
                  <a:srgbClr val="FFFFFF"/>
                </a:solidFill>
              </a:rPr>
              <a:t>4</a:t>
            </a:r>
            <a:endParaRPr lang="zh-TW" altLang="en-US" sz="1300" b="1">
              <a:solidFill>
                <a:srgbClr val="FFFFFF"/>
              </a:solidFill>
            </a:endParaRPr>
          </a:p>
        </p:txBody>
      </p:sp>
      <p:sp>
        <p:nvSpPr>
          <p:cNvPr id="20" name="step3">
            <a:extLst>
              <a:ext uri="{FF2B5EF4-FFF2-40B4-BE49-F238E27FC236}">
                <a16:creationId xmlns:a16="http://schemas.microsoft.com/office/drawing/2014/main" id="{40A0DB60-99B4-42E8-B0D1-3AEE3E62A429}"/>
              </a:ext>
            </a:extLst>
          </p:cNvPr>
          <p:cNvSpPr txBox="1"/>
          <p:nvPr/>
        </p:nvSpPr>
        <p:spPr>
          <a:xfrm>
            <a:off x="838200" y="4800600"/>
            <a:ext cx="3048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篩選潛在關注標的</a:t>
            </a:r>
          </a:p>
          <a:p>
            <a:pPr>
              <a:lnSpc>
                <a:spcPts val="125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idea-generation:根據前面整理好的產業格局與公司比較,挑出最值得關注的幾個名字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A34C8BEA-11C8-48C8-868F-303A31AA342C}"/>
              </a:ext>
            </a:extLst>
          </p:cNvPr>
          <p:cNvSpPr/>
          <p:nvPr/>
        </p:nvSpPr>
        <p:spPr>
          <a:xfrm>
            <a:off x="304800" y="5588000"/>
            <a:ext cx="3657600" cy="7366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A3EB4FDC-2B4F-456A-8176-BB6E56C9E2D9}"/>
              </a:ext>
            </a:extLst>
          </p:cNvPr>
          <p:cNvSpPr/>
          <p:nvPr/>
        </p:nvSpPr>
        <p:spPr>
          <a:xfrm>
            <a:off x="381000" y="577850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zh-TW" sz="1300" b="1">
                <a:solidFill>
                  <a:srgbClr val="FFFFFF"/>
                </a:solidFill>
              </a:rPr>
              <a:t>5</a:t>
            </a:r>
            <a:endParaRPr lang="zh-TW" altLang="en-US" sz="1300" b="1">
              <a:solidFill>
                <a:srgbClr val="FFFFFF"/>
              </a:solidFill>
            </a:endParaRPr>
          </a:p>
        </p:txBody>
      </p:sp>
      <p:sp>
        <p:nvSpPr>
          <p:cNvPr id="23" name="step4">
            <a:extLst>
              <a:ext uri="{FF2B5EF4-FFF2-40B4-BE49-F238E27FC236}">
                <a16:creationId xmlns:a16="http://schemas.microsoft.com/office/drawing/2014/main" id="{22EE4AF1-9F8D-44FB-B1C0-887545B5AFCF}"/>
              </a:ext>
            </a:extLst>
          </p:cNvPr>
          <p:cNvSpPr txBox="1"/>
          <p:nvPr/>
        </p:nvSpPr>
        <p:spPr>
          <a:xfrm>
            <a:off x="838200" y="5638800"/>
            <a:ext cx="3048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輸出研究報告</a:t>
            </a:r>
          </a:p>
          <a:p>
            <a:pPr>
              <a:lnSpc>
                <a:spcPts val="125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整理研究成果,生成 slide</a:t>
            </a:r>
          </a:p>
        </p:txBody>
      </p:sp>
      <p:sp>
        <p:nvSpPr>
          <p:cNvPr id="26" name="bulletBox">
            <a:extLst>
              <a:ext uri="{FF2B5EF4-FFF2-40B4-BE49-F238E27FC236}">
                <a16:creationId xmlns:a16="http://schemas.microsoft.com/office/drawing/2014/main" id="{D0DCDC6F-DAC8-88DD-9119-FA040672DFB5}"/>
              </a:ext>
            </a:extLst>
          </p:cNvPr>
          <p:cNvSpPr txBox="1"/>
          <p:nvPr/>
        </p:nvSpPr>
        <p:spPr>
          <a:xfrm>
            <a:off x="4267200" y="2458272"/>
            <a:ext cx="3505200" cy="51352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500"/>
              </a:lnSpc>
              <a:spcAft>
                <a:spcPts val="600"/>
              </a:spcAft>
              <a:buFont typeface="Arial"/>
              <a:buChar char="•"/>
            </a:pPr>
            <a:r>
              <a:rPr lang="zh-TW" sz="1300" b="1" dirty="0">
                <a:solidFill>
                  <a:srgbClr val="1B8EA6"/>
                </a:solidFill>
              </a:rPr>
              <a:t>外部資料源爬蟲：</a:t>
            </a:r>
            <a:r>
              <a:rPr lang="zh-TW" sz="1300" dirty="0">
                <a:solidFill>
                  <a:srgbClr val="1F2A44"/>
                </a:solidFill>
              </a:rPr>
              <a:t>確認研究問題與市場邊界，鎖定該領域 8–15 家公司</a:t>
            </a:r>
          </a:p>
        </p:txBody>
      </p:sp>
      <p:sp>
        <p:nvSpPr>
          <p:cNvPr id="27" name="bulletBox">
            <a:extLst>
              <a:ext uri="{FF2B5EF4-FFF2-40B4-BE49-F238E27FC236}">
                <a16:creationId xmlns:a16="http://schemas.microsoft.com/office/drawing/2014/main" id="{FFF3D738-F519-E699-6A31-0E0217C1FE20}"/>
              </a:ext>
            </a:extLst>
          </p:cNvPr>
          <p:cNvSpPr txBox="1"/>
          <p:nvPr/>
        </p:nvSpPr>
        <p:spPr>
          <a:xfrm>
            <a:off x="4267200" y="3263900"/>
            <a:ext cx="3505200" cy="468555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500"/>
              </a:lnSpc>
              <a:spcAft>
                <a:spcPts val="600"/>
              </a:spcAft>
              <a:buFont typeface="Arial"/>
              <a:buChar char="•"/>
            </a:pPr>
            <a:r>
              <a:rPr lang="zh-TW" sz="1300" b="1" dirty="0">
                <a:solidFill>
                  <a:srgbClr val="1B8EA6"/>
                </a:solidFill>
              </a:rPr>
              <a:t>產業總覽：</a:t>
            </a:r>
            <a:r>
              <a:rPr lang="zh-TW" sz="1300" dirty="0">
                <a:solidFill>
                  <a:srgbClr val="1F2A44"/>
                </a:solidFill>
              </a:rPr>
              <a:t>整理市場規模、產業結構、成長驅動與風險，產出產業總覽報告</a:t>
            </a:r>
          </a:p>
        </p:txBody>
      </p:sp>
      <p:sp>
        <p:nvSpPr>
          <p:cNvPr id="29" name="bulletBox">
            <a:extLst>
              <a:ext uri="{FF2B5EF4-FFF2-40B4-BE49-F238E27FC236}">
                <a16:creationId xmlns:a16="http://schemas.microsoft.com/office/drawing/2014/main" id="{2A610392-278D-F886-39A2-B3EA9E5458AB}"/>
              </a:ext>
            </a:extLst>
          </p:cNvPr>
          <p:cNvSpPr txBox="1"/>
          <p:nvPr/>
        </p:nvSpPr>
        <p:spPr>
          <a:xfrm>
            <a:off x="4267200" y="4042185"/>
            <a:ext cx="3505200" cy="6477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500"/>
              </a:lnSpc>
              <a:spcAft>
                <a:spcPts val="600"/>
              </a:spcAft>
              <a:buFont typeface="Arial"/>
              <a:buChar char="•"/>
            </a:pPr>
            <a:r>
              <a:rPr lang="zh-TW" sz="1300" b="1" dirty="0">
                <a:solidFill>
                  <a:srgbClr val="1B8EA6"/>
                </a:solidFill>
              </a:rPr>
              <a:t>MCP 資料串接與動態分析：</a:t>
            </a:r>
            <a:r>
              <a:rPr lang="zh-TW" sz="1300" dirty="0">
                <a:solidFill>
                  <a:srgbClr val="1F2A44"/>
                </a:solidFill>
              </a:rPr>
              <a:t>串接資料源做競品分析與 top5 營收市占，可自定義比較項目</a:t>
            </a:r>
          </a:p>
        </p:txBody>
      </p:sp>
      <p:sp>
        <p:nvSpPr>
          <p:cNvPr id="30" name="bulletBox">
            <a:extLst>
              <a:ext uri="{FF2B5EF4-FFF2-40B4-BE49-F238E27FC236}">
                <a16:creationId xmlns:a16="http://schemas.microsoft.com/office/drawing/2014/main" id="{C4C9E165-C43A-DDEB-323B-6958AC4F7FEA}"/>
              </a:ext>
            </a:extLst>
          </p:cNvPr>
          <p:cNvSpPr txBox="1"/>
          <p:nvPr/>
        </p:nvSpPr>
        <p:spPr>
          <a:xfrm>
            <a:off x="4267200" y="4987288"/>
            <a:ext cx="3505200" cy="462729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500"/>
              </a:lnSpc>
              <a:spcAft>
                <a:spcPts val="600"/>
              </a:spcAft>
              <a:buFont typeface="Arial"/>
              <a:buChar char="•"/>
            </a:pPr>
            <a:r>
              <a:rPr lang="zh-TW" sz="1300" b="1" dirty="0">
                <a:solidFill>
                  <a:srgbClr val="1B8EA6"/>
                </a:solidFill>
              </a:rPr>
              <a:t>多源資料整合與投資決策推薦：</a:t>
            </a:r>
            <a:r>
              <a:rPr lang="zh-TW" sz="1300" dirty="0">
                <a:solidFill>
                  <a:srgbClr val="1F2A44"/>
                </a:solidFill>
              </a:rPr>
              <a:t>整合前面蒐集資訊，推薦可投資標的</a:t>
            </a:r>
          </a:p>
        </p:txBody>
      </p:sp>
      <p:sp>
        <p:nvSpPr>
          <p:cNvPr id="31" name="bulletBox">
            <a:extLst>
              <a:ext uri="{FF2B5EF4-FFF2-40B4-BE49-F238E27FC236}">
                <a16:creationId xmlns:a16="http://schemas.microsoft.com/office/drawing/2014/main" id="{E019C036-6912-13EA-C942-BC2A70FED8FB}"/>
              </a:ext>
            </a:extLst>
          </p:cNvPr>
          <p:cNvSpPr txBox="1"/>
          <p:nvPr/>
        </p:nvSpPr>
        <p:spPr>
          <a:xfrm>
            <a:off x="4267200" y="5805767"/>
            <a:ext cx="3505200" cy="49208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500"/>
              </a:lnSpc>
              <a:spcAft>
                <a:spcPts val="600"/>
              </a:spcAft>
              <a:buFont typeface="Arial"/>
              <a:buChar char="•"/>
            </a:pPr>
            <a:r>
              <a:rPr lang="zh-TW" sz="1300" b="1" dirty="0">
                <a:solidFill>
                  <a:srgbClr val="1B8EA6"/>
                </a:solidFill>
              </a:rPr>
              <a:t>報告生成：</a:t>
            </a:r>
            <a:r>
              <a:rPr lang="zh-TW" sz="1300" dirty="0">
                <a:solidFill>
                  <a:srgbClr val="1F2A44"/>
                </a:solidFill>
              </a:rPr>
              <a:t>整合所有研究成果，產出市場研究報告</a:t>
            </a:r>
          </a:p>
        </p:txBody>
      </p:sp>
    </p:spTree>
    <p:extLst>
      <p:ext uri="{BB962C8B-B14F-4D97-AF65-F5344CB8AC3E}">
        <p14:creationId xmlns:p14="http://schemas.microsoft.com/office/powerpoint/2010/main" val="2080522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5E48F1-A2F8-47E0-A5FE-2A0A4621E7F5}"/>
              </a:ext>
            </a:extLst>
          </p:cNvPr>
          <p:cNvSpPr txBox="1"/>
          <p:nvPr/>
        </p:nvSpPr>
        <p:spPr>
          <a:xfrm>
            <a:off x="304800" y="228600"/>
            <a:ext cx="8128000" cy="6604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3400" b="1" dirty="0">
                <a:solidFill>
                  <a:srgbClr val="1B8EA6"/>
                </a:solidFill>
              </a:rPr>
              <a:t>Model Builder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350853C7-B415-4605-B74C-70BCCE94FF7F}"/>
              </a:ext>
            </a:extLst>
          </p:cNvPr>
          <p:cNvSpPr/>
          <p:nvPr/>
        </p:nvSpPr>
        <p:spPr>
          <a:xfrm>
            <a:off x="9042400" y="279400"/>
            <a:ext cx="2844800" cy="457200"/>
          </a:xfrm>
          <a:prstGeom prst="roundRect">
            <a:avLst/>
          </a:prstGeom>
          <a:solidFill>
            <a:srgbClr val="E8B5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000" b="1">
                <a:solidFill>
                  <a:srgbClr val="FFFFFF"/>
                </a:solidFill>
              </a:rPr>
              <a:t>適用對象：研究與建模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D52DCAD0-41D8-4D43-810C-074FCB9FDFFC}"/>
              </a:ext>
            </a:extLst>
          </p:cNvPr>
          <p:cNvSpPr/>
          <p:nvPr/>
        </p:nvSpPr>
        <p:spPr>
          <a:xfrm>
            <a:off x="304800" y="1041400"/>
            <a:ext cx="1016000" cy="457200"/>
          </a:xfrm>
          <a:prstGeom prst="roundRect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600" b="1" dirty="0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5" name="descBox">
            <a:extLst>
              <a:ext uri="{FF2B5EF4-FFF2-40B4-BE49-F238E27FC236}">
                <a16:creationId xmlns:a16="http://schemas.microsoft.com/office/drawing/2014/main" id="{E306E6DB-1021-472A-AA85-781FA1A779E9}"/>
              </a:ext>
            </a:extLst>
          </p:cNvPr>
          <p:cNvSpPr txBox="1"/>
          <p:nvPr/>
        </p:nvSpPr>
        <p:spPr>
          <a:xfrm>
            <a:off x="1473200" y="10160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zh-TW" altLang="en-US" sz="1600" dirty="0">
                <a:solidFill>
                  <a:srgbClr val="1F2A44"/>
                </a:solidFill>
              </a:rPr>
              <a:t>估值建模助理，針對一家公司從零建立估值模型（DCF／LBO／三表等），最終產出可供投資決策的 Excel 模型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480E125-5C2C-4518-AC2B-6E4F4BB2A821}"/>
              </a:ext>
            </a:extLst>
          </p:cNvPr>
          <p:cNvSpPr/>
          <p:nvPr/>
        </p:nvSpPr>
        <p:spPr>
          <a:xfrm>
            <a:off x="3048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 dirty="0">
                <a:solidFill>
                  <a:srgbClr val="FFFFFF"/>
                </a:solidFill>
              </a:rPr>
              <a:t>Agent </a:t>
            </a:r>
            <a:r>
              <a:rPr lang="zh-TW" altLang="en-US" sz="2200" b="1" dirty="0">
                <a:solidFill>
                  <a:srgbClr val="FFFFFF"/>
                </a:solidFill>
              </a:rPr>
              <a:t>運作流程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C2356A-14AC-4BC5-B13F-CABBA997CDD3}"/>
              </a:ext>
            </a:extLst>
          </p:cNvPr>
          <p:cNvSpPr/>
          <p:nvPr/>
        </p:nvSpPr>
        <p:spPr>
          <a:xfrm>
            <a:off x="42672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步驟說明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FEF3B04-6910-4E33-ADE5-0DE565053831}"/>
              </a:ext>
            </a:extLst>
          </p:cNvPr>
          <p:cNvSpPr/>
          <p:nvPr/>
        </p:nvSpPr>
        <p:spPr>
          <a:xfrm>
            <a:off x="82296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實際產出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1947C3D2-879E-4020-AFA6-574BF9B0AF04}"/>
              </a:ext>
            </a:extLst>
          </p:cNvPr>
          <p:cNvSpPr/>
          <p:nvPr/>
        </p:nvSpPr>
        <p:spPr>
          <a:xfrm>
            <a:off x="304800" y="2235200"/>
            <a:ext cx="3657600" cy="71628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1F381FE7-79B4-466E-891A-1E6443A75D51}"/>
              </a:ext>
            </a:extLst>
          </p:cNvPr>
          <p:cNvSpPr/>
          <p:nvPr/>
        </p:nvSpPr>
        <p:spPr>
          <a:xfrm>
            <a:off x="381000" y="2415540"/>
            <a:ext cx="355600" cy="355600"/>
          </a:xfrm>
          <a:prstGeom prst="ellipse">
            <a:avLst/>
          </a:prstGeom>
          <a:solidFill>
            <a:srgbClr val="00B05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step0">
            <a:extLst>
              <a:ext uri="{FF2B5EF4-FFF2-40B4-BE49-F238E27FC236}">
                <a16:creationId xmlns:a16="http://schemas.microsoft.com/office/drawing/2014/main" id="{D8EA4C21-C360-48B8-BCCA-31A91C4FD5BB}"/>
              </a:ext>
            </a:extLst>
          </p:cNvPr>
          <p:cNvSpPr txBox="1"/>
          <p:nvPr/>
        </p:nvSpPr>
        <p:spPr>
          <a:xfrm>
            <a:off x="838200" y="2235200"/>
            <a:ext cx="3048000" cy="7162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準備資料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取得歷史財務、市場預期與公開申報資料當建模基礎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E4D06FEE-F20F-4C16-8A1C-72E4BE81197A}"/>
              </a:ext>
            </a:extLst>
          </p:cNvPr>
          <p:cNvSpPr/>
          <p:nvPr/>
        </p:nvSpPr>
        <p:spPr>
          <a:xfrm>
            <a:off x="304800" y="3078480"/>
            <a:ext cx="3657600" cy="71628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64FC7F29-C07F-4A28-BE6B-CC4AD712E9CD}"/>
              </a:ext>
            </a:extLst>
          </p:cNvPr>
          <p:cNvSpPr/>
          <p:nvPr/>
        </p:nvSpPr>
        <p:spPr>
          <a:xfrm>
            <a:off x="381000" y="325882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step1">
            <a:extLst>
              <a:ext uri="{FF2B5EF4-FFF2-40B4-BE49-F238E27FC236}">
                <a16:creationId xmlns:a16="http://schemas.microsoft.com/office/drawing/2014/main" id="{EA484A52-68D3-4812-ACBE-5F50373F736A}"/>
              </a:ext>
            </a:extLst>
          </p:cNvPr>
          <p:cNvSpPr txBox="1"/>
          <p:nvPr/>
        </p:nvSpPr>
        <p:spPr>
          <a:xfrm>
            <a:off x="838200" y="3078480"/>
            <a:ext cx="3048000" cy="7162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建立模型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依需求建出對應估值模型（DCF／LBO／三表等）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34241FD-E4C5-4658-AEF9-685F75FEDD02}"/>
              </a:ext>
            </a:extLst>
          </p:cNvPr>
          <p:cNvSpPr/>
          <p:nvPr/>
        </p:nvSpPr>
        <p:spPr>
          <a:xfrm>
            <a:off x="304800" y="3921760"/>
            <a:ext cx="3657600" cy="71628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FE77734E-BF17-4528-8653-686EABB59FE0}"/>
              </a:ext>
            </a:extLst>
          </p:cNvPr>
          <p:cNvSpPr/>
          <p:nvPr/>
        </p:nvSpPr>
        <p:spPr>
          <a:xfrm>
            <a:off x="381000" y="410210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step2">
            <a:extLst>
              <a:ext uri="{FF2B5EF4-FFF2-40B4-BE49-F238E27FC236}">
                <a16:creationId xmlns:a16="http://schemas.microsoft.com/office/drawing/2014/main" id="{80F53066-C6A7-4EBD-B2A3-8815AEC43ECD}"/>
              </a:ext>
            </a:extLst>
          </p:cNvPr>
          <p:cNvSpPr txBox="1"/>
          <p:nvPr/>
        </p:nvSpPr>
        <p:spPr>
          <a:xfrm>
            <a:off x="838200" y="3921760"/>
            <a:ext cx="3048000" cy="7162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檢查模型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複查算得對、公式沒問題，結果可追回輸入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745C473F-0E25-4068-9239-57C173D228F8}"/>
              </a:ext>
            </a:extLst>
          </p:cNvPr>
          <p:cNvSpPr/>
          <p:nvPr/>
        </p:nvSpPr>
        <p:spPr>
          <a:xfrm>
            <a:off x="304800" y="4765040"/>
            <a:ext cx="3657600" cy="71628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97A6FD79-C8F5-4AEE-A75D-022EB4DF8832}"/>
              </a:ext>
            </a:extLst>
          </p:cNvPr>
          <p:cNvSpPr/>
          <p:nvPr/>
        </p:nvSpPr>
        <p:spPr>
          <a:xfrm>
            <a:off x="381000" y="494538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step3">
            <a:extLst>
              <a:ext uri="{FF2B5EF4-FFF2-40B4-BE49-F238E27FC236}">
                <a16:creationId xmlns:a16="http://schemas.microsoft.com/office/drawing/2014/main" id="{40A0DB60-99B4-42E8-B0D1-3AEE3E62A429}"/>
              </a:ext>
            </a:extLst>
          </p:cNvPr>
          <p:cNvSpPr txBox="1"/>
          <p:nvPr/>
        </p:nvSpPr>
        <p:spPr>
          <a:xfrm>
            <a:off x="838200" y="4765040"/>
            <a:ext cx="3048000" cy="7162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做敏感度分析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試算不同假設下結果怎麼變，看對哪些變數最敏感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A34C8BEA-11C8-48C8-868F-303A31AA342C}"/>
              </a:ext>
            </a:extLst>
          </p:cNvPr>
          <p:cNvSpPr/>
          <p:nvPr/>
        </p:nvSpPr>
        <p:spPr>
          <a:xfrm>
            <a:off x="304800" y="5608320"/>
            <a:ext cx="3657600" cy="71628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A3EB4FDC-2B4F-456A-8176-BB6E56C9E2D9}"/>
              </a:ext>
            </a:extLst>
          </p:cNvPr>
          <p:cNvSpPr/>
          <p:nvPr/>
        </p:nvSpPr>
        <p:spPr>
          <a:xfrm>
            <a:off x="381000" y="578866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step4">
            <a:extLst>
              <a:ext uri="{FF2B5EF4-FFF2-40B4-BE49-F238E27FC236}">
                <a16:creationId xmlns:a16="http://schemas.microsoft.com/office/drawing/2014/main" id="{22EE4AF1-9F8D-44FB-B1C0-887545B5AFCF}"/>
              </a:ext>
            </a:extLst>
          </p:cNvPr>
          <p:cNvSpPr txBox="1"/>
          <p:nvPr/>
        </p:nvSpPr>
        <p:spPr>
          <a:xfrm>
            <a:off x="838200" y="5608320"/>
            <a:ext cx="3048000" cy="7162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交付審閱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模型建好先停，使用者確認過才往後使用</a:t>
            </a:r>
          </a:p>
        </p:txBody>
      </p:sp>
      <p:sp>
        <p:nvSpPr>
          <p:cNvPr id="24" name="bulletBox">
            <a:extLst>
              <a:ext uri="{FF2B5EF4-FFF2-40B4-BE49-F238E27FC236}">
                <a16:creationId xmlns:a16="http://schemas.microsoft.com/office/drawing/2014/main" id="{CE601601-DD17-493B-8478-88A0D36F2530}"/>
              </a:ext>
            </a:extLst>
          </p:cNvPr>
          <p:cNvSpPr txBox="1"/>
          <p:nvPr/>
        </p:nvSpPr>
        <p:spPr>
          <a:xfrm>
            <a:off x="4419600" y="2394996"/>
            <a:ext cx="3505200" cy="51054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資料串接：</a:t>
            </a:r>
            <a:r>
              <a:rPr lang="zh-TW" sz="1150" dirty="0">
                <a:solidFill>
                  <a:srgbClr val="1F2A44"/>
                </a:solidFill>
              </a:rPr>
              <a:t>透過 CapIQ／Daloopa MCP 拉歷史財務、市場預期與公開申報文件當輸入</a:t>
            </a:r>
          </a:p>
        </p:txBody>
      </p:sp>
      <p:sp>
        <p:nvSpPr>
          <p:cNvPr id="26" name="bulletBox">
            <a:extLst>
              <a:ext uri="{FF2B5EF4-FFF2-40B4-BE49-F238E27FC236}">
                <a16:creationId xmlns:a16="http://schemas.microsoft.com/office/drawing/2014/main" id="{771E3A30-24A7-358B-25D8-C6C2C5F88794}"/>
              </a:ext>
            </a:extLst>
          </p:cNvPr>
          <p:cNvSpPr txBox="1"/>
          <p:nvPr/>
        </p:nvSpPr>
        <p:spPr>
          <a:xfrm>
            <a:off x="4419600" y="3153485"/>
            <a:ext cx="3505200" cy="7065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擇一建構：</a:t>
            </a:r>
            <a:r>
              <a:rPr lang="zh-TW" sz="1150" dirty="0">
                <a:solidFill>
                  <a:srgbClr val="1F2A44"/>
                </a:solidFill>
              </a:rPr>
              <a:t>依類型用 dcf-model／lbo-model／3-statement／comps，套藍／黑／綠色碼、計算格不寫死</a:t>
            </a:r>
          </a:p>
        </p:txBody>
      </p:sp>
      <p:sp>
        <p:nvSpPr>
          <p:cNvPr id="27" name="bulletBox">
            <a:extLst>
              <a:ext uri="{FF2B5EF4-FFF2-40B4-BE49-F238E27FC236}">
                <a16:creationId xmlns:a16="http://schemas.microsoft.com/office/drawing/2014/main" id="{2D29BD2F-D169-B068-270E-85132EF12B89}"/>
              </a:ext>
            </a:extLst>
          </p:cNvPr>
          <p:cNvSpPr txBox="1"/>
          <p:nvPr/>
        </p:nvSpPr>
        <p:spPr>
          <a:xfrm>
            <a:off x="4419600" y="4102100"/>
            <a:ext cx="3505200" cy="52578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自動稽核：</a:t>
            </a:r>
            <a:r>
              <a:rPr lang="zh-TW" sz="1150" dirty="0">
                <a:solidFill>
                  <a:srgbClr val="1F2A44"/>
                </a:solidFill>
              </a:rPr>
              <a:t>以 audit-xls 跑平衡檢查、確認循環參照為刻意，驗證 output 可追溯回 input</a:t>
            </a:r>
          </a:p>
        </p:txBody>
      </p:sp>
      <p:sp>
        <p:nvSpPr>
          <p:cNvPr id="29" name="bulletBox">
            <a:extLst>
              <a:ext uri="{FF2B5EF4-FFF2-40B4-BE49-F238E27FC236}">
                <a16:creationId xmlns:a16="http://schemas.microsoft.com/office/drawing/2014/main" id="{C0FD6D06-6B61-500D-B7AD-58F6FFE72940}"/>
              </a:ext>
            </a:extLst>
          </p:cNvPr>
          <p:cNvSpPr txBox="1"/>
          <p:nvPr/>
        </p:nvSpPr>
        <p:spPr>
          <a:xfrm>
            <a:off x="4419600" y="4914901"/>
            <a:ext cx="3505200" cy="52324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敏感度表：</a:t>
            </a:r>
            <a:r>
              <a:rPr lang="zh-TW" sz="1150" dirty="0">
                <a:solidFill>
                  <a:srgbClr val="1F2A44"/>
                </a:solidFill>
              </a:rPr>
              <a:t>建標準敏感度表（DCF 的 WACC／成長率、LBO 的 IRR／MOIC）</a:t>
            </a:r>
          </a:p>
        </p:txBody>
      </p:sp>
      <p:sp>
        <p:nvSpPr>
          <p:cNvPr id="30" name="bulletBox">
            <a:extLst>
              <a:ext uri="{FF2B5EF4-FFF2-40B4-BE49-F238E27FC236}">
                <a16:creationId xmlns:a16="http://schemas.microsoft.com/office/drawing/2014/main" id="{33A5174A-CB71-1B2E-01B8-D8414A1E7435}"/>
              </a:ext>
            </a:extLst>
          </p:cNvPr>
          <p:cNvSpPr txBox="1"/>
          <p:nvPr/>
        </p:nvSpPr>
        <p:spPr>
          <a:xfrm>
            <a:off x="4419600" y="5725162"/>
            <a:ext cx="35052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人工覆核：</a:t>
            </a:r>
            <a:r>
              <a:rPr lang="zh-TW" sz="1150" dirty="0">
                <a:solidFill>
                  <a:srgbClr val="1F2A44"/>
                </a:solidFill>
              </a:rPr>
              <a:t>建完即停交付，使用者核准才往下游使用</a:t>
            </a:r>
          </a:p>
        </p:txBody>
      </p:sp>
    </p:spTree>
    <p:extLst>
      <p:ext uri="{BB962C8B-B14F-4D97-AF65-F5344CB8AC3E}">
        <p14:creationId xmlns:p14="http://schemas.microsoft.com/office/powerpoint/2010/main" val="8029540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5E48F1-A2F8-47E0-A5FE-2A0A4621E7F5}"/>
              </a:ext>
            </a:extLst>
          </p:cNvPr>
          <p:cNvSpPr txBox="1"/>
          <p:nvPr/>
        </p:nvSpPr>
        <p:spPr>
          <a:xfrm>
            <a:off x="304800" y="228600"/>
            <a:ext cx="8128000" cy="6604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3400" b="1" dirty="0">
                <a:solidFill>
                  <a:srgbClr val="1B8EA6"/>
                </a:solidFill>
              </a:rPr>
              <a:t>Earnings Reviewer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350853C7-B415-4605-B74C-70BCCE94FF7F}"/>
              </a:ext>
            </a:extLst>
          </p:cNvPr>
          <p:cNvSpPr/>
          <p:nvPr/>
        </p:nvSpPr>
        <p:spPr>
          <a:xfrm>
            <a:off x="9042400" y="279400"/>
            <a:ext cx="2844800" cy="457200"/>
          </a:xfrm>
          <a:prstGeom prst="roundRect">
            <a:avLst/>
          </a:prstGeom>
          <a:solidFill>
            <a:srgbClr val="E8B5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000" b="1">
                <a:solidFill>
                  <a:srgbClr val="FFFFFF"/>
                </a:solidFill>
              </a:rPr>
              <a:t>適用對象：研究與建模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D52DCAD0-41D8-4D43-810C-074FCB9FDFFC}"/>
              </a:ext>
            </a:extLst>
          </p:cNvPr>
          <p:cNvSpPr/>
          <p:nvPr/>
        </p:nvSpPr>
        <p:spPr>
          <a:xfrm>
            <a:off x="304800" y="1041400"/>
            <a:ext cx="1016000" cy="457200"/>
          </a:xfrm>
          <a:prstGeom prst="roundRect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600" b="1" dirty="0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5" name="descBox">
            <a:extLst>
              <a:ext uri="{FF2B5EF4-FFF2-40B4-BE49-F238E27FC236}">
                <a16:creationId xmlns:a16="http://schemas.microsoft.com/office/drawing/2014/main" id="{E306E6DB-1021-472A-AA85-781FA1A779E9}"/>
              </a:ext>
            </a:extLst>
          </p:cNvPr>
          <p:cNvSpPr txBox="1"/>
          <p:nvPr/>
        </p:nvSpPr>
        <p:spPr>
          <a:xfrm>
            <a:off x="1473200" y="10160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zh-TW" altLang="en-US" sz="1600" dirty="0">
                <a:solidFill>
                  <a:srgbClr val="1F2A44"/>
                </a:solidFill>
              </a:rPr>
              <a:t>財報追蹤助理，公司發財報後解讀法說會、更新追蹤中的模型，最終產出財報後觀點筆記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480E125-5C2C-4518-AC2B-6E4F4BB2A821}"/>
              </a:ext>
            </a:extLst>
          </p:cNvPr>
          <p:cNvSpPr/>
          <p:nvPr/>
        </p:nvSpPr>
        <p:spPr>
          <a:xfrm>
            <a:off x="3048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 dirty="0">
                <a:solidFill>
                  <a:srgbClr val="FFFFFF"/>
                </a:solidFill>
              </a:rPr>
              <a:t>Agent </a:t>
            </a:r>
            <a:r>
              <a:rPr lang="zh-TW" altLang="en-US" sz="2200" b="1" dirty="0">
                <a:solidFill>
                  <a:srgbClr val="FFFFFF"/>
                </a:solidFill>
              </a:rPr>
              <a:t>運作流程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C2356A-14AC-4BC5-B13F-CABBA997CDD3}"/>
              </a:ext>
            </a:extLst>
          </p:cNvPr>
          <p:cNvSpPr/>
          <p:nvPr/>
        </p:nvSpPr>
        <p:spPr>
          <a:xfrm>
            <a:off x="42672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步驟說明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FEF3B04-6910-4E33-ADE5-0DE565053831}"/>
              </a:ext>
            </a:extLst>
          </p:cNvPr>
          <p:cNvSpPr/>
          <p:nvPr/>
        </p:nvSpPr>
        <p:spPr>
          <a:xfrm>
            <a:off x="82296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實際產出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1947C3D2-879E-4020-AFA6-574BF9B0AF04}"/>
              </a:ext>
            </a:extLst>
          </p:cNvPr>
          <p:cNvSpPr/>
          <p:nvPr/>
        </p:nvSpPr>
        <p:spPr>
          <a:xfrm>
            <a:off x="304800" y="2235200"/>
            <a:ext cx="3657600" cy="575733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1F381FE7-79B4-466E-891A-1E6443A75D51}"/>
              </a:ext>
            </a:extLst>
          </p:cNvPr>
          <p:cNvSpPr/>
          <p:nvPr/>
        </p:nvSpPr>
        <p:spPr>
          <a:xfrm>
            <a:off x="381000" y="2345267"/>
            <a:ext cx="355600" cy="355600"/>
          </a:xfrm>
          <a:prstGeom prst="ellipse">
            <a:avLst/>
          </a:prstGeom>
          <a:solidFill>
            <a:srgbClr val="00B05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step0">
            <a:extLst>
              <a:ext uri="{FF2B5EF4-FFF2-40B4-BE49-F238E27FC236}">
                <a16:creationId xmlns:a16="http://schemas.microsoft.com/office/drawing/2014/main" id="{D8EA4C21-C360-48B8-BCCA-31A91C4FD5BB}"/>
              </a:ext>
            </a:extLst>
          </p:cNvPr>
          <p:cNvSpPr txBox="1"/>
          <p:nvPr/>
        </p:nvSpPr>
        <p:spPr>
          <a:xfrm>
            <a:off x="838200" y="2235200"/>
            <a:ext cx="3048000" cy="575733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取得財報數字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拿到實際業績、市場原本預期與完整法說會內容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E4D06FEE-F20F-4C16-8A1C-72E4BE81197A}"/>
              </a:ext>
            </a:extLst>
          </p:cNvPr>
          <p:cNvSpPr/>
          <p:nvPr/>
        </p:nvSpPr>
        <p:spPr>
          <a:xfrm>
            <a:off x="304800" y="2937933"/>
            <a:ext cx="3657600" cy="575733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64FC7F29-C07F-4A28-BE6B-CC4AD712E9CD}"/>
              </a:ext>
            </a:extLst>
          </p:cNvPr>
          <p:cNvSpPr/>
          <p:nvPr/>
        </p:nvSpPr>
        <p:spPr>
          <a:xfrm>
            <a:off x="381000" y="304800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step1">
            <a:extLst>
              <a:ext uri="{FF2B5EF4-FFF2-40B4-BE49-F238E27FC236}">
                <a16:creationId xmlns:a16="http://schemas.microsoft.com/office/drawing/2014/main" id="{EA484A52-68D3-4812-ACBE-5F50373F736A}"/>
              </a:ext>
            </a:extLst>
          </p:cNvPr>
          <p:cNvSpPr txBox="1"/>
          <p:nvPr/>
        </p:nvSpPr>
        <p:spPr>
          <a:xfrm>
            <a:off x="838200" y="2937933"/>
            <a:ext cx="3048000" cy="575733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解讀法說會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抓出公司展望、管理層口風與被迴避的問題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34241FD-E4C5-4658-AEF9-685F75FEDD02}"/>
              </a:ext>
            </a:extLst>
          </p:cNvPr>
          <p:cNvSpPr/>
          <p:nvPr/>
        </p:nvSpPr>
        <p:spPr>
          <a:xfrm>
            <a:off x="304800" y="3640667"/>
            <a:ext cx="3657600" cy="575733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FE77734E-BF17-4528-8653-686EABB59FE0}"/>
              </a:ext>
            </a:extLst>
          </p:cNvPr>
          <p:cNvSpPr/>
          <p:nvPr/>
        </p:nvSpPr>
        <p:spPr>
          <a:xfrm>
            <a:off x="381000" y="3750733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step2">
            <a:extLst>
              <a:ext uri="{FF2B5EF4-FFF2-40B4-BE49-F238E27FC236}">
                <a16:creationId xmlns:a16="http://schemas.microsoft.com/office/drawing/2014/main" id="{80F53066-C6A7-4EBD-B2A3-8815AEC43ECD}"/>
              </a:ext>
            </a:extLst>
          </p:cNvPr>
          <p:cNvSpPr txBox="1"/>
          <p:nvPr/>
        </p:nvSpPr>
        <p:spPr>
          <a:xfrm>
            <a:off x="838200" y="3640667"/>
            <a:ext cx="3048000" cy="575733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更新模型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把新數字更新進追蹤這家公司的試算表模型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745C473F-0E25-4068-9239-57C173D228F8}"/>
              </a:ext>
            </a:extLst>
          </p:cNvPr>
          <p:cNvSpPr/>
          <p:nvPr/>
        </p:nvSpPr>
        <p:spPr>
          <a:xfrm>
            <a:off x="304800" y="4343400"/>
            <a:ext cx="3657600" cy="575733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97A6FD79-C8F5-4AEE-A75D-022EB4DF8832}"/>
              </a:ext>
            </a:extLst>
          </p:cNvPr>
          <p:cNvSpPr/>
          <p:nvPr/>
        </p:nvSpPr>
        <p:spPr>
          <a:xfrm>
            <a:off x="381000" y="4453467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step3">
            <a:extLst>
              <a:ext uri="{FF2B5EF4-FFF2-40B4-BE49-F238E27FC236}">
                <a16:creationId xmlns:a16="http://schemas.microsoft.com/office/drawing/2014/main" id="{40A0DB60-99B4-42E8-B0D1-3AEE3E62A429}"/>
              </a:ext>
            </a:extLst>
          </p:cNvPr>
          <p:cNvSpPr txBox="1"/>
          <p:nvPr/>
        </p:nvSpPr>
        <p:spPr>
          <a:xfrm>
            <a:off x="838200" y="4343400"/>
            <a:ext cx="3048000" cy="575733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檢查模型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複查沒算錯、公式沒斷、沒硬填數字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A34C8BEA-11C8-48C8-868F-303A31AA342C}"/>
              </a:ext>
            </a:extLst>
          </p:cNvPr>
          <p:cNvSpPr/>
          <p:nvPr/>
        </p:nvSpPr>
        <p:spPr>
          <a:xfrm>
            <a:off x="304800" y="5046133"/>
            <a:ext cx="3657600" cy="575733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A3EB4FDC-2B4F-456A-8176-BB6E56C9E2D9}"/>
              </a:ext>
            </a:extLst>
          </p:cNvPr>
          <p:cNvSpPr/>
          <p:nvPr/>
        </p:nvSpPr>
        <p:spPr>
          <a:xfrm>
            <a:off x="381000" y="515620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step4">
            <a:extLst>
              <a:ext uri="{FF2B5EF4-FFF2-40B4-BE49-F238E27FC236}">
                <a16:creationId xmlns:a16="http://schemas.microsoft.com/office/drawing/2014/main" id="{22EE4AF1-9F8D-44FB-B1C0-887545B5AFCF}"/>
              </a:ext>
            </a:extLst>
          </p:cNvPr>
          <p:cNvSpPr txBox="1"/>
          <p:nvPr/>
        </p:nvSpPr>
        <p:spPr>
          <a:xfrm>
            <a:off x="838200" y="5046133"/>
            <a:ext cx="3048000" cy="575733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草擬筆記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寫財報後觀點筆記，說明與預期差在哪</a:t>
            </a:r>
          </a:p>
        </p:txBody>
      </p:sp>
      <p:sp>
        <p:nvSpPr>
          <p:cNvPr id="905" name="矩形: 圓角 20">
            <a:extLst>
              <a:ext uri="{FF2B5EF4-FFF2-40B4-BE49-F238E27FC236}">
                <a16:creationId xmlns:a16="http://schemas.microsoft.com/office/drawing/2014/main" id="{A34C8BEA-11C8-48C8-868F-303A31AA342C}"/>
              </a:ext>
            </a:extLst>
          </p:cNvPr>
          <p:cNvSpPr/>
          <p:nvPr/>
        </p:nvSpPr>
        <p:spPr>
          <a:xfrm>
            <a:off x="304800" y="5748867"/>
            <a:ext cx="3657600" cy="575733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925" name="橢圓 21">
            <a:extLst>
              <a:ext uri="{FF2B5EF4-FFF2-40B4-BE49-F238E27FC236}">
                <a16:creationId xmlns:a16="http://schemas.microsoft.com/office/drawing/2014/main" id="{A3EB4FDC-2B4F-456A-8176-BB6E56C9E2D9}"/>
              </a:ext>
            </a:extLst>
          </p:cNvPr>
          <p:cNvSpPr/>
          <p:nvPr/>
        </p:nvSpPr>
        <p:spPr>
          <a:xfrm>
            <a:off x="381000" y="5858933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945" name="step4">
            <a:extLst>
              <a:ext uri="{FF2B5EF4-FFF2-40B4-BE49-F238E27FC236}">
                <a16:creationId xmlns:a16="http://schemas.microsoft.com/office/drawing/2014/main" id="{22EE4AF1-9F8D-44FB-B1C0-887545B5AFCF}"/>
              </a:ext>
            </a:extLst>
          </p:cNvPr>
          <p:cNvSpPr txBox="1"/>
          <p:nvPr/>
        </p:nvSpPr>
        <p:spPr>
          <a:xfrm>
            <a:off x="838200" y="5748867"/>
            <a:ext cx="3048000" cy="575733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送交審閱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模型與筆記以草稿交出，不直接對外發布</a:t>
            </a:r>
          </a:p>
        </p:txBody>
      </p:sp>
      <p:sp>
        <p:nvSpPr>
          <p:cNvPr id="26" name="bulletBox">
            <a:extLst>
              <a:ext uri="{FF2B5EF4-FFF2-40B4-BE49-F238E27FC236}">
                <a16:creationId xmlns:a16="http://schemas.microsoft.com/office/drawing/2014/main" id="{25923FDE-14A8-419D-AE47-835B530957B6}"/>
              </a:ext>
            </a:extLst>
          </p:cNvPr>
          <p:cNvSpPr txBox="1"/>
          <p:nvPr/>
        </p:nvSpPr>
        <p:spPr>
          <a:xfrm>
            <a:off x="4267200" y="2332517"/>
            <a:ext cx="3505200" cy="474133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資料串接：</a:t>
            </a:r>
            <a:r>
              <a:rPr lang="zh-TW" sz="1150" dirty="0">
                <a:solidFill>
                  <a:srgbClr val="1F2A44"/>
                </a:solidFill>
              </a:rPr>
              <a:t>透過 factset／daloopa MCP 取得實際、共識與 10-Q／8-K，並載入完整法說會逐字稿</a:t>
            </a:r>
          </a:p>
        </p:txBody>
      </p:sp>
      <p:sp>
        <p:nvSpPr>
          <p:cNvPr id="27" name="bulletBox">
            <a:extLst>
              <a:ext uri="{FF2B5EF4-FFF2-40B4-BE49-F238E27FC236}">
                <a16:creationId xmlns:a16="http://schemas.microsoft.com/office/drawing/2014/main" id="{BDF01590-DA1C-CE8A-0044-95B4A0504E47}"/>
              </a:ext>
            </a:extLst>
          </p:cNvPr>
          <p:cNvSpPr txBox="1"/>
          <p:nvPr/>
        </p:nvSpPr>
        <p:spPr>
          <a:xfrm>
            <a:off x="4267200" y="3025986"/>
            <a:ext cx="3505200" cy="465667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逐字稿解析：</a:t>
            </a:r>
            <a:r>
              <a:rPr lang="zh-TW" sz="1150" dirty="0">
                <a:solidFill>
                  <a:srgbClr val="1F2A44"/>
                </a:solidFill>
              </a:rPr>
              <a:t>以 earnings-analysis 萃取展望、管理層語氣與被迴避問題</a:t>
            </a:r>
          </a:p>
        </p:txBody>
      </p:sp>
      <p:sp>
        <p:nvSpPr>
          <p:cNvPr id="29" name="bulletBox">
            <a:extLst>
              <a:ext uri="{FF2B5EF4-FFF2-40B4-BE49-F238E27FC236}">
                <a16:creationId xmlns:a16="http://schemas.microsoft.com/office/drawing/2014/main" id="{154F44D6-74F7-C5AA-F1BC-64F7B836DBB6}"/>
              </a:ext>
            </a:extLst>
          </p:cNvPr>
          <p:cNvSpPr txBox="1"/>
          <p:nvPr/>
        </p:nvSpPr>
        <p:spPr>
          <a:xfrm>
            <a:off x="4267200" y="3710989"/>
            <a:ext cx="3505200" cy="465667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模型更新：</a:t>
            </a:r>
            <a:r>
              <a:rPr lang="zh-TW" sz="1150" dirty="0">
                <a:solidFill>
                  <a:srgbClr val="1F2A44"/>
                </a:solidFill>
              </a:rPr>
              <a:t>以 model-update 將新數字寫進活工作簿，每格改動皆可回溯資料源</a:t>
            </a:r>
          </a:p>
        </p:txBody>
      </p:sp>
      <p:sp>
        <p:nvSpPr>
          <p:cNvPr id="30" name="bulletBox">
            <a:extLst>
              <a:ext uri="{FF2B5EF4-FFF2-40B4-BE49-F238E27FC236}">
                <a16:creationId xmlns:a16="http://schemas.microsoft.com/office/drawing/2014/main" id="{0AFB4903-5498-6624-744A-9D00C2DC1AE5}"/>
              </a:ext>
            </a:extLst>
          </p:cNvPr>
          <p:cNvSpPr txBox="1"/>
          <p:nvPr/>
        </p:nvSpPr>
        <p:spPr>
          <a:xfrm>
            <a:off x="4267200" y="4406601"/>
            <a:ext cx="3505200" cy="44933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模型 QC：</a:t>
            </a:r>
            <a:r>
              <a:rPr lang="zh-TW" sz="1150" dirty="0">
                <a:solidFill>
                  <a:srgbClr val="1F2A44"/>
                </a:solidFill>
              </a:rPr>
              <a:t>以 audit-xls 做平衡驗算、檢查公式未斷、無硬填數字</a:t>
            </a:r>
          </a:p>
        </p:txBody>
      </p:sp>
      <p:sp>
        <p:nvSpPr>
          <p:cNvPr id="31" name="bulletBox">
            <a:extLst>
              <a:ext uri="{FF2B5EF4-FFF2-40B4-BE49-F238E27FC236}">
                <a16:creationId xmlns:a16="http://schemas.microsoft.com/office/drawing/2014/main" id="{056CB0D8-557F-9B0E-BA98-74B6B30DF908}"/>
              </a:ext>
            </a:extLst>
          </p:cNvPr>
          <p:cNvSpPr txBox="1"/>
          <p:nvPr/>
        </p:nvSpPr>
        <p:spPr>
          <a:xfrm>
            <a:off x="4267200" y="5162973"/>
            <a:ext cx="3505200" cy="426022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筆記生成：</a:t>
            </a:r>
            <a:r>
              <a:rPr lang="zh-TW" sz="1150" dirty="0">
                <a:solidFill>
                  <a:srgbClr val="1F2A44"/>
                </a:solidFill>
              </a:rPr>
              <a:t>以 morning-note 產差異表（實際 vs 共識 vs 前估）與法說會解讀</a:t>
            </a:r>
          </a:p>
        </p:txBody>
      </p:sp>
      <p:sp>
        <p:nvSpPr>
          <p:cNvPr id="32" name="bulletBox">
            <a:extLst>
              <a:ext uri="{FF2B5EF4-FFF2-40B4-BE49-F238E27FC236}">
                <a16:creationId xmlns:a16="http://schemas.microsoft.com/office/drawing/2014/main" id="{A6D4552A-A38B-21C5-85C6-60572ED486FB}"/>
              </a:ext>
            </a:extLst>
          </p:cNvPr>
          <p:cNvSpPr txBox="1"/>
          <p:nvPr/>
        </p:nvSpPr>
        <p:spPr>
          <a:xfrm>
            <a:off x="4267200" y="5885429"/>
            <a:ext cx="3505200" cy="423831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人工覆核：</a:t>
            </a:r>
            <a:r>
              <a:rPr lang="zh-TW" sz="1150" dirty="0">
                <a:solidFill>
                  <a:srgbClr val="1F2A44"/>
                </a:solidFill>
              </a:rPr>
              <a:t>模型與筆記僅以草稿交付、永不對外發布，CMA 版寫檔隔離給 note-writer</a:t>
            </a:r>
          </a:p>
        </p:txBody>
      </p:sp>
    </p:spTree>
    <p:extLst>
      <p:ext uri="{BB962C8B-B14F-4D97-AF65-F5344CB8AC3E}">
        <p14:creationId xmlns:p14="http://schemas.microsoft.com/office/powerpoint/2010/main" val="447501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5E48F1-A2F8-47E0-A5FE-2A0A4621E7F5}"/>
              </a:ext>
            </a:extLst>
          </p:cNvPr>
          <p:cNvSpPr txBox="1"/>
          <p:nvPr/>
        </p:nvSpPr>
        <p:spPr>
          <a:xfrm>
            <a:off x="304800" y="228600"/>
            <a:ext cx="8128000" cy="6604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3400" b="1" dirty="0">
                <a:solidFill>
                  <a:srgbClr val="1B8EA6"/>
                </a:solidFill>
              </a:rPr>
              <a:t>Meeting Prep Agent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350853C7-B415-4605-B74C-70BCCE94FF7F}"/>
              </a:ext>
            </a:extLst>
          </p:cNvPr>
          <p:cNvSpPr/>
          <p:nvPr/>
        </p:nvSpPr>
        <p:spPr>
          <a:xfrm>
            <a:off x="9042400" y="279400"/>
            <a:ext cx="2844800" cy="457200"/>
          </a:xfrm>
          <a:prstGeom prst="roundRect">
            <a:avLst/>
          </a:prstGeom>
          <a:solidFill>
            <a:srgbClr val="E8B5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000" b="1">
                <a:solidFill>
                  <a:srgbClr val="FFFFFF"/>
                </a:solidFill>
              </a:rPr>
              <a:t>適用對象：前台顧問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D52DCAD0-41D8-4D43-810C-074FCB9FDFFC}"/>
              </a:ext>
            </a:extLst>
          </p:cNvPr>
          <p:cNvSpPr/>
          <p:nvPr/>
        </p:nvSpPr>
        <p:spPr>
          <a:xfrm>
            <a:off x="304800" y="1041400"/>
            <a:ext cx="1016000" cy="457200"/>
          </a:xfrm>
          <a:prstGeom prst="roundRect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600" b="1" dirty="0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5" name="descBox">
            <a:extLst>
              <a:ext uri="{FF2B5EF4-FFF2-40B4-BE49-F238E27FC236}">
                <a16:creationId xmlns:a16="http://schemas.microsoft.com/office/drawing/2014/main" id="{E306E6DB-1021-472A-AA85-781FA1A779E9}"/>
              </a:ext>
            </a:extLst>
          </p:cNvPr>
          <p:cNvSpPr txBox="1"/>
          <p:nvPr/>
        </p:nvSpPr>
        <p:spPr>
          <a:xfrm>
            <a:off x="1473200" y="10160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zh-TW" altLang="en-US" sz="1600" dirty="0">
                <a:solidFill>
                  <a:srgbClr val="1F2A44"/>
                </a:solidFill>
              </a:rPr>
              <a:t>客戶會前準備助理，會議前彙整客戶關係、持倉與相關市場動態，最終產出給顧問的會前資料包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480E125-5C2C-4518-AC2B-6E4F4BB2A821}"/>
              </a:ext>
            </a:extLst>
          </p:cNvPr>
          <p:cNvSpPr/>
          <p:nvPr/>
        </p:nvSpPr>
        <p:spPr>
          <a:xfrm>
            <a:off x="3048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 dirty="0">
                <a:solidFill>
                  <a:srgbClr val="FFFFFF"/>
                </a:solidFill>
              </a:rPr>
              <a:t>Agent </a:t>
            </a:r>
            <a:r>
              <a:rPr lang="zh-TW" altLang="en-US" sz="2200" b="1" dirty="0">
                <a:solidFill>
                  <a:srgbClr val="FFFFFF"/>
                </a:solidFill>
              </a:rPr>
              <a:t>運作流程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C2356A-14AC-4BC5-B13F-CABBA997CDD3}"/>
              </a:ext>
            </a:extLst>
          </p:cNvPr>
          <p:cNvSpPr/>
          <p:nvPr/>
        </p:nvSpPr>
        <p:spPr>
          <a:xfrm>
            <a:off x="42672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步驟說明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FEF3B04-6910-4E33-ADE5-0DE565053831}"/>
              </a:ext>
            </a:extLst>
          </p:cNvPr>
          <p:cNvSpPr/>
          <p:nvPr/>
        </p:nvSpPr>
        <p:spPr>
          <a:xfrm>
            <a:off x="82296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實際產出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1947C3D2-879E-4020-AFA6-574BF9B0AF04}"/>
              </a:ext>
            </a:extLst>
          </p:cNvPr>
          <p:cNvSpPr/>
          <p:nvPr/>
        </p:nvSpPr>
        <p:spPr>
          <a:xfrm>
            <a:off x="304800" y="2235200"/>
            <a:ext cx="3657600" cy="71628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1F381FE7-79B4-466E-891A-1E6443A75D51}"/>
              </a:ext>
            </a:extLst>
          </p:cNvPr>
          <p:cNvSpPr/>
          <p:nvPr/>
        </p:nvSpPr>
        <p:spPr>
          <a:xfrm>
            <a:off x="381000" y="2415540"/>
            <a:ext cx="355600" cy="355600"/>
          </a:xfrm>
          <a:prstGeom prst="ellipse">
            <a:avLst/>
          </a:prstGeom>
          <a:solidFill>
            <a:srgbClr val="00B05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step0">
            <a:extLst>
              <a:ext uri="{FF2B5EF4-FFF2-40B4-BE49-F238E27FC236}">
                <a16:creationId xmlns:a16="http://schemas.microsoft.com/office/drawing/2014/main" id="{D8EA4C21-C360-48B8-BCCA-31A91C4FD5BB}"/>
              </a:ext>
            </a:extLst>
          </p:cNvPr>
          <p:cNvSpPr txBox="1"/>
          <p:nvPr/>
        </p:nvSpPr>
        <p:spPr>
          <a:xfrm>
            <a:off x="838200" y="2235200"/>
            <a:ext cx="3048000" cy="7162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整理客戶關係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從 CRM 調出往來歷史、目前持倉與未結項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E4D06FEE-F20F-4C16-8A1C-72E4BE81197A}"/>
              </a:ext>
            </a:extLst>
          </p:cNvPr>
          <p:cNvSpPr/>
          <p:nvPr/>
        </p:nvSpPr>
        <p:spPr>
          <a:xfrm>
            <a:off x="304800" y="3078480"/>
            <a:ext cx="3657600" cy="71628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64FC7F29-C07F-4A28-BE6B-CC4AD712E9CD}"/>
              </a:ext>
            </a:extLst>
          </p:cNvPr>
          <p:cNvSpPr/>
          <p:nvPr/>
        </p:nvSpPr>
        <p:spPr>
          <a:xfrm>
            <a:off x="381000" y="325882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step1">
            <a:extLst>
              <a:ext uri="{FF2B5EF4-FFF2-40B4-BE49-F238E27FC236}">
                <a16:creationId xmlns:a16="http://schemas.microsoft.com/office/drawing/2014/main" id="{EA484A52-68D3-4812-ACBE-5F50373F736A}"/>
              </a:ext>
            </a:extLst>
          </p:cNvPr>
          <p:cNvSpPr txBox="1"/>
          <p:nvPr/>
        </p:nvSpPr>
        <p:spPr>
          <a:xfrm>
            <a:off x="838200" y="3078480"/>
            <a:ext cx="3048000" cy="7162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掌握市場動態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找出近期跟客戶持倉有關的市場大事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34241FD-E4C5-4658-AEF9-685F75FEDD02}"/>
              </a:ext>
            </a:extLst>
          </p:cNvPr>
          <p:cNvSpPr/>
          <p:nvPr/>
        </p:nvSpPr>
        <p:spPr>
          <a:xfrm>
            <a:off x="304800" y="3921760"/>
            <a:ext cx="3657600" cy="71628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FE77734E-BF17-4528-8653-686EABB59FE0}"/>
              </a:ext>
            </a:extLst>
          </p:cNvPr>
          <p:cNvSpPr/>
          <p:nvPr/>
        </p:nvSpPr>
        <p:spPr>
          <a:xfrm>
            <a:off x="381000" y="410210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step2">
            <a:extLst>
              <a:ext uri="{FF2B5EF4-FFF2-40B4-BE49-F238E27FC236}">
                <a16:creationId xmlns:a16="http://schemas.microsoft.com/office/drawing/2014/main" id="{80F53066-C6A7-4EBD-B2A3-8815AEC43ECD}"/>
              </a:ext>
            </a:extLst>
          </p:cNvPr>
          <p:cNvSpPr txBox="1"/>
          <p:nvPr/>
        </p:nvSpPr>
        <p:spPr>
          <a:xfrm>
            <a:off x="838200" y="3921760"/>
            <a:ext cx="3048000" cy="7162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回顧近期往來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摘要客戶最近的信件與筆記，掌握最新狀況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745C473F-0E25-4068-9239-57C173D228F8}"/>
              </a:ext>
            </a:extLst>
          </p:cNvPr>
          <p:cNvSpPr/>
          <p:nvPr/>
        </p:nvSpPr>
        <p:spPr>
          <a:xfrm>
            <a:off x="304800" y="4765040"/>
            <a:ext cx="3657600" cy="71628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97A6FD79-C8F5-4AEE-A75D-022EB4DF8832}"/>
              </a:ext>
            </a:extLst>
          </p:cNvPr>
          <p:cNvSpPr/>
          <p:nvPr/>
        </p:nvSpPr>
        <p:spPr>
          <a:xfrm>
            <a:off x="381000" y="494538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step3">
            <a:extLst>
              <a:ext uri="{FF2B5EF4-FFF2-40B4-BE49-F238E27FC236}">
                <a16:creationId xmlns:a16="http://schemas.microsoft.com/office/drawing/2014/main" id="{40A0DB60-99B4-42E8-B0D1-3AEE3E62A429}"/>
              </a:ext>
            </a:extLst>
          </p:cNvPr>
          <p:cNvSpPr txBox="1"/>
          <p:nvPr/>
        </p:nvSpPr>
        <p:spPr>
          <a:xfrm>
            <a:off x="838200" y="4765040"/>
            <a:ext cx="3048000" cy="7162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草擬會議資料包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寫好關係摘要與持倉說明，整理成會前資料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A34C8BEA-11C8-48C8-868F-303A31AA342C}"/>
              </a:ext>
            </a:extLst>
          </p:cNvPr>
          <p:cNvSpPr/>
          <p:nvPr/>
        </p:nvSpPr>
        <p:spPr>
          <a:xfrm>
            <a:off x="304800" y="5608320"/>
            <a:ext cx="3657600" cy="71628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A3EB4FDC-2B4F-456A-8176-BB6E56C9E2D9}"/>
              </a:ext>
            </a:extLst>
          </p:cNvPr>
          <p:cNvSpPr/>
          <p:nvPr/>
        </p:nvSpPr>
        <p:spPr>
          <a:xfrm>
            <a:off x="381000" y="578866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step4">
            <a:extLst>
              <a:ext uri="{FF2B5EF4-FFF2-40B4-BE49-F238E27FC236}">
                <a16:creationId xmlns:a16="http://schemas.microsoft.com/office/drawing/2014/main" id="{22EE4AF1-9F8D-44FB-B1C0-887545B5AFCF}"/>
              </a:ext>
            </a:extLst>
          </p:cNvPr>
          <p:cNvSpPr txBox="1"/>
          <p:nvPr/>
        </p:nvSpPr>
        <p:spPr>
          <a:xfrm>
            <a:off x="838200" y="5608320"/>
            <a:ext cx="3048000" cy="7162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交顧問過目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只出草稿，會議前由顧問確認</a:t>
            </a:r>
          </a:p>
        </p:txBody>
      </p:sp>
      <p:sp>
        <p:nvSpPr>
          <p:cNvPr id="26" name="bulletBox">
            <a:extLst>
              <a:ext uri="{FF2B5EF4-FFF2-40B4-BE49-F238E27FC236}">
                <a16:creationId xmlns:a16="http://schemas.microsoft.com/office/drawing/2014/main" id="{0577B517-51E8-E9EB-E9E9-1F90AF263DFA}"/>
              </a:ext>
            </a:extLst>
          </p:cNvPr>
          <p:cNvSpPr txBox="1"/>
          <p:nvPr/>
        </p:nvSpPr>
        <p:spPr>
          <a:xfrm>
            <a:off x="4267200" y="2421367"/>
            <a:ext cx="35052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CRM 串接：</a:t>
            </a:r>
            <a:r>
              <a:rPr lang="zh-TW" sz="1150" dirty="0">
                <a:solidFill>
                  <a:srgbClr val="1F2A44"/>
                </a:solidFill>
              </a:rPr>
              <a:t>透過 CRM MCP 拉出關係歷史、持倉與未結項</a:t>
            </a:r>
          </a:p>
        </p:txBody>
      </p:sp>
      <p:sp>
        <p:nvSpPr>
          <p:cNvPr id="27" name="bulletBox">
            <a:extLst>
              <a:ext uri="{FF2B5EF4-FFF2-40B4-BE49-F238E27FC236}">
                <a16:creationId xmlns:a16="http://schemas.microsoft.com/office/drawing/2014/main" id="{80404C04-1271-A17D-E223-0724236EA4A2}"/>
              </a:ext>
            </a:extLst>
          </p:cNvPr>
          <p:cNvSpPr txBox="1"/>
          <p:nvPr/>
        </p:nvSpPr>
        <p:spPr>
          <a:xfrm>
            <a:off x="4267200" y="3302000"/>
            <a:ext cx="35052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市場事件：</a:t>
            </a:r>
            <a:r>
              <a:rPr lang="zh-TW" sz="1150" dirty="0">
                <a:solidFill>
                  <a:srgbClr val="1F2A44"/>
                </a:solidFill>
              </a:rPr>
              <a:t>透過 CapIQ MCP 撈出影響該客戶持倉的市場事件</a:t>
            </a:r>
          </a:p>
        </p:txBody>
      </p:sp>
      <p:sp>
        <p:nvSpPr>
          <p:cNvPr id="29" name="bulletBox">
            <a:extLst>
              <a:ext uri="{FF2B5EF4-FFF2-40B4-BE49-F238E27FC236}">
                <a16:creationId xmlns:a16="http://schemas.microsoft.com/office/drawing/2014/main" id="{86A386FA-EC7A-CD5F-CB7F-0F13F02DEB0F}"/>
              </a:ext>
            </a:extLst>
          </p:cNvPr>
          <p:cNvSpPr txBox="1"/>
          <p:nvPr/>
        </p:nvSpPr>
        <p:spPr>
          <a:xfrm>
            <a:off x="4267200" y="4097019"/>
            <a:ext cx="3505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子代理摘要：</a:t>
            </a:r>
            <a:r>
              <a:rPr lang="zh-TW" sz="1150" dirty="0">
                <a:solidFill>
                  <a:srgbClr val="1F2A44"/>
                </a:solidFill>
              </a:rPr>
              <a:t>由 news-reader 摘要近期信件與筆記，客戶內容視為不可信僅摘要</a:t>
            </a:r>
          </a:p>
        </p:txBody>
      </p:sp>
      <p:sp>
        <p:nvSpPr>
          <p:cNvPr id="30" name="bulletBox">
            <a:extLst>
              <a:ext uri="{FF2B5EF4-FFF2-40B4-BE49-F238E27FC236}">
                <a16:creationId xmlns:a16="http://schemas.microsoft.com/office/drawing/2014/main" id="{2B750694-37F4-26EF-0EFD-E90FD9709831}"/>
              </a:ext>
            </a:extLst>
          </p:cNvPr>
          <p:cNvSpPr txBox="1"/>
          <p:nvPr/>
        </p:nvSpPr>
        <p:spPr>
          <a:xfrm>
            <a:off x="4267200" y="4945380"/>
            <a:ext cx="3505200" cy="414019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技能組裝：</a:t>
            </a:r>
            <a:r>
              <a:rPr lang="zh-TW" sz="1150" dirty="0">
                <a:solidFill>
                  <a:srgbClr val="1F2A44"/>
                </a:solidFill>
              </a:rPr>
              <a:t>以 client-review 產關係摘要、client-report 產持倉段落並寫檔</a:t>
            </a:r>
          </a:p>
        </p:txBody>
      </p:sp>
      <p:sp>
        <p:nvSpPr>
          <p:cNvPr id="31" name="bulletBox">
            <a:extLst>
              <a:ext uri="{FF2B5EF4-FFF2-40B4-BE49-F238E27FC236}">
                <a16:creationId xmlns:a16="http://schemas.microsoft.com/office/drawing/2014/main" id="{2E30AA16-6D43-B5F1-1AB4-5DE52FE3E3E8}"/>
              </a:ext>
            </a:extLst>
          </p:cNvPr>
          <p:cNvSpPr txBox="1"/>
          <p:nvPr/>
        </p:nvSpPr>
        <p:spPr>
          <a:xfrm>
            <a:off x="4267200" y="5842000"/>
            <a:ext cx="3505200" cy="414019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人工覆核：</a:t>
            </a:r>
            <a:r>
              <a:rPr lang="zh-TW" sz="1150" dirty="0">
                <a:solidFill>
                  <a:srgbClr val="1F2A44"/>
                </a:solidFill>
              </a:rPr>
              <a:t>只產草稿、不對外發送，會議前交顧問確認</a:t>
            </a:r>
          </a:p>
        </p:txBody>
      </p:sp>
    </p:spTree>
    <p:extLst>
      <p:ext uri="{BB962C8B-B14F-4D97-AF65-F5344CB8AC3E}">
        <p14:creationId xmlns:p14="http://schemas.microsoft.com/office/powerpoint/2010/main" val="18659582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5E48F1-A2F8-47E0-A5FE-2A0A4621E7F5}"/>
              </a:ext>
            </a:extLst>
          </p:cNvPr>
          <p:cNvSpPr txBox="1"/>
          <p:nvPr/>
        </p:nvSpPr>
        <p:spPr>
          <a:xfrm>
            <a:off x="304800" y="228600"/>
            <a:ext cx="8128000" cy="6604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3400" b="1" dirty="0">
                <a:solidFill>
                  <a:srgbClr val="1B8EA6"/>
                </a:solidFill>
              </a:rPr>
              <a:t>Pitch Agent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350853C7-B415-4605-B74C-70BCCE94FF7F}"/>
              </a:ext>
            </a:extLst>
          </p:cNvPr>
          <p:cNvSpPr/>
          <p:nvPr/>
        </p:nvSpPr>
        <p:spPr>
          <a:xfrm>
            <a:off x="9042400" y="279400"/>
            <a:ext cx="2844800" cy="457200"/>
          </a:xfrm>
          <a:prstGeom prst="roundRect">
            <a:avLst/>
          </a:prstGeom>
          <a:solidFill>
            <a:srgbClr val="E8B5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1600" b="1">
                <a:solidFill>
                  <a:srgbClr val="FFFFFF"/>
                </a:solidFill>
              </a:rPr>
              <a:t>適用對象：客戶經營與顧問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D52DCAD0-41D8-4D43-810C-074FCB9FDFFC}"/>
              </a:ext>
            </a:extLst>
          </p:cNvPr>
          <p:cNvSpPr/>
          <p:nvPr/>
        </p:nvSpPr>
        <p:spPr>
          <a:xfrm>
            <a:off x="304800" y="1041400"/>
            <a:ext cx="1016000" cy="457200"/>
          </a:xfrm>
          <a:prstGeom prst="roundRect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600" b="1" dirty="0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5" name="descBox">
            <a:extLst>
              <a:ext uri="{FF2B5EF4-FFF2-40B4-BE49-F238E27FC236}">
                <a16:creationId xmlns:a16="http://schemas.microsoft.com/office/drawing/2014/main" id="{E306E6DB-1021-472A-AA85-781FA1A779E9}"/>
              </a:ext>
            </a:extLst>
          </p:cNvPr>
          <p:cNvSpPr txBox="1"/>
          <p:nvPr/>
        </p:nvSpPr>
        <p:spPr>
          <a:xfrm>
            <a:off x="1473200" y="10160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zh-TW" altLang="en-US" sz="1600" dirty="0">
                <a:solidFill>
                  <a:srgbClr val="1F2A44"/>
                </a:solidFill>
              </a:rPr>
              <a:t>投行提案助理，針對交易標的蒐集可比公司與估值，最終產出含估值模型與品牌簡報的提案包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480E125-5C2C-4518-AC2B-6E4F4BB2A821}"/>
              </a:ext>
            </a:extLst>
          </p:cNvPr>
          <p:cNvSpPr/>
          <p:nvPr/>
        </p:nvSpPr>
        <p:spPr>
          <a:xfrm>
            <a:off x="3048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 dirty="0">
                <a:solidFill>
                  <a:srgbClr val="FFFFFF"/>
                </a:solidFill>
              </a:rPr>
              <a:t>Agent </a:t>
            </a:r>
            <a:r>
              <a:rPr lang="zh-TW" altLang="en-US" sz="2200" b="1" dirty="0">
                <a:solidFill>
                  <a:srgbClr val="FFFFFF"/>
                </a:solidFill>
              </a:rPr>
              <a:t>運作流程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C2356A-14AC-4BC5-B13F-CABBA997CDD3}"/>
              </a:ext>
            </a:extLst>
          </p:cNvPr>
          <p:cNvSpPr/>
          <p:nvPr/>
        </p:nvSpPr>
        <p:spPr>
          <a:xfrm>
            <a:off x="42672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步驟說明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FEF3B04-6910-4E33-ADE5-0DE565053831}"/>
              </a:ext>
            </a:extLst>
          </p:cNvPr>
          <p:cNvSpPr/>
          <p:nvPr/>
        </p:nvSpPr>
        <p:spPr>
          <a:xfrm>
            <a:off x="82296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實際產出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1947C3D2-879E-4020-AFA6-574BF9B0AF04}"/>
              </a:ext>
            </a:extLst>
          </p:cNvPr>
          <p:cNvSpPr/>
          <p:nvPr/>
        </p:nvSpPr>
        <p:spPr>
          <a:xfrm>
            <a:off x="304800" y="2235200"/>
            <a:ext cx="3657600" cy="364067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1F381FE7-79B4-466E-891A-1E6443A75D51}"/>
              </a:ext>
            </a:extLst>
          </p:cNvPr>
          <p:cNvSpPr/>
          <p:nvPr/>
        </p:nvSpPr>
        <p:spPr>
          <a:xfrm>
            <a:off x="406400" y="2252133"/>
            <a:ext cx="330200" cy="330200"/>
          </a:xfrm>
          <a:prstGeom prst="ellipse">
            <a:avLst/>
          </a:prstGeom>
          <a:solidFill>
            <a:srgbClr val="00B05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step0">
            <a:extLst>
              <a:ext uri="{FF2B5EF4-FFF2-40B4-BE49-F238E27FC236}">
                <a16:creationId xmlns:a16="http://schemas.microsoft.com/office/drawing/2014/main" id="{D8EA4C21-C360-48B8-BCCA-31A91C4FD5BB}"/>
              </a:ext>
            </a:extLst>
          </p:cNvPr>
          <p:cNvSpPr txBox="1"/>
          <p:nvPr/>
        </p:nvSpPr>
        <p:spPr>
          <a:xfrm>
            <a:off x="863600" y="2235200"/>
            <a:ext cx="2997200" cy="36406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zh-TW" sz="1200" b="1" dirty="0">
                <a:solidFill>
                  <a:srgbClr val="1F2A44"/>
                </a:solidFill>
              </a:rPr>
              <a:t>界定範圍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E4D06FEE-F20F-4C16-8A1C-72E4BE81197A}"/>
              </a:ext>
            </a:extLst>
          </p:cNvPr>
          <p:cNvSpPr/>
          <p:nvPr/>
        </p:nvSpPr>
        <p:spPr>
          <a:xfrm>
            <a:off x="304800" y="2700867"/>
            <a:ext cx="3657600" cy="364067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64FC7F29-C07F-4A28-BE6B-CC4AD712E9CD}"/>
              </a:ext>
            </a:extLst>
          </p:cNvPr>
          <p:cNvSpPr/>
          <p:nvPr/>
        </p:nvSpPr>
        <p:spPr>
          <a:xfrm>
            <a:off x="406400" y="2717800"/>
            <a:ext cx="330200" cy="3302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step1">
            <a:extLst>
              <a:ext uri="{FF2B5EF4-FFF2-40B4-BE49-F238E27FC236}">
                <a16:creationId xmlns:a16="http://schemas.microsoft.com/office/drawing/2014/main" id="{EA484A52-68D3-4812-ACBE-5F50373F736A}"/>
              </a:ext>
            </a:extLst>
          </p:cNvPr>
          <p:cNvSpPr txBox="1"/>
          <p:nvPr/>
        </p:nvSpPr>
        <p:spPr>
          <a:xfrm>
            <a:off x="863600" y="2700867"/>
            <a:ext cx="2997200" cy="36406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zh-TW" sz="1200" b="1" dirty="0">
                <a:solidFill>
                  <a:srgbClr val="1F2A44"/>
                </a:solidFill>
              </a:rPr>
              <a:t>寫情境概述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34241FD-E4C5-4658-AEF9-685F75FEDD02}"/>
              </a:ext>
            </a:extLst>
          </p:cNvPr>
          <p:cNvSpPr/>
          <p:nvPr/>
        </p:nvSpPr>
        <p:spPr>
          <a:xfrm>
            <a:off x="304800" y="3166533"/>
            <a:ext cx="3657600" cy="364067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FE77734E-BF17-4528-8653-686EABB59FE0}"/>
              </a:ext>
            </a:extLst>
          </p:cNvPr>
          <p:cNvSpPr/>
          <p:nvPr/>
        </p:nvSpPr>
        <p:spPr>
          <a:xfrm>
            <a:off x="406400" y="3183467"/>
            <a:ext cx="330200" cy="3302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step2">
            <a:extLst>
              <a:ext uri="{FF2B5EF4-FFF2-40B4-BE49-F238E27FC236}">
                <a16:creationId xmlns:a16="http://schemas.microsoft.com/office/drawing/2014/main" id="{80F53066-C6A7-4EBD-B2A3-8815AEC43ECD}"/>
              </a:ext>
            </a:extLst>
          </p:cNvPr>
          <p:cNvSpPr txBox="1"/>
          <p:nvPr/>
        </p:nvSpPr>
        <p:spPr>
          <a:xfrm>
            <a:off x="863600" y="3166533"/>
            <a:ext cx="2997200" cy="36406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zh-TW" sz="1200" b="1" dirty="0">
                <a:solidFill>
                  <a:srgbClr val="1F2A44"/>
                </a:solidFill>
              </a:rPr>
              <a:t>蒐集資料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745C473F-0E25-4068-9239-57C173D228F8}"/>
              </a:ext>
            </a:extLst>
          </p:cNvPr>
          <p:cNvSpPr/>
          <p:nvPr/>
        </p:nvSpPr>
        <p:spPr>
          <a:xfrm>
            <a:off x="304800" y="3632200"/>
            <a:ext cx="3657600" cy="364067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97A6FD79-C8F5-4AEE-A75D-022EB4DF8832}"/>
              </a:ext>
            </a:extLst>
          </p:cNvPr>
          <p:cNvSpPr/>
          <p:nvPr/>
        </p:nvSpPr>
        <p:spPr>
          <a:xfrm>
            <a:off x="406400" y="3649133"/>
            <a:ext cx="330200" cy="3302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step3">
            <a:extLst>
              <a:ext uri="{FF2B5EF4-FFF2-40B4-BE49-F238E27FC236}">
                <a16:creationId xmlns:a16="http://schemas.microsoft.com/office/drawing/2014/main" id="{40A0DB60-99B4-42E8-B0D1-3AEE3E62A429}"/>
              </a:ext>
            </a:extLst>
          </p:cNvPr>
          <p:cNvSpPr txBox="1"/>
          <p:nvPr/>
        </p:nvSpPr>
        <p:spPr>
          <a:xfrm>
            <a:off x="863600" y="3632200"/>
            <a:ext cx="2997200" cy="36406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zh-TW" sz="1200" b="1" dirty="0">
                <a:solidFill>
                  <a:srgbClr val="1F2A44"/>
                </a:solidFill>
              </a:rPr>
              <a:t>比較同業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A34C8BEA-11C8-48C8-868F-303A31AA342C}"/>
              </a:ext>
            </a:extLst>
          </p:cNvPr>
          <p:cNvSpPr/>
          <p:nvPr/>
        </p:nvSpPr>
        <p:spPr>
          <a:xfrm>
            <a:off x="304800" y="4097867"/>
            <a:ext cx="3657600" cy="364067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A3EB4FDC-2B4F-456A-8176-BB6E56C9E2D9}"/>
              </a:ext>
            </a:extLst>
          </p:cNvPr>
          <p:cNvSpPr/>
          <p:nvPr/>
        </p:nvSpPr>
        <p:spPr>
          <a:xfrm>
            <a:off x="406400" y="4114800"/>
            <a:ext cx="330200" cy="3302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step4">
            <a:extLst>
              <a:ext uri="{FF2B5EF4-FFF2-40B4-BE49-F238E27FC236}">
                <a16:creationId xmlns:a16="http://schemas.microsoft.com/office/drawing/2014/main" id="{22EE4AF1-9F8D-44FB-B1C0-887545B5AFCF}"/>
              </a:ext>
            </a:extLst>
          </p:cNvPr>
          <p:cNvSpPr txBox="1"/>
          <p:nvPr/>
        </p:nvSpPr>
        <p:spPr>
          <a:xfrm>
            <a:off x="863600" y="4097867"/>
            <a:ext cx="2997200" cy="36406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zh-TW" sz="1200" b="1" dirty="0">
                <a:solidFill>
                  <a:srgbClr val="1F2A44"/>
                </a:solidFill>
              </a:rPr>
              <a:t>做收購示意模型</a:t>
            </a:r>
          </a:p>
        </p:txBody>
      </p:sp>
      <p:sp>
        <p:nvSpPr>
          <p:cNvPr id="905" name="矩形: 圓角 20">
            <a:extLst>
              <a:ext uri="{FF2B5EF4-FFF2-40B4-BE49-F238E27FC236}">
                <a16:creationId xmlns:a16="http://schemas.microsoft.com/office/drawing/2014/main" id="{A34C8BEA-11C8-48C8-868F-303A31AA342C}"/>
              </a:ext>
            </a:extLst>
          </p:cNvPr>
          <p:cNvSpPr/>
          <p:nvPr/>
        </p:nvSpPr>
        <p:spPr>
          <a:xfrm>
            <a:off x="304800" y="4563533"/>
            <a:ext cx="3657600" cy="364067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925" name="橢圓 21">
            <a:extLst>
              <a:ext uri="{FF2B5EF4-FFF2-40B4-BE49-F238E27FC236}">
                <a16:creationId xmlns:a16="http://schemas.microsoft.com/office/drawing/2014/main" id="{A3EB4FDC-2B4F-456A-8176-BB6E56C9E2D9}"/>
              </a:ext>
            </a:extLst>
          </p:cNvPr>
          <p:cNvSpPr/>
          <p:nvPr/>
        </p:nvSpPr>
        <p:spPr>
          <a:xfrm>
            <a:off x="406400" y="4580467"/>
            <a:ext cx="330200" cy="3302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945" name="step4">
            <a:extLst>
              <a:ext uri="{FF2B5EF4-FFF2-40B4-BE49-F238E27FC236}">
                <a16:creationId xmlns:a16="http://schemas.microsoft.com/office/drawing/2014/main" id="{22EE4AF1-9F8D-44FB-B1C0-887545B5AFCF}"/>
              </a:ext>
            </a:extLst>
          </p:cNvPr>
          <p:cNvSpPr txBox="1"/>
          <p:nvPr/>
        </p:nvSpPr>
        <p:spPr>
          <a:xfrm>
            <a:off x="863600" y="4563533"/>
            <a:ext cx="2997200" cy="36406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zh-TW" sz="1200" b="1" dirty="0">
                <a:solidFill>
                  <a:srgbClr val="1F2A44"/>
                </a:solidFill>
              </a:rPr>
              <a:t>補齊其他模型</a:t>
            </a:r>
          </a:p>
        </p:txBody>
      </p:sp>
      <p:sp>
        <p:nvSpPr>
          <p:cNvPr id="906" name="矩形: 圓角 20">
            <a:extLst>
              <a:ext uri="{FF2B5EF4-FFF2-40B4-BE49-F238E27FC236}">
                <a16:creationId xmlns:a16="http://schemas.microsoft.com/office/drawing/2014/main" id="{A34C8BEA-11C8-48C8-868F-303A31AA342C}"/>
              </a:ext>
            </a:extLst>
          </p:cNvPr>
          <p:cNvSpPr/>
          <p:nvPr/>
        </p:nvSpPr>
        <p:spPr>
          <a:xfrm>
            <a:off x="304800" y="5029200"/>
            <a:ext cx="3657600" cy="364067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926" name="橢圓 21">
            <a:extLst>
              <a:ext uri="{FF2B5EF4-FFF2-40B4-BE49-F238E27FC236}">
                <a16:creationId xmlns:a16="http://schemas.microsoft.com/office/drawing/2014/main" id="{A3EB4FDC-2B4F-456A-8176-BB6E56C9E2D9}"/>
              </a:ext>
            </a:extLst>
          </p:cNvPr>
          <p:cNvSpPr/>
          <p:nvPr/>
        </p:nvSpPr>
        <p:spPr>
          <a:xfrm>
            <a:off x="406400" y="5046133"/>
            <a:ext cx="330200" cy="3302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946" name="step4">
            <a:extLst>
              <a:ext uri="{FF2B5EF4-FFF2-40B4-BE49-F238E27FC236}">
                <a16:creationId xmlns:a16="http://schemas.microsoft.com/office/drawing/2014/main" id="{22EE4AF1-9F8D-44FB-B1C0-887545B5AFCF}"/>
              </a:ext>
            </a:extLst>
          </p:cNvPr>
          <p:cNvSpPr txBox="1"/>
          <p:nvPr/>
        </p:nvSpPr>
        <p:spPr>
          <a:xfrm>
            <a:off x="863600" y="5029200"/>
            <a:ext cx="2997200" cy="36406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zh-TW" sz="1200" b="1" dirty="0">
                <a:solidFill>
                  <a:srgbClr val="1F2A44"/>
                </a:solidFill>
              </a:rPr>
              <a:t>畫估值區間圖</a:t>
            </a:r>
          </a:p>
        </p:txBody>
      </p:sp>
      <p:sp>
        <p:nvSpPr>
          <p:cNvPr id="907" name="矩形: 圓角 20">
            <a:extLst>
              <a:ext uri="{FF2B5EF4-FFF2-40B4-BE49-F238E27FC236}">
                <a16:creationId xmlns:a16="http://schemas.microsoft.com/office/drawing/2014/main" id="{A34C8BEA-11C8-48C8-868F-303A31AA342C}"/>
              </a:ext>
            </a:extLst>
          </p:cNvPr>
          <p:cNvSpPr/>
          <p:nvPr/>
        </p:nvSpPr>
        <p:spPr>
          <a:xfrm>
            <a:off x="304800" y="5494867"/>
            <a:ext cx="3657600" cy="364067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927" name="橢圓 21">
            <a:extLst>
              <a:ext uri="{FF2B5EF4-FFF2-40B4-BE49-F238E27FC236}">
                <a16:creationId xmlns:a16="http://schemas.microsoft.com/office/drawing/2014/main" id="{A3EB4FDC-2B4F-456A-8176-BB6E56C9E2D9}"/>
              </a:ext>
            </a:extLst>
          </p:cNvPr>
          <p:cNvSpPr/>
          <p:nvPr/>
        </p:nvSpPr>
        <p:spPr>
          <a:xfrm>
            <a:off x="406400" y="5511800"/>
            <a:ext cx="330200" cy="3302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947" name="step4">
            <a:extLst>
              <a:ext uri="{FF2B5EF4-FFF2-40B4-BE49-F238E27FC236}">
                <a16:creationId xmlns:a16="http://schemas.microsoft.com/office/drawing/2014/main" id="{22EE4AF1-9F8D-44FB-B1C0-887545B5AFCF}"/>
              </a:ext>
            </a:extLst>
          </p:cNvPr>
          <p:cNvSpPr txBox="1"/>
          <p:nvPr/>
        </p:nvSpPr>
        <p:spPr>
          <a:xfrm>
            <a:off x="863600" y="5494867"/>
            <a:ext cx="2997200" cy="36406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zh-TW" sz="1200" b="1" dirty="0">
                <a:solidFill>
                  <a:srgbClr val="1F2A44"/>
                </a:solidFill>
              </a:rPr>
              <a:t>製作簡報</a:t>
            </a:r>
          </a:p>
        </p:txBody>
      </p:sp>
      <p:sp>
        <p:nvSpPr>
          <p:cNvPr id="908" name="矩形: 圓角 20">
            <a:extLst>
              <a:ext uri="{FF2B5EF4-FFF2-40B4-BE49-F238E27FC236}">
                <a16:creationId xmlns:a16="http://schemas.microsoft.com/office/drawing/2014/main" id="{A34C8BEA-11C8-48C8-868F-303A31AA342C}"/>
              </a:ext>
            </a:extLst>
          </p:cNvPr>
          <p:cNvSpPr/>
          <p:nvPr/>
        </p:nvSpPr>
        <p:spPr>
          <a:xfrm>
            <a:off x="304800" y="5960533"/>
            <a:ext cx="3657600" cy="364067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928" name="橢圓 21">
            <a:extLst>
              <a:ext uri="{FF2B5EF4-FFF2-40B4-BE49-F238E27FC236}">
                <a16:creationId xmlns:a16="http://schemas.microsoft.com/office/drawing/2014/main" id="{A3EB4FDC-2B4F-456A-8176-BB6E56C9E2D9}"/>
              </a:ext>
            </a:extLst>
          </p:cNvPr>
          <p:cNvSpPr/>
          <p:nvPr/>
        </p:nvSpPr>
        <p:spPr>
          <a:xfrm>
            <a:off x="406400" y="5977467"/>
            <a:ext cx="330200" cy="3302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948" name="step4">
            <a:extLst>
              <a:ext uri="{FF2B5EF4-FFF2-40B4-BE49-F238E27FC236}">
                <a16:creationId xmlns:a16="http://schemas.microsoft.com/office/drawing/2014/main" id="{22EE4AF1-9F8D-44FB-B1C0-887545B5AFCF}"/>
              </a:ext>
            </a:extLst>
          </p:cNvPr>
          <p:cNvSpPr txBox="1"/>
          <p:nvPr/>
        </p:nvSpPr>
        <p:spPr>
          <a:xfrm>
            <a:off x="863600" y="5960533"/>
            <a:ext cx="2997200" cy="36406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zh-TW" sz="1200" b="1" dirty="0">
                <a:solidFill>
                  <a:srgbClr val="1F2A44"/>
                </a:solidFill>
              </a:rPr>
              <a:t>簡報複查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624B2E6-E626-9516-FF82-E1423B7DD662}"/>
              </a:ext>
            </a:extLst>
          </p:cNvPr>
          <p:cNvSpPr txBox="1"/>
          <p:nvPr/>
        </p:nvSpPr>
        <p:spPr>
          <a:xfrm>
            <a:off x="1986116" y="2156560"/>
            <a:ext cx="2128684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050" dirty="0">
                <a:solidFill>
                  <a:srgbClr val="8A93A6"/>
                </a:solidFill>
              </a:rPr>
              <a:t>確認目標公司、產業與情境，圈出 </a:t>
            </a:r>
            <a:r>
              <a:rPr lang="en-US" altLang="zh-TW" sz="1050" dirty="0">
                <a:solidFill>
                  <a:srgbClr val="8A93A6"/>
                </a:solidFill>
              </a:rPr>
              <a:t>5–8 </a:t>
            </a:r>
            <a:r>
              <a:rPr lang="zh-TW" altLang="en-US" sz="1050" dirty="0">
                <a:solidFill>
                  <a:srgbClr val="8A93A6"/>
                </a:solidFill>
              </a:rPr>
              <a:t>家性質相近的可比公司，與幾筆類似的過往交易。</a:t>
            </a:r>
          </a:p>
        </p:txBody>
      </p:sp>
      <p:sp>
        <p:nvSpPr>
          <p:cNvPr id="970" name="stepDesc"/>
          <p:cNvSpPr txBox="1"/>
          <p:nvPr/>
        </p:nvSpPr>
        <p:spPr>
          <a:xfrm>
            <a:off x="2076226" y="2575110"/>
            <a:ext cx="1879600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ts val="1250"/>
              </a:lnSpc>
            </a:pPr>
            <a:r>
              <a:rPr lang="zh-TW" altLang="en-US" sz="1050" dirty="0">
                <a:solidFill>
                  <a:srgbClr val="8A93A6"/>
                </a:solidFill>
              </a:rPr>
              <a:t>草擬公司快照與策略理由（地位、為何是現在）</a:t>
            </a:r>
          </a:p>
        </p:txBody>
      </p:sp>
      <p:sp>
        <p:nvSpPr>
          <p:cNvPr id="971" name="stepDesc"/>
          <p:cNvSpPr txBox="1"/>
          <p:nvPr/>
        </p:nvSpPr>
        <p:spPr>
          <a:xfrm>
            <a:off x="2076226" y="3053826"/>
            <a:ext cx="1911574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ts val="1250"/>
              </a:lnSpc>
            </a:pPr>
            <a:r>
              <a:rPr lang="zh-TW" altLang="en-US" sz="1050" dirty="0">
                <a:solidFill>
                  <a:srgbClr val="8A93A6"/>
                </a:solidFill>
              </a:rPr>
              <a:t>取得估值倍數、先例交易與最新財報</a:t>
            </a:r>
          </a:p>
        </p:txBody>
      </p:sp>
      <p:sp>
        <p:nvSpPr>
          <p:cNvPr id="972" name="stepDesc"/>
          <p:cNvSpPr txBox="1"/>
          <p:nvPr/>
        </p:nvSpPr>
        <p:spPr>
          <a:xfrm>
            <a:off x="2076226" y="3523726"/>
            <a:ext cx="1886174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ts val="1250"/>
              </a:lnSpc>
            </a:pPr>
            <a:r>
              <a:rPr lang="zh-TW" altLang="en-US" sz="1050" dirty="0">
                <a:solidFill>
                  <a:srgbClr val="8A93A6"/>
                </a:solidFill>
              </a:rPr>
              <a:t>攤開 comps 與先例，推估估值區間</a:t>
            </a:r>
          </a:p>
        </p:txBody>
      </p:sp>
      <p:sp>
        <p:nvSpPr>
          <p:cNvPr id="973" name="stepDesc"/>
          <p:cNvSpPr txBox="1"/>
          <p:nvPr/>
        </p:nvSpPr>
        <p:spPr>
          <a:xfrm>
            <a:off x="2076226" y="3982868"/>
            <a:ext cx="1879600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ts val="1250"/>
              </a:lnSpc>
            </a:pPr>
            <a:r>
              <a:rPr lang="zh-TW" altLang="en-US" sz="1050" dirty="0">
                <a:solidFill>
                  <a:srgbClr val="8A93A6"/>
                </a:solidFill>
              </a:rPr>
              <a:t>以市場舉債水準試算 LBO 報酬</a:t>
            </a:r>
          </a:p>
        </p:txBody>
      </p:sp>
      <p:sp>
        <p:nvSpPr>
          <p:cNvPr id="974" name="stepDesc"/>
          <p:cNvSpPr txBox="1"/>
          <p:nvPr/>
        </p:nvSpPr>
        <p:spPr>
          <a:xfrm>
            <a:off x="2076226" y="4440068"/>
            <a:ext cx="2038574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ts val="1250"/>
              </a:lnSpc>
            </a:pPr>
            <a:r>
              <a:rPr lang="zh-TW" altLang="en-US" sz="1050" dirty="0">
                <a:solidFill>
                  <a:srgbClr val="8A93A6"/>
                </a:solidFill>
              </a:rPr>
              <a:t>補上 DCF 與三大報表模型</a:t>
            </a:r>
          </a:p>
        </p:txBody>
      </p:sp>
      <p:sp>
        <p:nvSpPr>
          <p:cNvPr id="975" name="stepDesc"/>
          <p:cNvSpPr txBox="1"/>
          <p:nvPr/>
        </p:nvSpPr>
        <p:spPr>
          <a:xfrm>
            <a:off x="2076226" y="4909968"/>
            <a:ext cx="1879600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ts val="1250"/>
              </a:lnSpc>
            </a:pPr>
            <a:r>
              <a:rPr lang="zh-TW" altLang="en-US" sz="1050" dirty="0">
                <a:solidFill>
                  <a:srgbClr val="8A93A6"/>
                </a:solidFill>
              </a:rPr>
              <a:t>各法高／中／低疊成足球場圖對照現價</a:t>
            </a:r>
          </a:p>
        </p:txBody>
      </p:sp>
      <p:sp>
        <p:nvSpPr>
          <p:cNvPr id="976" name="stepDesc"/>
          <p:cNvSpPr txBox="1"/>
          <p:nvPr/>
        </p:nvSpPr>
        <p:spPr>
          <a:xfrm>
            <a:off x="2076226" y="5379868"/>
            <a:ext cx="1879600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ts val="1250"/>
              </a:lnSpc>
            </a:pPr>
            <a:r>
              <a:rPr lang="zh-TW" altLang="en-US" sz="1050" dirty="0">
                <a:solidFill>
                  <a:srgbClr val="8A93A6"/>
                </a:solidFill>
              </a:rPr>
              <a:t>套銀行範本，數字皆可追溯回模型</a:t>
            </a:r>
          </a:p>
        </p:txBody>
      </p:sp>
      <p:sp>
        <p:nvSpPr>
          <p:cNvPr id="977" name="stepDesc"/>
          <p:cNvSpPr txBox="1"/>
          <p:nvPr/>
        </p:nvSpPr>
        <p:spPr>
          <a:xfrm>
            <a:off x="2076226" y="5847826"/>
            <a:ext cx="2038574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ts val="1250"/>
              </a:lnSpc>
            </a:pPr>
            <a:r>
              <a:rPr lang="zh-TW" altLang="en-US" sz="1050" dirty="0">
                <a:solidFill>
                  <a:srgbClr val="8A93A6"/>
                </a:solidFill>
              </a:rPr>
              <a:t>核對加總、註腳、日期一致</a:t>
            </a:r>
          </a:p>
        </p:txBody>
      </p:sp>
      <p:sp>
        <p:nvSpPr>
          <p:cNvPr id="26" name="bulletBox">
            <a:extLst>
              <a:ext uri="{FF2B5EF4-FFF2-40B4-BE49-F238E27FC236}">
                <a16:creationId xmlns:a16="http://schemas.microsoft.com/office/drawing/2014/main" id="{0943099D-82E8-B510-37B7-AA0980CE2060}"/>
              </a:ext>
            </a:extLst>
          </p:cNvPr>
          <p:cNvSpPr txBox="1"/>
          <p:nvPr/>
        </p:nvSpPr>
        <p:spPr>
          <a:xfrm>
            <a:off x="4267200" y="2264833"/>
            <a:ext cx="35052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00025" indent="-200025">
              <a:lnSpc>
                <a:spcPts val="1300"/>
              </a:lnSpc>
              <a:spcAft>
                <a:spcPts val="30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界定範圍：</a:t>
            </a:r>
            <a:r>
              <a:rPr lang="zh-TW" sz="1150" dirty="0">
                <a:solidFill>
                  <a:srgbClr val="1F2A44"/>
                </a:solidFill>
              </a:rPr>
              <a:t>圈定 5–8 家可比公司與先例交易</a:t>
            </a:r>
          </a:p>
        </p:txBody>
      </p:sp>
      <p:sp>
        <p:nvSpPr>
          <p:cNvPr id="29" name="bulletBox">
            <a:extLst>
              <a:ext uri="{FF2B5EF4-FFF2-40B4-BE49-F238E27FC236}">
                <a16:creationId xmlns:a16="http://schemas.microsoft.com/office/drawing/2014/main" id="{E2184472-AF5A-FA1B-5062-4A4EFB33A0E5}"/>
              </a:ext>
            </a:extLst>
          </p:cNvPr>
          <p:cNvSpPr txBox="1"/>
          <p:nvPr/>
        </p:nvSpPr>
        <p:spPr>
          <a:xfrm>
            <a:off x="4267200" y="2667000"/>
            <a:ext cx="35052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00025" indent="-200025">
              <a:lnSpc>
                <a:spcPts val="1300"/>
              </a:lnSpc>
              <a:spcAft>
                <a:spcPts val="30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情境概述：</a:t>
            </a:r>
            <a:r>
              <a:rPr lang="zh-TW" sz="1150" dirty="0">
                <a:solidFill>
                  <a:srgbClr val="1F2A44"/>
                </a:solidFill>
              </a:rPr>
              <a:t>sector-overview 產公司快照與策略理由</a:t>
            </a:r>
          </a:p>
        </p:txBody>
      </p:sp>
      <p:sp>
        <p:nvSpPr>
          <p:cNvPr id="30" name="bulletBox">
            <a:extLst>
              <a:ext uri="{FF2B5EF4-FFF2-40B4-BE49-F238E27FC236}">
                <a16:creationId xmlns:a16="http://schemas.microsoft.com/office/drawing/2014/main" id="{4B660A83-3063-92F3-85D7-0EF901884E33}"/>
              </a:ext>
            </a:extLst>
          </p:cNvPr>
          <p:cNvSpPr txBox="1"/>
          <p:nvPr/>
        </p:nvSpPr>
        <p:spPr>
          <a:xfrm>
            <a:off x="4267200" y="3224355"/>
            <a:ext cx="3505200" cy="248422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00025" indent="-200025">
              <a:lnSpc>
                <a:spcPts val="1300"/>
              </a:lnSpc>
              <a:spcAft>
                <a:spcPts val="30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蒐集資料：</a:t>
            </a:r>
            <a:r>
              <a:rPr lang="zh-TW" sz="1150" dirty="0">
                <a:solidFill>
                  <a:srgbClr val="1F2A44"/>
                </a:solidFill>
              </a:rPr>
              <a:t>CapIQ 取得倍數、先例與最新財報</a:t>
            </a:r>
          </a:p>
        </p:txBody>
      </p:sp>
      <p:sp>
        <p:nvSpPr>
          <p:cNvPr id="31" name="bulletBox">
            <a:extLst>
              <a:ext uri="{FF2B5EF4-FFF2-40B4-BE49-F238E27FC236}">
                <a16:creationId xmlns:a16="http://schemas.microsoft.com/office/drawing/2014/main" id="{6B632B56-B9E4-EAC3-9F8D-D88163C538C4}"/>
              </a:ext>
            </a:extLst>
          </p:cNvPr>
          <p:cNvSpPr txBox="1"/>
          <p:nvPr/>
        </p:nvSpPr>
        <p:spPr>
          <a:xfrm>
            <a:off x="4267200" y="3685265"/>
            <a:ext cx="3505200" cy="248422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00025" indent="-200025">
              <a:lnSpc>
                <a:spcPts val="1300"/>
              </a:lnSpc>
              <a:spcAft>
                <a:spcPts val="30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比較同業：</a:t>
            </a:r>
            <a:r>
              <a:rPr lang="zh-TW" sz="1150" dirty="0">
                <a:solidFill>
                  <a:srgbClr val="1F2A44"/>
                </a:solidFill>
              </a:rPr>
              <a:t>comps-analysis 標離群、推估估值區間</a:t>
            </a:r>
          </a:p>
        </p:txBody>
      </p:sp>
      <p:sp>
        <p:nvSpPr>
          <p:cNvPr id="32" name="bulletBox">
            <a:extLst>
              <a:ext uri="{FF2B5EF4-FFF2-40B4-BE49-F238E27FC236}">
                <a16:creationId xmlns:a16="http://schemas.microsoft.com/office/drawing/2014/main" id="{786AE53C-F54F-2FEC-800C-392000DEEA88}"/>
              </a:ext>
            </a:extLst>
          </p:cNvPr>
          <p:cNvSpPr txBox="1"/>
          <p:nvPr/>
        </p:nvSpPr>
        <p:spPr>
          <a:xfrm>
            <a:off x="4267200" y="4155689"/>
            <a:ext cx="3505200" cy="248422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00025" indent="-200025">
              <a:lnSpc>
                <a:spcPts val="1300"/>
              </a:lnSpc>
              <a:spcAft>
                <a:spcPts val="30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示意 LBO：</a:t>
            </a:r>
            <a:r>
              <a:rPr lang="zh-TW" sz="1150" dirty="0">
                <a:solidFill>
                  <a:srgbClr val="1F2A44"/>
                </a:solidFill>
              </a:rPr>
              <a:t>lbo-model 試算舉債水準與報酬敏感度</a:t>
            </a:r>
          </a:p>
        </p:txBody>
      </p:sp>
      <p:sp>
        <p:nvSpPr>
          <p:cNvPr id="33" name="bulletBox">
            <a:extLst>
              <a:ext uri="{FF2B5EF4-FFF2-40B4-BE49-F238E27FC236}">
                <a16:creationId xmlns:a16="http://schemas.microsoft.com/office/drawing/2014/main" id="{5380C55C-FDFC-1C4B-3ED2-320DE48E766F}"/>
              </a:ext>
            </a:extLst>
          </p:cNvPr>
          <p:cNvSpPr txBox="1"/>
          <p:nvPr/>
        </p:nvSpPr>
        <p:spPr>
          <a:xfrm>
            <a:off x="4267200" y="4598545"/>
            <a:ext cx="3505200" cy="304102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00025" indent="-200025">
              <a:lnSpc>
                <a:spcPts val="1300"/>
              </a:lnSpc>
              <a:spcAft>
                <a:spcPts val="30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補建模型：</a:t>
            </a:r>
            <a:r>
              <a:rPr lang="zh-TW" sz="1150" dirty="0">
                <a:solidFill>
                  <a:srgbClr val="1F2A44"/>
                </a:solidFill>
              </a:rPr>
              <a:t>補 DCF、三表，遵 audit-xls 稽核慣例</a:t>
            </a:r>
          </a:p>
        </p:txBody>
      </p:sp>
      <p:sp>
        <p:nvSpPr>
          <p:cNvPr id="34" name="bulletBox">
            <a:extLst>
              <a:ext uri="{FF2B5EF4-FFF2-40B4-BE49-F238E27FC236}">
                <a16:creationId xmlns:a16="http://schemas.microsoft.com/office/drawing/2014/main" id="{69DB2A27-1AE8-6437-75ED-E9CA4EF58E06}"/>
              </a:ext>
            </a:extLst>
          </p:cNvPr>
          <p:cNvSpPr txBox="1"/>
          <p:nvPr/>
        </p:nvSpPr>
        <p:spPr>
          <a:xfrm>
            <a:off x="4267200" y="5037468"/>
            <a:ext cx="3505200" cy="304102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00025" indent="-200025">
              <a:lnSpc>
                <a:spcPts val="1300"/>
              </a:lnSpc>
              <a:spcAft>
                <a:spcPts val="30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足球場：</a:t>
            </a:r>
            <a:r>
              <a:rPr lang="zh-TW" sz="1150" dirty="0">
                <a:solidFill>
                  <a:srgbClr val="1F2A44"/>
                </a:solidFill>
              </a:rPr>
              <a:t>各法高／中／低疊成橫條圖對照現價</a:t>
            </a:r>
          </a:p>
        </p:txBody>
      </p:sp>
      <p:sp>
        <p:nvSpPr>
          <p:cNvPr id="35" name="bulletBox">
            <a:extLst>
              <a:ext uri="{FF2B5EF4-FFF2-40B4-BE49-F238E27FC236}">
                <a16:creationId xmlns:a16="http://schemas.microsoft.com/office/drawing/2014/main" id="{7CCA2A48-A827-6F12-23EA-7175747A21C9}"/>
              </a:ext>
            </a:extLst>
          </p:cNvPr>
          <p:cNvSpPr txBox="1"/>
          <p:nvPr/>
        </p:nvSpPr>
        <p:spPr>
          <a:xfrm>
            <a:off x="4267200" y="5511800"/>
            <a:ext cx="35052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00025" indent="-200025">
              <a:lnSpc>
                <a:spcPts val="1300"/>
              </a:lnSpc>
              <a:spcAft>
                <a:spcPts val="30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填簡報：</a:t>
            </a:r>
            <a:r>
              <a:rPr lang="zh-TW" sz="1150" dirty="0">
                <a:solidFill>
                  <a:srgbClr val="1F2A44"/>
                </a:solidFill>
              </a:rPr>
              <a:t>pitch-deck 套範本，數字可追溯具名範圍</a:t>
            </a:r>
          </a:p>
        </p:txBody>
      </p:sp>
      <p:sp>
        <p:nvSpPr>
          <p:cNvPr id="36" name="bulletBox">
            <a:extLst>
              <a:ext uri="{FF2B5EF4-FFF2-40B4-BE49-F238E27FC236}">
                <a16:creationId xmlns:a16="http://schemas.microsoft.com/office/drawing/2014/main" id="{3D7A0EAF-B32F-2857-387F-DA9A45100B97}"/>
              </a:ext>
            </a:extLst>
          </p:cNvPr>
          <p:cNvSpPr txBox="1"/>
          <p:nvPr/>
        </p:nvSpPr>
        <p:spPr>
          <a:xfrm>
            <a:off x="4267200" y="6063030"/>
            <a:ext cx="3505200" cy="23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00025" indent="-200025">
              <a:lnSpc>
                <a:spcPts val="1300"/>
              </a:lnSpc>
              <a:spcAft>
                <a:spcPts val="30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簡報 QC：</a:t>
            </a:r>
            <a:r>
              <a:rPr lang="zh-TW" sz="1150" dirty="0">
                <a:solidFill>
                  <a:srgbClr val="1F2A44"/>
                </a:solidFill>
              </a:rPr>
              <a:t>ib-check-deck 核對加總、註腳、日期</a:t>
            </a:r>
          </a:p>
        </p:txBody>
      </p:sp>
    </p:spTree>
    <p:extLst>
      <p:ext uri="{BB962C8B-B14F-4D97-AF65-F5344CB8AC3E}">
        <p14:creationId xmlns:p14="http://schemas.microsoft.com/office/powerpoint/2010/main" val="3859503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5E48F1-A2F8-47E0-A5FE-2A0A4621E7F5}"/>
              </a:ext>
            </a:extLst>
          </p:cNvPr>
          <p:cNvSpPr txBox="1"/>
          <p:nvPr/>
        </p:nvSpPr>
        <p:spPr>
          <a:xfrm>
            <a:off x="304800" y="228600"/>
            <a:ext cx="8128000" cy="6604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3400" b="1" dirty="0">
                <a:solidFill>
                  <a:srgbClr val="1B8EA6"/>
                </a:solidFill>
              </a:rPr>
              <a:t>KYC Screener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350853C7-B415-4605-B74C-70BCCE94FF7F}"/>
              </a:ext>
            </a:extLst>
          </p:cNvPr>
          <p:cNvSpPr/>
          <p:nvPr/>
        </p:nvSpPr>
        <p:spPr>
          <a:xfrm>
            <a:off x="9042400" y="279400"/>
            <a:ext cx="2844800" cy="457200"/>
          </a:xfrm>
          <a:prstGeom prst="roundRect">
            <a:avLst/>
          </a:prstGeom>
          <a:solidFill>
            <a:srgbClr val="E8B5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000" b="1">
                <a:solidFill>
                  <a:srgbClr val="FFFFFF"/>
                </a:solidFill>
              </a:rPr>
              <a:t>適用對象：後台作業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D52DCAD0-41D8-4D43-810C-074FCB9FDFFC}"/>
              </a:ext>
            </a:extLst>
          </p:cNvPr>
          <p:cNvSpPr/>
          <p:nvPr/>
        </p:nvSpPr>
        <p:spPr>
          <a:xfrm>
            <a:off x="304800" y="1041400"/>
            <a:ext cx="1016000" cy="457200"/>
          </a:xfrm>
          <a:prstGeom prst="roundRect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600" b="1" dirty="0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5" name="descBox">
            <a:extLst>
              <a:ext uri="{FF2B5EF4-FFF2-40B4-BE49-F238E27FC236}">
                <a16:creationId xmlns:a16="http://schemas.microsoft.com/office/drawing/2014/main" id="{E306E6DB-1021-472A-AA85-781FA1A779E9}"/>
              </a:ext>
            </a:extLst>
          </p:cNvPr>
          <p:cNvSpPr txBox="1"/>
          <p:nvPr/>
        </p:nvSpPr>
        <p:spPr>
          <a:xfrm>
            <a:off x="1473200" y="10160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zh-TW" altLang="en-US" sz="1600" dirty="0">
                <a:solidFill>
                  <a:srgbClr val="1F2A44"/>
                </a:solidFill>
              </a:rPr>
              <a:t>開戶審查助理，解析開戶文件、套用反洗錢規則並比對黑名單，最終產出給合規官的盡職調查報告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480E125-5C2C-4518-AC2B-6E4F4BB2A821}"/>
              </a:ext>
            </a:extLst>
          </p:cNvPr>
          <p:cNvSpPr/>
          <p:nvPr/>
        </p:nvSpPr>
        <p:spPr>
          <a:xfrm>
            <a:off x="3048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 dirty="0">
                <a:solidFill>
                  <a:srgbClr val="FFFFFF"/>
                </a:solidFill>
              </a:rPr>
              <a:t>Agent </a:t>
            </a:r>
            <a:r>
              <a:rPr lang="zh-TW" altLang="en-US" sz="2200" b="1" dirty="0">
                <a:solidFill>
                  <a:srgbClr val="FFFFFF"/>
                </a:solidFill>
              </a:rPr>
              <a:t>運作流程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C2356A-14AC-4BC5-B13F-CABBA997CDD3}"/>
              </a:ext>
            </a:extLst>
          </p:cNvPr>
          <p:cNvSpPr/>
          <p:nvPr/>
        </p:nvSpPr>
        <p:spPr>
          <a:xfrm>
            <a:off x="42672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步驟說明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FEF3B04-6910-4E33-ADE5-0DE565053831}"/>
              </a:ext>
            </a:extLst>
          </p:cNvPr>
          <p:cNvSpPr/>
          <p:nvPr/>
        </p:nvSpPr>
        <p:spPr>
          <a:xfrm>
            <a:off x="82296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實際產出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1947C3D2-879E-4020-AFA6-574BF9B0AF04}"/>
              </a:ext>
            </a:extLst>
          </p:cNvPr>
          <p:cNvSpPr/>
          <p:nvPr/>
        </p:nvSpPr>
        <p:spPr>
          <a:xfrm>
            <a:off x="304800" y="2235200"/>
            <a:ext cx="3657600" cy="9271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1F381FE7-79B4-466E-891A-1E6443A75D51}"/>
              </a:ext>
            </a:extLst>
          </p:cNvPr>
          <p:cNvSpPr/>
          <p:nvPr/>
        </p:nvSpPr>
        <p:spPr>
          <a:xfrm>
            <a:off x="381000" y="2520950"/>
            <a:ext cx="355600" cy="355600"/>
          </a:xfrm>
          <a:prstGeom prst="ellipse">
            <a:avLst/>
          </a:prstGeom>
          <a:solidFill>
            <a:srgbClr val="00B05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step0">
            <a:extLst>
              <a:ext uri="{FF2B5EF4-FFF2-40B4-BE49-F238E27FC236}">
                <a16:creationId xmlns:a16="http://schemas.microsoft.com/office/drawing/2014/main" id="{D8EA4C21-C360-48B8-BCCA-31A91C4FD5BB}"/>
              </a:ext>
            </a:extLst>
          </p:cNvPr>
          <p:cNvSpPr txBox="1"/>
          <p:nvPr/>
        </p:nvSpPr>
        <p:spPr>
          <a:xfrm>
            <a:off x="838200" y="2235200"/>
            <a:ext cx="3048000" cy="927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讀開戶文件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讀出公司名稱、實際出資人、地址、證件號等基本資料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E4D06FEE-F20F-4C16-8A1C-72E4BE81197A}"/>
              </a:ext>
            </a:extLst>
          </p:cNvPr>
          <p:cNvSpPr/>
          <p:nvPr/>
        </p:nvSpPr>
        <p:spPr>
          <a:xfrm>
            <a:off x="304800" y="3289300"/>
            <a:ext cx="3657600" cy="9271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64FC7F29-C07F-4A28-BE6B-CC4AD712E9CD}"/>
              </a:ext>
            </a:extLst>
          </p:cNvPr>
          <p:cNvSpPr/>
          <p:nvPr/>
        </p:nvSpPr>
        <p:spPr>
          <a:xfrm>
            <a:off x="381000" y="357505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step1">
            <a:extLst>
              <a:ext uri="{FF2B5EF4-FFF2-40B4-BE49-F238E27FC236}">
                <a16:creationId xmlns:a16="http://schemas.microsoft.com/office/drawing/2014/main" id="{EA484A52-68D3-4812-ACBE-5F50373F736A}"/>
              </a:ext>
            </a:extLst>
          </p:cNvPr>
          <p:cNvSpPr txBox="1"/>
          <p:nvPr/>
        </p:nvSpPr>
        <p:spPr>
          <a:xfrm>
            <a:off x="838200" y="3289300"/>
            <a:ext cx="3048000" cy="927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逐條套規則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對照開戶與防制洗錢規則，標出通過／不通過並附證據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34241FD-E4C5-4658-AEF9-685F75FEDD02}"/>
              </a:ext>
            </a:extLst>
          </p:cNvPr>
          <p:cNvSpPr/>
          <p:nvPr/>
        </p:nvSpPr>
        <p:spPr>
          <a:xfrm>
            <a:off x="304800" y="4343400"/>
            <a:ext cx="3657600" cy="9271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FE77734E-BF17-4528-8653-686EABB59FE0}"/>
              </a:ext>
            </a:extLst>
          </p:cNvPr>
          <p:cNvSpPr/>
          <p:nvPr/>
        </p:nvSpPr>
        <p:spPr>
          <a:xfrm>
            <a:off x="381000" y="462915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step2">
            <a:extLst>
              <a:ext uri="{FF2B5EF4-FFF2-40B4-BE49-F238E27FC236}">
                <a16:creationId xmlns:a16="http://schemas.microsoft.com/office/drawing/2014/main" id="{80F53066-C6A7-4EBD-B2A3-8815AEC43ECD}"/>
              </a:ext>
            </a:extLst>
          </p:cNvPr>
          <p:cNvSpPr txBox="1"/>
          <p:nvPr/>
        </p:nvSpPr>
        <p:spPr>
          <a:xfrm>
            <a:off x="838200" y="4343400"/>
            <a:ext cx="3048000" cy="927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比對黑名單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對每位相關人查制裁、PEP 與負面新聞是否命中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745C473F-0E25-4068-9239-57C173D228F8}"/>
              </a:ext>
            </a:extLst>
          </p:cNvPr>
          <p:cNvSpPr/>
          <p:nvPr/>
        </p:nvSpPr>
        <p:spPr>
          <a:xfrm>
            <a:off x="304800" y="5397500"/>
            <a:ext cx="3657600" cy="9271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97A6FD79-C8F5-4AEE-A75D-022EB4DF8832}"/>
              </a:ext>
            </a:extLst>
          </p:cNvPr>
          <p:cNvSpPr/>
          <p:nvPr/>
        </p:nvSpPr>
        <p:spPr>
          <a:xfrm>
            <a:off x="381000" y="568325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step3">
            <a:extLst>
              <a:ext uri="{FF2B5EF4-FFF2-40B4-BE49-F238E27FC236}">
                <a16:creationId xmlns:a16="http://schemas.microsoft.com/office/drawing/2014/main" id="{40A0DB60-99B4-42E8-B0D1-3AEE3E62A429}"/>
              </a:ext>
            </a:extLst>
          </p:cNvPr>
          <p:cNvSpPr txBox="1"/>
          <p:nvPr/>
        </p:nvSpPr>
        <p:spPr>
          <a:xfrm>
            <a:off x="838200" y="5397500"/>
            <a:ext cx="3048000" cy="927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整理待簽報告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把缺漏與命中整理成報告，送合規官簽核</a:t>
            </a:r>
          </a:p>
        </p:txBody>
      </p:sp>
      <p:sp>
        <p:nvSpPr>
          <p:cNvPr id="21" name="bulletBox">
            <a:extLst>
              <a:ext uri="{FF2B5EF4-FFF2-40B4-BE49-F238E27FC236}">
                <a16:creationId xmlns:a16="http://schemas.microsoft.com/office/drawing/2014/main" id="{E0126336-E9DE-A0DE-B7B3-036367323EF2}"/>
              </a:ext>
            </a:extLst>
          </p:cNvPr>
          <p:cNvSpPr txBox="1"/>
          <p:nvPr/>
        </p:nvSpPr>
        <p:spPr>
          <a:xfrm>
            <a:off x="4267200" y="2520950"/>
            <a:ext cx="3505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450"/>
              </a:lnSpc>
              <a:spcAft>
                <a:spcPts val="600"/>
              </a:spcAft>
              <a:buFont typeface="Arial"/>
              <a:buChar char="•"/>
            </a:pPr>
            <a:r>
              <a:rPr lang="zh-TW" sz="1200" b="1" dirty="0">
                <a:solidFill>
                  <a:srgbClr val="1B8EA6"/>
                </a:solidFill>
              </a:rPr>
              <a:t>隔離抽取：</a:t>
            </a:r>
            <a:r>
              <a:rPr lang="zh-TW" sz="1200" dirty="0">
                <a:solidFill>
                  <a:srgbClr val="1F2A44"/>
                </a:solidFill>
              </a:rPr>
              <a:t>由 doc-reader 子代理（只讀／搜尋、無 MCP）抽欄位，把不可信文件擋在流程外</a:t>
            </a:r>
          </a:p>
        </p:txBody>
      </p:sp>
      <p:sp>
        <p:nvSpPr>
          <p:cNvPr id="22" name="bulletBox">
            <a:extLst>
              <a:ext uri="{FF2B5EF4-FFF2-40B4-BE49-F238E27FC236}">
                <a16:creationId xmlns:a16="http://schemas.microsoft.com/office/drawing/2014/main" id="{1781C5DB-0EFC-948D-B660-85B823232370}"/>
              </a:ext>
            </a:extLst>
          </p:cNvPr>
          <p:cNvSpPr txBox="1"/>
          <p:nvPr/>
        </p:nvSpPr>
        <p:spPr>
          <a:xfrm>
            <a:off x="4267200" y="3548828"/>
            <a:ext cx="35052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450"/>
              </a:lnSpc>
              <a:spcAft>
                <a:spcPts val="600"/>
              </a:spcAft>
              <a:buFont typeface="Arial"/>
              <a:buChar char="•"/>
            </a:pPr>
            <a:r>
              <a:rPr lang="zh-TW" sz="1200" b="1" dirty="0">
                <a:solidFill>
                  <a:srgbClr val="1B8EA6"/>
                </a:solidFill>
              </a:rPr>
              <a:t>規則引擎評分：</a:t>
            </a:r>
            <a:r>
              <a:rPr lang="zh-TW" sz="1200" dirty="0">
                <a:solidFill>
                  <a:srgbClr val="1F2A44"/>
                </a:solidFill>
              </a:rPr>
              <a:t>以 kyc-rules 逐條評估，輸出每條規則的通過／不通過與證據引用</a:t>
            </a:r>
          </a:p>
        </p:txBody>
      </p:sp>
      <p:sp>
        <p:nvSpPr>
          <p:cNvPr id="23" name="bulletBox">
            <a:extLst>
              <a:ext uri="{FF2B5EF4-FFF2-40B4-BE49-F238E27FC236}">
                <a16:creationId xmlns:a16="http://schemas.microsoft.com/office/drawing/2014/main" id="{340E2456-2673-534E-B93C-19A5E2D8123A}"/>
              </a:ext>
            </a:extLst>
          </p:cNvPr>
          <p:cNvSpPr txBox="1"/>
          <p:nvPr/>
        </p:nvSpPr>
        <p:spPr>
          <a:xfrm>
            <a:off x="4267200" y="4629150"/>
            <a:ext cx="35052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450"/>
              </a:lnSpc>
              <a:spcAft>
                <a:spcPts val="600"/>
              </a:spcAft>
              <a:buFont typeface="Arial"/>
              <a:buChar char="•"/>
            </a:pPr>
            <a:r>
              <a:rPr lang="zh-TW" sz="1200" b="1" dirty="0">
                <a:solidFill>
                  <a:srgbClr val="1B8EA6"/>
                </a:solidFill>
              </a:rPr>
              <a:t>篩查串接：</a:t>
            </a:r>
            <a:r>
              <a:rPr lang="zh-TW" sz="1200" dirty="0">
                <a:solidFill>
                  <a:srgbClr val="1F2A44"/>
                </a:solidFill>
              </a:rPr>
              <a:t>透過 screening MCP（唯讀）查制裁／PEP／負面新聞，回傳命中與信心</a:t>
            </a:r>
          </a:p>
        </p:txBody>
      </p:sp>
      <p:sp>
        <p:nvSpPr>
          <p:cNvPr id="26" name="bulletBox">
            <a:extLst>
              <a:ext uri="{FF2B5EF4-FFF2-40B4-BE49-F238E27FC236}">
                <a16:creationId xmlns:a16="http://schemas.microsoft.com/office/drawing/2014/main" id="{6126E940-7F33-4F56-FCD3-865065986734}"/>
              </a:ext>
            </a:extLst>
          </p:cNvPr>
          <p:cNvSpPr txBox="1"/>
          <p:nvPr/>
        </p:nvSpPr>
        <p:spPr>
          <a:xfrm>
            <a:off x="4267200" y="5709472"/>
            <a:ext cx="3505200" cy="454884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450"/>
              </a:lnSpc>
              <a:spcAft>
                <a:spcPts val="600"/>
              </a:spcAft>
              <a:buFont typeface="Arial"/>
              <a:buChar char="•"/>
            </a:pPr>
            <a:r>
              <a:rPr lang="zh-TW" sz="1200" b="1" dirty="0">
                <a:solidFill>
                  <a:srgbClr val="1B8EA6"/>
                </a:solidFill>
              </a:rPr>
              <a:t>結構化輸出：</a:t>
            </a:r>
            <a:r>
              <a:rPr lang="zh-TW" sz="1200" dirty="0">
                <a:solidFill>
                  <a:srgbClr val="1F2A44"/>
                </a:solidFill>
              </a:rPr>
              <a:t>由唯一可寫的 escalator 以 xlsx-author 打包合規報告，主代理永不寫檔</a:t>
            </a:r>
          </a:p>
        </p:txBody>
      </p:sp>
    </p:spTree>
    <p:extLst>
      <p:ext uri="{BB962C8B-B14F-4D97-AF65-F5344CB8AC3E}">
        <p14:creationId xmlns:p14="http://schemas.microsoft.com/office/powerpoint/2010/main" val="25105282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5E48F1-A2F8-47E0-A5FE-2A0A4621E7F5}"/>
              </a:ext>
            </a:extLst>
          </p:cNvPr>
          <p:cNvSpPr txBox="1"/>
          <p:nvPr/>
        </p:nvSpPr>
        <p:spPr>
          <a:xfrm>
            <a:off x="304800" y="228600"/>
            <a:ext cx="8128000" cy="6604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3400" b="1" dirty="0">
                <a:solidFill>
                  <a:srgbClr val="1B8EA6"/>
                </a:solidFill>
              </a:rPr>
              <a:t>GL Reconciler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350853C7-B415-4605-B74C-70BCCE94FF7F}"/>
              </a:ext>
            </a:extLst>
          </p:cNvPr>
          <p:cNvSpPr/>
          <p:nvPr/>
        </p:nvSpPr>
        <p:spPr>
          <a:xfrm>
            <a:off x="9042400" y="279400"/>
            <a:ext cx="2844800" cy="457200"/>
          </a:xfrm>
          <a:prstGeom prst="roundRect">
            <a:avLst/>
          </a:prstGeom>
          <a:solidFill>
            <a:srgbClr val="E8B5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000" b="1">
                <a:solidFill>
                  <a:srgbClr val="FFFFFF"/>
                </a:solidFill>
              </a:rPr>
              <a:t>適用對象：後台作業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D52DCAD0-41D8-4D43-810C-074FCB9FDFFC}"/>
              </a:ext>
            </a:extLst>
          </p:cNvPr>
          <p:cNvSpPr/>
          <p:nvPr/>
        </p:nvSpPr>
        <p:spPr>
          <a:xfrm>
            <a:off x="304800" y="1041400"/>
            <a:ext cx="1016000" cy="457200"/>
          </a:xfrm>
          <a:prstGeom prst="roundRect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600" b="1" dirty="0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5" name="descBox">
            <a:extLst>
              <a:ext uri="{FF2B5EF4-FFF2-40B4-BE49-F238E27FC236}">
                <a16:creationId xmlns:a16="http://schemas.microsoft.com/office/drawing/2014/main" id="{E306E6DB-1021-472A-AA85-781FA1A779E9}"/>
              </a:ext>
            </a:extLst>
          </p:cNvPr>
          <p:cNvSpPr txBox="1"/>
          <p:nvPr/>
        </p:nvSpPr>
        <p:spPr>
          <a:xfrm>
            <a:off x="1473200" y="10160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zh-TW" altLang="en-US" sz="1600" dirty="0">
                <a:solidFill>
                  <a:srgbClr val="1F2A44"/>
                </a:solidFill>
              </a:rPr>
              <a:t>總帳對帳助理，比對總帳與子帳找出差異並追根因，最終產出給控制員的例外報告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480E125-5C2C-4518-AC2B-6E4F4BB2A821}"/>
              </a:ext>
            </a:extLst>
          </p:cNvPr>
          <p:cNvSpPr/>
          <p:nvPr/>
        </p:nvSpPr>
        <p:spPr>
          <a:xfrm>
            <a:off x="3048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 dirty="0">
                <a:solidFill>
                  <a:srgbClr val="FFFFFF"/>
                </a:solidFill>
              </a:rPr>
              <a:t>Agent </a:t>
            </a:r>
            <a:r>
              <a:rPr lang="zh-TW" altLang="en-US" sz="2200" b="1" dirty="0">
                <a:solidFill>
                  <a:srgbClr val="FFFFFF"/>
                </a:solidFill>
              </a:rPr>
              <a:t>運作流程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C2356A-14AC-4BC5-B13F-CABBA997CDD3}"/>
              </a:ext>
            </a:extLst>
          </p:cNvPr>
          <p:cNvSpPr/>
          <p:nvPr/>
        </p:nvSpPr>
        <p:spPr>
          <a:xfrm>
            <a:off x="42672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步驟說明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FEF3B04-6910-4E33-ADE5-0DE565053831}"/>
              </a:ext>
            </a:extLst>
          </p:cNvPr>
          <p:cNvSpPr/>
          <p:nvPr/>
        </p:nvSpPr>
        <p:spPr>
          <a:xfrm>
            <a:off x="82296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實際產出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1947C3D2-879E-4020-AFA6-574BF9B0AF04}"/>
              </a:ext>
            </a:extLst>
          </p:cNvPr>
          <p:cNvSpPr/>
          <p:nvPr/>
        </p:nvSpPr>
        <p:spPr>
          <a:xfrm>
            <a:off x="304800" y="2235200"/>
            <a:ext cx="3657600" cy="71628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1F381FE7-79B4-466E-891A-1E6443A75D51}"/>
              </a:ext>
            </a:extLst>
          </p:cNvPr>
          <p:cNvSpPr/>
          <p:nvPr/>
        </p:nvSpPr>
        <p:spPr>
          <a:xfrm>
            <a:off x="381000" y="2415540"/>
            <a:ext cx="355600" cy="355600"/>
          </a:xfrm>
          <a:prstGeom prst="ellipse">
            <a:avLst/>
          </a:prstGeom>
          <a:solidFill>
            <a:srgbClr val="00B05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step0">
            <a:extLst>
              <a:ext uri="{FF2B5EF4-FFF2-40B4-BE49-F238E27FC236}">
                <a16:creationId xmlns:a16="http://schemas.microsoft.com/office/drawing/2014/main" id="{D8EA4C21-C360-48B8-BCCA-31A91C4FD5BB}"/>
              </a:ext>
            </a:extLst>
          </p:cNvPr>
          <p:cNvSpPr txBox="1"/>
          <p:nvPr/>
        </p:nvSpPr>
        <p:spPr>
          <a:xfrm>
            <a:off x="838200" y="2235200"/>
            <a:ext cx="3048000" cy="7162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拉出兩邊的帳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把總帳與子帳在指定日期、資產上的餘額拉出來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E4D06FEE-F20F-4C16-8A1C-72E4BE81197A}"/>
              </a:ext>
            </a:extLst>
          </p:cNvPr>
          <p:cNvSpPr/>
          <p:nvPr/>
        </p:nvSpPr>
        <p:spPr>
          <a:xfrm>
            <a:off x="304800" y="3078480"/>
            <a:ext cx="3657600" cy="71628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64FC7F29-C07F-4A28-BE6B-CC4AD712E9CD}"/>
              </a:ext>
            </a:extLst>
          </p:cNvPr>
          <p:cNvSpPr/>
          <p:nvPr/>
        </p:nvSpPr>
        <p:spPr>
          <a:xfrm>
            <a:off x="381000" y="325882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step1">
            <a:extLst>
              <a:ext uri="{FF2B5EF4-FFF2-40B4-BE49-F238E27FC236}">
                <a16:creationId xmlns:a16="http://schemas.microsoft.com/office/drawing/2014/main" id="{EA484A52-68D3-4812-ACBE-5F50373F736A}"/>
              </a:ext>
            </a:extLst>
          </p:cNvPr>
          <p:cNvSpPr txBox="1"/>
          <p:nvPr/>
        </p:nvSpPr>
        <p:spPr>
          <a:xfrm>
            <a:off x="838200" y="3078480"/>
            <a:ext cx="3048000" cy="7162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比對找差異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逐類比對，挑出超過容許範圍的差異（break）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34241FD-E4C5-4658-AEF9-685F75FEDD02}"/>
              </a:ext>
            </a:extLst>
          </p:cNvPr>
          <p:cNvSpPr/>
          <p:nvPr/>
        </p:nvSpPr>
        <p:spPr>
          <a:xfrm>
            <a:off x="304800" y="3921760"/>
            <a:ext cx="3657600" cy="71628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FE77734E-BF17-4528-8653-686EABB59FE0}"/>
              </a:ext>
            </a:extLst>
          </p:cNvPr>
          <p:cNvSpPr/>
          <p:nvPr/>
        </p:nvSpPr>
        <p:spPr>
          <a:xfrm>
            <a:off x="381000" y="410210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step2">
            <a:extLst>
              <a:ext uri="{FF2B5EF4-FFF2-40B4-BE49-F238E27FC236}">
                <a16:creationId xmlns:a16="http://schemas.microsoft.com/office/drawing/2014/main" id="{80F53066-C6A7-4EBD-B2A3-8815AEC43ECD}"/>
              </a:ext>
            </a:extLst>
          </p:cNvPr>
          <p:cNvSpPr txBox="1"/>
          <p:nvPr/>
        </p:nvSpPr>
        <p:spPr>
          <a:xfrm>
            <a:off x="838200" y="3921760"/>
            <a:ext cx="3048000" cy="7162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追查原因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一筆筆往下追：時間差、系統落差還是分類錯誤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745C473F-0E25-4068-9239-57C173D228F8}"/>
              </a:ext>
            </a:extLst>
          </p:cNvPr>
          <p:cNvSpPr/>
          <p:nvPr/>
        </p:nvSpPr>
        <p:spPr>
          <a:xfrm>
            <a:off x="304800" y="4765040"/>
            <a:ext cx="3657600" cy="71628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97A6FD79-C8F5-4AEE-A75D-022EB4DF8832}"/>
              </a:ext>
            </a:extLst>
          </p:cNvPr>
          <p:cNvSpPr/>
          <p:nvPr/>
        </p:nvSpPr>
        <p:spPr>
          <a:xfrm>
            <a:off x="381000" y="494538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step3">
            <a:extLst>
              <a:ext uri="{FF2B5EF4-FFF2-40B4-BE49-F238E27FC236}">
                <a16:creationId xmlns:a16="http://schemas.microsoft.com/office/drawing/2014/main" id="{40A0DB60-99B4-42E8-B0D1-3AEE3E62A429}"/>
              </a:ext>
            </a:extLst>
          </p:cNvPr>
          <p:cNvSpPr txBox="1"/>
          <p:nvPr/>
        </p:nvSpPr>
        <p:spPr>
          <a:xfrm>
            <a:off x="838200" y="4765040"/>
            <a:ext cx="3048000" cy="7162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獨立複查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由 critic 拿可信來源重查，濾掉假差異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A34C8BEA-11C8-48C8-868F-303A31AA342C}"/>
              </a:ext>
            </a:extLst>
          </p:cNvPr>
          <p:cNvSpPr/>
          <p:nvPr/>
        </p:nvSpPr>
        <p:spPr>
          <a:xfrm>
            <a:off x="304800" y="5608320"/>
            <a:ext cx="3657600" cy="71628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A3EB4FDC-2B4F-456A-8176-BB6E56C9E2D9}"/>
              </a:ext>
            </a:extLst>
          </p:cNvPr>
          <p:cNvSpPr/>
          <p:nvPr/>
        </p:nvSpPr>
        <p:spPr>
          <a:xfrm>
            <a:off x="381000" y="578866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step4">
            <a:extLst>
              <a:ext uri="{FF2B5EF4-FFF2-40B4-BE49-F238E27FC236}">
                <a16:creationId xmlns:a16="http://schemas.microsoft.com/office/drawing/2014/main" id="{22EE4AF1-9F8D-44FB-B1C0-887545B5AFCF}"/>
              </a:ext>
            </a:extLst>
          </p:cNvPr>
          <p:cNvSpPr txBox="1"/>
          <p:nvPr/>
        </p:nvSpPr>
        <p:spPr>
          <a:xfrm>
            <a:off x="838200" y="5608320"/>
            <a:ext cx="3048000" cy="7162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產出例外報告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整理成可供控制員簽核的例外清單</a:t>
            </a:r>
          </a:p>
        </p:txBody>
      </p:sp>
      <p:sp>
        <p:nvSpPr>
          <p:cNvPr id="26" name="bulletBox">
            <a:extLst>
              <a:ext uri="{FF2B5EF4-FFF2-40B4-BE49-F238E27FC236}">
                <a16:creationId xmlns:a16="http://schemas.microsoft.com/office/drawing/2014/main" id="{79C1E54F-DE1C-223B-300A-FFE52AEA5889}"/>
              </a:ext>
            </a:extLst>
          </p:cNvPr>
          <p:cNvSpPr txBox="1"/>
          <p:nvPr/>
        </p:nvSpPr>
        <p:spPr>
          <a:xfrm>
            <a:off x="4284233" y="2415540"/>
            <a:ext cx="35052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資料串接：</a:t>
            </a:r>
            <a:r>
              <a:rPr lang="zh-TW" sz="1150" dirty="0">
                <a:solidFill>
                  <a:srgbClr val="1F2A44"/>
                </a:solidFill>
              </a:rPr>
              <a:t>透過 internal-gl 與 subledger MCP（皆唯讀）依交易日與資產類別拉兩邊餘額</a:t>
            </a:r>
          </a:p>
        </p:txBody>
      </p:sp>
      <p:sp>
        <p:nvSpPr>
          <p:cNvPr id="27" name="bulletBox">
            <a:extLst>
              <a:ext uri="{FF2B5EF4-FFF2-40B4-BE49-F238E27FC236}">
                <a16:creationId xmlns:a16="http://schemas.microsoft.com/office/drawing/2014/main" id="{18FFC6CE-3DED-26EA-D9BC-7E31F6BF8010}"/>
              </a:ext>
            </a:extLst>
          </p:cNvPr>
          <p:cNvSpPr txBox="1"/>
          <p:nvPr/>
        </p:nvSpPr>
        <p:spPr>
          <a:xfrm>
            <a:off x="4284233" y="3301104"/>
            <a:ext cx="3505200" cy="420893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扇出並行：</a:t>
            </a:r>
            <a:r>
              <a:rPr lang="zh-TW" sz="1150" dirty="0">
                <a:solidFill>
                  <a:srgbClr val="1F2A44"/>
                </a:solidFill>
              </a:rPr>
              <a:t>每個資產類別派一個 reader，套 gl-recon 挑出超過容差的 break</a:t>
            </a:r>
          </a:p>
        </p:txBody>
      </p:sp>
      <p:sp>
        <p:nvSpPr>
          <p:cNvPr id="29" name="bulletBox">
            <a:extLst>
              <a:ext uri="{FF2B5EF4-FFF2-40B4-BE49-F238E27FC236}">
                <a16:creationId xmlns:a16="http://schemas.microsoft.com/office/drawing/2014/main" id="{6E3642B5-2D3A-AC60-2996-315B0543FB08}"/>
              </a:ext>
            </a:extLst>
          </p:cNvPr>
          <p:cNvSpPr txBox="1"/>
          <p:nvPr/>
        </p:nvSpPr>
        <p:spPr>
          <a:xfrm>
            <a:off x="4267200" y="4133401"/>
            <a:ext cx="3505200" cy="420893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根因追蹤：</a:t>
            </a:r>
            <a:r>
              <a:rPr lang="zh-TW" sz="1150" dirty="0">
                <a:solidFill>
                  <a:srgbClr val="1F2A44"/>
                </a:solidFill>
              </a:rPr>
              <a:t>對每個 break 拉底層分錄，用 break-trace 追到來源並分類</a:t>
            </a:r>
          </a:p>
        </p:txBody>
      </p:sp>
      <p:sp>
        <p:nvSpPr>
          <p:cNvPr id="30" name="bulletBox">
            <a:extLst>
              <a:ext uri="{FF2B5EF4-FFF2-40B4-BE49-F238E27FC236}">
                <a16:creationId xmlns:a16="http://schemas.microsoft.com/office/drawing/2014/main" id="{D277A106-C81A-5475-33FD-36CEE35A843E}"/>
              </a:ext>
            </a:extLst>
          </p:cNvPr>
          <p:cNvSpPr txBox="1"/>
          <p:nvPr/>
        </p:nvSpPr>
        <p:spPr>
          <a:xfrm>
            <a:off x="4267200" y="4984524"/>
            <a:ext cx="3505200" cy="431799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對抗式複核：</a:t>
            </a:r>
            <a:r>
              <a:rPr lang="zh-TW" sz="1150" dirty="0">
                <a:solidFill>
                  <a:srgbClr val="1F2A44"/>
                </a:solidFill>
              </a:rPr>
              <a:t>critic 子代理（唯讀）逐一重查、過濾誤報，只把真的往上送</a:t>
            </a:r>
          </a:p>
        </p:txBody>
      </p:sp>
      <p:sp>
        <p:nvSpPr>
          <p:cNvPr id="31" name="bulletBox">
            <a:extLst>
              <a:ext uri="{FF2B5EF4-FFF2-40B4-BE49-F238E27FC236}">
                <a16:creationId xmlns:a16="http://schemas.microsoft.com/office/drawing/2014/main" id="{7D8312CB-3A4D-7BDD-3390-77AD703EB6D1}"/>
              </a:ext>
            </a:extLst>
          </p:cNvPr>
          <p:cNvSpPr txBox="1"/>
          <p:nvPr/>
        </p:nvSpPr>
        <p:spPr>
          <a:xfrm>
            <a:off x="4284233" y="5842000"/>
            <a:ext cx="3505200" cy="420894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350"/>
              </a:lnSpc>
              <a:spcAft>
                <a:spcPts val="450"/>
              </a:spcAft>
              <a:buFont typeface="Arial"/>
              <a:buChar char="•"/>
            </a:pPr>
            <a:r>
              <a:rPr lang="zh-TW" sz="1150" b="1" dirty="0">
                <a:solidFill>
                  <a:srgbClr val="1B8EA6"/>
                </a:solidFill>
              </a:rPr>
              <a:t>報告生成：</a:t>
            </a:r>
            <a:r>
              <a:rPr lang="zh-TW" sz="1150" dirty="0">
                <a:solidFill>
                  <a:srgbClr val="1F2A44"/>
                </a:solidFill>
              </a:rPr>
              <a:t>唯一可寫的 resolver 用 audit-xls／xlsx-author 產可簽核例外報告</a:t>
            </a:r>
          </a:p>
        </p:txBody>
      </p:sp>
    </p:spTree>
    <p:extLst>
      <p:ext uri="{BB962C8B-B14F-4D97-AF65-F5344CB8AC3E}">
        <p14:creationId xmlns:p14="http://schemas.microsoft.com/office/powerpoint/2010/main" val="28614760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5E48F1-A2F8-47E0-A5FE-2A0A4621E7F5}"/>
              </a:ext>
            </a:extLst>
          </p:cNvPr>
          <p:cNvSpPr txBox="1"/>
          <p:nvPr/>
        </p:nvSpPr>
        <p:spPr>
          <a:xfrm>
            <a:off x="304800" y="228600"/>
            <a:ext cx="8128000" cy="6604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3400" b="1" dirty="0">
                <a:solidFill>
                  <a:srgbClr val="1B8EA6"/>
                </a:solidFill>
              </a:rPr>
              <a:t>Month-End Closer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350853C7-B415-4605-B74C-70BCCE94FF7F}"/>
              </a:ext>
            </a:extLst>
          </p:cNvPr>
          <p:cNvSpPr/>
          <p:nvPr/>
        </p:nvSpPr>
        <p:spPr>
          <a:xfrm>
            <a:off x="9042400" y="279400"/>
            <a:ext cx="2844800" cy="457200"/>
          </a:xfrm>
          <a:prstGeom prst="roundRect">
            <a:avLst/>
          </a:prstGeom>
          <a:solidFill>
            <a:srgbClr val="E8B5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000" b="1">
                <a:solidFill>
                  <a:srgbClr val="FFFFFF"/>
                </a:solidFill>
              </a:rPr>
              <a:t>適用對象：後台作業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D52DCAD0-41D8-4D43-810C-074FCB9FDFFC}"/>
              </a:ext>
            </a:extLst>
          </p:cNvPr>
          <p:cNvSpPr/>
          <p:nvPr/>
        </p:nvSpPr>
        <p:spPr>
          <a:xfrm>
            <a:off x="304800" y="1041400"/>
            <a:ext cx="1016000" cy="457200"/>
          </a:xfrm>
          <a:prstGeom prst="roundRect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600" b="1" dirty="0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5" name="descBox">
            <a:extLst>
              <a:ext uri="{FF2B5EF4-FFF2-40B4-BE49-F238E27FC236}">
                <a16:creationId xmlns:a16="http://schemas.microsoft.com/office/drawing/2014/main" id="{E306E6DB-1021-472A-AA85-781FA1A779E9}"/>
              </a:ext>
            </a:extLst>
          </p:cNvPr>
          <p:cNvSpPr txBox="1"/>
          <p:nvPr/>
        </p:nvSpPr>
        <p:spPr>
          <a:xfrm>
            <a:off x="1473200" y="10160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zh-TW" altLang="en-US" sz="1600" dirty="0">
                <a:solidFill>
                  <a:srgbClr val="1F2A44"/>
                </a:solidFill>
              </a:rPr>
              <a:t>月結作業助理，計算應計與結轉、說明科目差異，最終產出給控制員的月結包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480E125-5C2C-4518-AC2B-6E4F4BB2A821}"/>
              </a:ext>
            </a:extLst>
          </p:cNvPr>
          <p:cNvSpPr/>
          <p:nvPr/>
        </p:nvSpPr>
        <p:spPr>
          <a:xfrm>
            <a:off x="3048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 dirty="0">
                <a:solidFill>
                  <a:srgbClr val="FFFFFF"/>
                </a:solidFill>
              </a:rPr>
              <a:t>Agent </a:t>
            </a:r>
            <a:r>
              <a:rPr lang="zh-TW" altLang="en-US" sz="2200" b="1" dirty="0">
                <a:solidFill>
                  <a:srgbClr val="FFFFFF"/>
                </a:solidFill>
              </a:rPr>
              <a:t>運作流程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C2356A-14AC-4BC5-B13F-CABBA997CDD3}"/>
              </a:ext>
            </a:extLst>
          </p:cNvPr>
          <p:cNvSpPr/>
          <p:nvPr/>
        </p:nvSpPr>
        <p:spPr>
          <a:xfrm>
            <a:off x="42672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步驟說明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FEF3B04-6910-4E33-ADE5-0DE565053831}"/>
              </a:ext>
            </a:extLst>
          </p:cNvPr>
          <p:cNvSpPr/>
          <p:nvPr/>
        </p:nvSpPr>
        <p:spPr>
          <a:xfrm>
            <a:off x="82296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實際產出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1947C3D2-879E-4020-AFA6-574BF9B0AF04}"/>
              </a:ext>
            </a:extLst>
          </p:cNvPr>
          <p:cNvSpPr/>
          <p:nvPr/>
        </p:nvSpPr>
        <p:spPr>
          <a:xfrm>
            <a:off x="304800" y="2235200"/>
            <a:ext cx="3657600" cy="9271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1F381FE7-79B4-466E-891A-1E6443A75D51}"/>
              </a:ext>
            </a:extLst>
          </p:cNvPr>
          <p:cNvSpPr/>
          <p:nvPr/>
        </p:nvSpPr>
        <p:spPr>
          <a:xfrm>
            <a:off x="381000" y="2520950"/>
            <a:ext cx="355600" cy="355600"/>
          </a:xfrm>
          <a:prstGeom prst="ellipse">
            <a:avLst/>
          </a:prstGeom>
          <a:solidFill>
            <a:srgbClr val="00B05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step0">
            <a:extLst>
              <a:ext uri="{FF2B5EF4-FFF2-40B4-BE49-F238E27FC236}">
                <a16:creationId xmlns:a16="http://schemas.microsoft.com/office/drawing/2014/main" id="{D8EA4C21-C360-48B8-BCCA-31A91C4FD5BB}"/>
              </a:ext>
            </a:extLst>
          </p:cNvPr>
          <p:cNvSpPr txBox="1"/>
          <p:nvPr/>
        </p:nvSpPr>
        <p:spPr>
          <a:xfrm>
            <a:off x="838200" y="2235200"/>
            <a:ext cx="3048000" cy="927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拉出試算表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依指定公司與月份調出該月全科目餘額，當結帳起點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E4D06FEE-F20F-4C16-8A1C-72E4BE81197A}"/>
              </a:ext>
            </a:extLst>
          </p:cNvPr>
          <p:cNvSpPr/>
          <p:nvPr/>
        </p:nvSpPr>
        <p:spPr>
          <a:xfrm>
            <a:off x="304800" y="3289300"/>
            <a:ext cx="3657600" cy="9271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64FC7F29-C07F-4A28-BE6B-CC4AD712E9CD}"/>
              </a:ext>
            </a:extLst>
          </p:cNvPr>
          <p:cNvSpPr/>
          <p:nvPr/>
        </p:nvSpPr>
        <p:spPr>
          <a:xfrm>
            <a:off x="381000" y="357505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step1">
            <a:extLst>
              <a:ext uri="{FF2B5EF4-FFF2-40B4-BE49-F238E27FC236}">
                <a16:creationId xmlns:a16="http://schemas.microsoft.com/office/drawing/2014/main" id="{EA484A52-68D3-4812-ACBE-5F50373F736A}"/>
              </a:ext>
            </a:extLst>
          </p:cNvPr>
          <p:cNvSpPr txBox="1"/>
          <p:nvPr/>
        </p:nvSpPr>
        <p:spPr>
          <a:xfrm>
            <a:off x="838200" y="3289300"/>
            <a:ext cx="3048000" cy="927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算應計與結轉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估列應計、推算結轉，並驗算期初＋變動＝期末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34241FD-E4C5-4658-AEF9-685F75FEDD02}"/>
              </a:ext>
            </a:extLst>
          </p:cNvPr>
          <p:cNvSpPr/>
          <p:nvPr/>
        </p:nvSpPr>
        <p:spPr>
          <a:xfrm>
            <a:off x="304800" y="4343400"/>
            <a:ext cx="3657600" cy="9271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FE77734E-BF17-4528-8653-686EABB59FE0}"/>
              </a:ext>
            </a:extLst>
          </p:cNvPr>
          <p:cNvSpPr/>
          <p:nvPr/>
        </p:nvSpPr>
        <p:spPr>
          <a:xfrm>
            <a:off x="381000" y="462915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step2">
            <a:extLst>
              <a:ext uri="{FF2B5EF4-FFF2-40B4-BE49-F238E27FC236}">
                <a16:creationId xmlns:a16="http://schemas.microsoft.com/office/drawing/2014/main" id="{80F53066-C6A7-4EBD-B2A3-8815AEC43ECD}"/>
              </a:ext>
            </a:extLst>
          </p:cNvPr>
          <p:cNvSpPr txBox="1"/>
          <p:nvPr/>
        </p:nvSpPr>
        <p:spPr>
          <a:xfrm>
            <a:off x="838200" y="4343400"/>
            <a:ext cx="3048000" cy="927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說明差異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對變動較大科目從實際活動解釋原因，不硬湊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745C473F-0E25-4068-9239-57C173D228F8}"/>
              </a:ext>
            </a:extLst>
          </p:cNvPr>
          <p:cNvSpPr/>
          <p:nvPr/>
        </p:nvSpPr>
        <p:spPr>
          <a:xfrm>
            <a:off x="304800" y="5397500"/>
            <a:ext cx="3657600" cy="9271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97A6FD79-C8F5-4AEE-A75D-022EB4DF8832}"/>
              </a:ext>
            </a:extLst>
          </p:cNvPr>
          <p:cNvSpPr/>
          <p:nvPr/>
        </p:nvSpPr>
        <p:spPr>
          <a:xfrm>
            <a:off x="381000" y="568325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step3">
            <a:extLst>
              <a:ext uri="{FF2B5EF4-FFF2-40B4-BE49-F238E27FC236}">
                <a16:creationId xmlns:a16="http://schemas.microsoft.com/office/drawing/2014/main" id="{40A0DB60-99B4-42E8-B0D1-3AEE3E62A429}"/>
              </a:ext>
            </a:extLst>
          </p:cNvPr>
          <p:cNvSpPr txBox="1"/>
          <p:nvPr/>
        </p:nvSpPr>
        <p:spPr>
          <a:xfrm>
            <a:off x="838200" y="5397500"/>
            <a:ext cx="3048000" cy="927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組裝結帳包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檢查無誤後整理成結帳包，暫存等主管簽核</a:t>
            </a:r>
          </a:p>
        </p:txBody>
      </p:sp>
      <p:sp>
        <p:nvSpPr>
          <p:cNvPr id="21" name="bulletBox">
            <a:extLst>
              <a:ext uri="{FF2B5EF4-FFF2-40B4-BE49-F238E27FC236}">
                <a16:creationId xmlns:a16="http://schemas.microsoft.com/office/drawing/2014/main" id="{AFBF1E9B-2495-CE16-E27F-D247EA57AA87}"/>
              </a:ext>
            </a:extLst>
          </p:cNvPr>
          <p:cNvSpPr txBox="1"/>
          <p:nvPr/>
        </p:nvSpPr>
        <p:spPr>
          <a:xfrm>
            <a:off x="4368800" y="2520950"/>
            <a:ext cx="3505200" cy="51435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450"/>
              </a:lnSpc>
              <a:spcAft>
                <a:spcPts val="600"/>
              </a:spcAft>
              <a:buFont typeface="Arial"/>
              <a:buChar char="•"/>
            </a:pPr>
            <a:r>
              <a:rPr lang="zh-TW" sz="1200" b="1" dirty="0">
                <a:solidFill>
                  <a:srgbClr val="1B8EA6"/>
                </a:solidFill>
              </a:rPr>
              <a:t>總帳拉取：</a:t>
            </a:r>
            <a:r>
              <a:rPr lang="zh-TW" sz="1200" dirty="0">
                <a:solidFill>
                  <a:srgbClr val="1F2A44"/>
                </a:solidFill>
              </a:rPr>
              <a:t>透過 internal-gl MCP（唯讀）指定 entity 與 period 抓全科目餘額</a:t>
            </a:r>
          </a:p>
        </p:txBody>
      </p:sp>
      <p:sp>
        <p:nvSpPr>
          <p:cNvPr id="22" name="bulletBox">
            <a:extLst>
              <a:ext uri="{FF2B5EF4-FFF2-40B4-BE49-F238E27FC236}">
                <a16:creationId xmlns:a16="http://schemas.microsoft.com/office/drawing/2014/main" id="{3BE88371-0F29-43F8-AE38-C56290B8DA77}"/>
              </a:ext>
            </a:extLst>
          </p:cNvPr>
          <p:cNvSpPr txBox="1"/>
          <p:nvPr/>
        </p:nvSpPr>
        <p:spPr>
          <a:xfrm>
            <a:off x="4368800" y="3498850"/>
            <a:ext cx="35052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450"/>
              </a:lnSpc>
              <a:spcAft>
                <a:spcPts val="600"/>
              </a:spcAft>
              <a:buFont typeface="Arial"/>
              <a:buChar char="•"/>
            </a:pPr>
            <a:r>
              <a:rPr lang="zh-TW" sz="1200" b="1" dirty="0">
                <a:solidFill>
                  <a:srgbClr val="1B8EA6"/>
                </a:solidFill>
              </a:rPr>
              <a:t>建表＋驗算：</a:t>
            </a:r>
            <a:r>
              <a:rPr lang="zh-TW" sz="1200" dirty="0">
                <a:solidFill>
                  <a:srgbClr val="1F2A44"/>
                </a:solidFill>
              </a:rPr>
              <a:t>以 accrual-schedule、roll-forward 建表並內建 foot check 驗算對得上</a:t>
            </a:r>
          </a:p>
        </p:txBody>
      </p:sp>
      <p:sp>
        <p:nvSpPr>
          <p:cNvPr id="23" name="bulletBox">
            <a:extLst>
              <a:ext uri="{FF2B5EF4-FFF2-40B4-BE49-F238E27FC236}">
                <a16:creationId xmlns:a16="http://schemas.microsoft.com/office/drawing/2014/main" id="{C06628AC-671E-E2F8-D4B8-1AAC7809B082}"/>
              </a:ext>
            </a:extLst>
          </p:cNvPr>
          <p:cNvSpPr txBox="1"/>
          <p:nvPr/>
        </p:nvSpPr>
        <p:spPr>
          <a:xfrm>
            <a:off x="4362674" y="4616450"/>
            <a:ext cx="35052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450"/>
              </a:lnSpc>
              <a:spcAft>
                <a:spcPts val="600"/>
              </a:spcAft>
              <a:buFont typeface="Arial"/>
              <a:buChar char="•"/>
            </a:pPr>
            <a:r>
              <a:rPr lang="zh-TW" sz="1200" b="1" dirty="0">
                <a:solidFill>
                  <a:srgbClr val="1B8EA6"/>
                </a:solidFill>
              </a:rPr>
              <a:t>差異說明：</a:t>
            </a:r>
            <a:r>
              <a:rPr lang="zh-TW" sz="1200" dirty="0">
                <a:solidFill>
                  <a:srgbClr val="1F2A44"/>
                </a:solidFill>
              </a:rPr>
              <a:t>variance-commentary 對超過重大性門檻科目做 flux，原因不明就標示</a:t>
            </a:r>
          </a:p>
        </p:txBody>
      </p:sp>
      <p:sp>
        <p:nvSpPr>
          <p:cNvPr id="26" name="bulletBox">
            <a:extLst>
              <a:ext uri="{FF2B5EF4-FFF2-40B4-BE49-F238E27FC236}">
                <a16:creationId xmlns:a16="http://schemas.microsoft.com/office/drawing/2014/main" id="{441B78FE-E115-81AE-CDB9-2610BE893350}"/>
              </a:ext>
            </a:extLst>
          </p:cNvPr>
          <p:cNvSpPr txBox="1"/>
          <p:nvPr/>
        </p:nvSpPr>
        <p:spPr>
          <a:xfrm>
            <a:off x="4343400" y="5683250"/>
            <a:ext cx="3505200" cy="443902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450"/>
              </a:lnSpc>
              <a:spcAft>
                <a:spcPts val="600"/>
              </a:spcAft>
              <a:buFont typeface="Arial"/>
              <a:buChar char="•"/>
            </a:pPr>
            <a:r>
              <a:rPr lang="zh-TW" sz="1200" b="1" dirty="0">
                <a:solidFill>
                  <a:srgbClr val="1B8EA6"/>
                </a:solidFill>
              </a:rPr>
              <a:t>結帳包組裝：</a:t>
            </a:r>
            <a:r>
              <a:rPr lang="zh-TW" sz="1200" dirty="0">
                <a:solidFill>
                  <a:srgbClr val="1F2A44"/>
                </a:solidFill>
              </a:rPr>
              <a:t>由 poster 以 audit-xls／xlsx-author 組裝，agent 永不過帳</a:t>
            </a:r>
          </a:p>
        </p:txBody>
      </p:sp>
    </p:spTree>
    <p:extLst>
      <p:ext uri="{BB962C8B-B14F-4D97-AF65-F5344CB8AC3E}">
        <p14:creationId xmlns:p14="http://schemas.microsoft.com/office/powerpoint/2010/main" val="3692942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5E48F1-A2F8-47E0-A5FE-2A0A4621E7F5}"/>
              </a:ext>
            </a:extLst>
          </p:cNvPr>
          <p:cNvSpPr txBox="1"/>
          <p:nvPr/>
        </p:nvSpPr>
        <p:spPr>
          <a:xfrm>
            <a:off x="304800" y="228600"/>
            <a:ext cx="8128000" cy="6604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3400" b="1" dirty="0">
                <a:solidFill>
                  <a:srgbClr val="1B8EA6"/>
                </a:solidFill>
              </a:rPr>
              <a:t>Statement Auditor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350853C7-B415-4605-B74C-70BCCE94FF7F}"/>
              </a:ext>
            </a:extLst>
          </p:cNvPr>
          <p:cNvSpPr/>
          <p:nvPr/>
        </p:nvSpPr>
        <p:spPr>
          <a:xfrm>
            <a:off x="9042400" y="279400"/>
            <a:ext cx="2844800" cy="457200"/>
          </a:xfrm>
          <a:prstGeom prst="roundRect">
            <a:avLst/>
          </a:prstGeom>
          <a:solidFill>
            <a:srgbClr val="E8B5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000" b="1">
                <a:solidFill>
                  <a:srgbClr val="FFFFFF"/>
                </a:solidFill>
              </a:rPr>
              <a:t>適用對象：基金行政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D52DCAD0-41D8-4D43-810C-074FCB9FDFFC}"/>
              </a:ext>
            </a:extLst>
          </p:cNvPr>
          <p:cNvSpPr/>
          <p:nvPr/>
        </p:nvSpPr>
        <p:spPr>
          <a:xfrm>
            <a:off x="304800" y="1041400"/>
            <a:ext cx="1016000" cy="457200"/>
          </a:xfrm>
          <a:prstGeom prst="roundRect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600" b="1" dirty="0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5" name="descBox">
            <a:extLst>
              <a:ext uri="{FF2B5EF4-FFF2-40B4-BE49-F238E27FC236}">
                <a16:creationId xmlns:a16="http://schemas.microsoft.com/office/drawing/2014/main" id="{E306E6DB-1021-472A-AA85-781FA1A779E9}"/>
              </a:ext>
            </a:extLst>
          </p:cNvPr>
          <p:cNvSpPr txBox="1"/>
          <p:nvPr/>
        </p:nvSpPr>
        <p:spPr>
          <a:xfrm>
            <a:off x="1473200" y="10160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zh-TW" altLang="en-US" sz="1600" dirty="0">
                <a:solidFill>
                  <a:srgbClr val="1F2A44"/>
                </a:solidFill>
              </a:rPr>
              <a:t>對帳單稽核助理，出資人對帳單寄出前逐欄核對基金淨值，最終產出例外清單與放行建議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480E125-5C2C-4518-AC2B-6E4F4BB2A821}"/>
              </a:ext>
            </a:extLst>
          </p:cNvPr>
          <p:cNvSpPr/>
          <p:nvPr/>
        </p:nvSpPr>
        <p:spPr>
          <a:xfrm>
            <a:off x="3048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 dirty="0">
                <a:solidFill>
                  <a:srgbClr val="FFFFFF"/>
                </a:solidFill>
              </a:rPr>
              <a:t>Agent </a:t>
            </a:r>
            <a:r>
              <a:rPr lang="zh-TW" altLang="en-US" sz="2200" b="1" dirty="0">
                <a:solidFill>
                  <a:srgbClr val="FFFFFF"/>
                </a:solidFill>
              </a:rPr>
              <a:t>運作流程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C2356A-14AC-4BC5-B13F-CABBA997CDD3}"/>
              </a:ext>
            </a:extLst>
          </p:cNvPr>
          <p:cNvSpPr/>
          <p:nvPr/>
        </p:nvSpPr>
        <p:spPr>
          <a:xfrm>
            <a:off x="42672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步驟說明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FEF3B04-6910-4E33-ADE5-0DE565053831}"/>
              </a:ext>
            </a:extLst>
          </p:cNvPr>
          <p:cNvSpPr/>
          <p:nvPr/>
        </p:nvSpPr>
        <p:spPr>
          <a:xfrm>
            <a:off x="82296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實際產出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1947C3D2-879E-4020-AFA6-574BF9B0AF04}"/>
              </a:ext>
            </a:extLst>
          </p:cNvPr>
          <p:cNvSpPr/>
          <p:nvPr/>
        </p:nvSpPr>
        <p:spPr>
          <a:xfrm>
            <a:off x="304800" y="2235200"/>
            <a:ext cx="3657600" cy="10160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1F381FE7-79B4-466E-891A-1E6443A75D51}"/>
              </a:ext>
            </a:extLst>
          </p:cNvPr>
          <p:cNvSpPr/>
          <p:nvPr/>
        </p:nvSpPr>
        <p:spPr>
          <a:xfrm>
            <a:off x="381000" y="2565400"/>
            <a:ext cx="355600" cy="355600"/>
          </a:xfrm>
          <a:prstGeom prst="ellipse">
            <a:avLst/>
          </a:prstGeom>
          <a:solidFill>
            <a:srgbClr val="00B05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step0">
            <a:extLst>
              <a:ext uri="{FF2B5EF4-FFF2-40B4-BE49-F238E27FC236}">
                <a16:creationId xmlns:a16="http://schemas.microsoft.com/office/drawing/2014/main" id="{D8EA4C21-C360-48B8-BCCA-31A91C4FD5BB}"/>
              </a:ext>
            </a:extLst>
          </p:cNvPr>
          <p:cNvSpPr txBox="1"/>
          <p:nvPr/>
        </p:nvSpPr>
        <p:spPr>
          <a:xfrm>
            <a:off x="838200" y="2235200"/>
            <a:ext cx="3048000" cy="1016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讀對帳單</a:t>
            </a:r>
          </a:p>
          <a:p>
            <a:pPr>
              <a:lnSpc>
                <a:spcPts val="125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把每位出資人對帳單上回報的餘額讀出來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E4D06FEE-F20F-4C16-8A1C-72E4BE81197A}"/>
              </a:ext>
            </a:extLst>
          </p:cNvPr>
          <p:cNvSpPr/>
          <p:nvPr/>
        </p:nvSpPr>
        <p:spPr>
          <a:xfrm>
            <a:off x="304800" y="3771900"/>
            <a:ext cx="3657600" cy="10160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64FC7F29-C07F-4A28-BE6B-CC4AD712E9CD}"/>
              </a:ext>
            </a:extLst>
          </p:cNvPr>
          <p:cNvSpPr/>
          <p:nvPr/>
        </p:nvSpPr>
        <p:spPr>
          <a:xfrm>
            <a:off x="381000" y="410210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step1">
            <a:extLst>
              <a:ext uri="{FF2B5EF4-FFF2-40B4-BE49-F238E27FC236}">
                <a16:creationId xmlns:a16="http://schemas.microsoft.com/office/drawing/2014/main" id="{EA484A52-68D3-4812-ACBE-5F50373F736A}"/>
              </a:ext>
            </a:extLst>
          </p:cNvPr>
          <p:cNvSpPr txBox="1"/>
          <p:nvPr/>
        </p:nvSpPr>
        <p:spPr>
          <a:xfrm>
            <a:off x="838200" y="3771900"/>
            <a:ext cx="3048000" cy="1016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逐欄核對</a:t>
            </a:r>
          </a:p>
          <a:p>
            <a:pPr>
              <a:lnSpc>
                <a:spcPts val="125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拿每個欄位跟基金的官方淨值資料一一比對，是最核心的工作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34241FD-E4C5-4658-AEF9-685F75FEDD02}"/>
              </a:ext>
            </a:extLst>
          </p:cNvPr>
          <p:cNvSpPr/>
          <p:nvPr/>
        </p:nvSpPr>
        <p:spPr>
          <a:xfrm>
            <a:off x="304800" y="5308600"/>
            <a:ext cx="3657600" cy="10160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FE77734E-BF17-4528-8653-686EABB59FE0}"/>
              </a:ext>
            </a:extLst>
          </p:cNvPr>
          <p:cNvSpPr/>
          <p:nvPr/>
        </p:nvSpPr>
        <p:spPr>
          <a:xfrm>
            <a:off x="381000" y="563880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step2">
            <a:extLst>
              <a:ext uri="{FF2B5EF4-FFF2-40B4-BE49-F238E27FC236}">
                <a16:creationId xmlns:a16="http://schemas.microsoft.com/office/drawing/2014/main" id="{80F53066-C6A7-4EBD-B2A3-8815AEC43ECD}"/>
              </a:ext>
            </a:extLst>
          </p:cNvPr>
          <p:cNvSpPr txBox="1"/>
          <p:nvPr/>
        </p:nvSpPr>
        <p:spPr>
          <a:xfrm>
            <a:off x="838200" y="5308600"/>
            <a:ext cx="3048000" cy="1016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標出差異</a:t>
            </a:r>
          </a:p>
          <a:p>
            <a:pPr>
              <a:lnSpc>
                <a:spcPts val="125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把對不上的地方整理成例外清單，並給出可放行／需再查的建議</a:t>
            </a:r>
          </a:p>
        </p:txBody>
      </p:sp>
      <p:sp>
        <p:nvSpPr>
          <p:cNvPr id="18" name="bulletBox">
            <a:extLst>
              <a:ext uri="{FF2B5EF4-FFF2-40B4-BE49-F238E27FC236}">
                <a16:creationId xmlns:a16="http://schemas.microsoft.com/office/drawing/2014/main" id="{3BB87657-AF2B-F31E-2E77-C23EA544313B}"/>
              </a:ext>
            </a:extLst>
          </p:cNvPr>
          <p:cNvSpPr txBox="1"/>
          <p:nvPr/>
        </p:nvSpPr>
        <p:spPr>
          <a:xfrm>
            <a:off x="4267200" y="2464995"/>
            <a:ext cx="3505200" cy="685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600"/>
              </a:lnSpc>
              <a:spcAft>
                <a:spcPts val="900"/>
              </a:spcAft>
              <a:buFont typeface="Arial"/>
              <a:buChar char="•"/>
            </a:pPr>
            <a:r>
              <a:rPr lang="zh-TW" sz="1300" b="1" dirty="0">
                <a:solidFill>
                  <a:srgbClr val="1B8EA6"/>
                </a:solidFill>
              </a:rPr>
              <a:t>髒資料隔離：</a:t>
            </a:r>
            <a:r>
              <a:rPr lang="zh-TW" sz="1300" dirty="0">
                <a:solidFill>
                  <a:srgbClr val="1F2A44"/>
                </a:solidFill>
              </a:rPr>
              <a:t>由 statement-reader 子代理（只 Read／Grep、無 MCP）讀取，對帳單視為不可信外來資料，避免污染核對流程</a:t>
            </a:r>
          </a:p>
        </p:txBody>
      </p:sp>
      <p:sp>
        <p:nvSpPr>
          <p:cNvPr id="19" name="bulletBox">
            <a:extLst>
              <a:ext uri="{FF2B5EF4-FFF2-40B4-BE49-F238E27FC236}">
                <a16:creationId xmlns:a16="http://schemas.microsoft.com/office/drawing/2014/main" id="{95B9F959-B1B2-051F-DAD6-B29AA1B01A03}"/>
              </a:ext>
            </a:extLst>
          </p:cNvPr>
          <p:cNvSpPr txBox="1"/>
          <p:nvPr/>
        </p:nvSpPr>
        <p:spPr>
          <a:xfrm>
            <a:off x="4267200" y="3937000"/>
            <a:ext cx="3505200" cy="685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600"/>
              </a:lnSpc>
              <a:spcAft>
                <a:spcPts val="900"/>
              </a:spcAft>
              <a:buFont typeface="Arial"/>
              <a:buChar char="•"/>
            </a:pPr>
            <a:r>
              <a:rPr lang="zh-TW" sz="1300" b="1" dirty="0">
                <a:solidFill>
                  <a:srgbClr val="1B8EA6"/>
                </a:solidFill>
              </a:rPr>
              <a:t>逐欄比對即驗證：</a:t>
            </a:r>
            <a:r>
              <a:rPr lang="zh-TW" sz="1300" dirty="0">
                <a:solidFill>
                  <a:srgbClr val="1F2A44"/>
                </a:solidFill>
              </a:rPr>
              <a:t>透過 nav MCP（唯讀）以 nav-tieout 技能逐欄對 NAV pack 比對，tie-out 動作本身就是驗證</a:t>
            </a:r>
          </a:p>
        </p:txBody>
      </p:sp>
      <p:sp>
        <p:nvSpPr>
          <p:cNvPr id="20" name="bulletBox">
            <a:extLst>
              <a:ext uri="{FF2B5EF4-FFF2-40B4-BE49-F238E27FC236}">
                <a16:creationId xmlns:a16="http://schemas.microsoft.com/office/drawing/2014/main" id="{8DD14404-545D-0BE5-1CE1-E5BDAB332EE4}"/>
              </a:ext>
            </a:extLst>
          </p:cNvPr>
          <p:cNvSpPr txBox="1"/>
          <p:nvPr/>
        </p:nvSpPr>
        <p:spPr>
          <a:xfrm>
            <a:off x="4267200" y="5499100"/>
            <a:ext cx="3505200" cy="685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600"/>
              </a:lnSpc>
              <a:spcAft>
                <a:spcPts val="900"/>
              </a:spcAft>
              <a:buFont typeface="Arial"/>
              <a:buChar char="•"/>
            </a:pPr>
            <a:r>
              <a:rPr lang="zh-TW" sz="1300" b="1" dirty="0">
                <a:solidFill>
                  <a:srgbClr val="1B8EA6"/>
                </a:solidFill>
              </a:rPr>
              <a:t>例外清單產出：</a:t>
            </a:r>
            <a:r>
              <a:rPr lang="zh-TW" sz="1300" dirty="0">
                <a:solidFill>
                  <a:srgbClr val="1F2A44"/>
                </a:solidFill>
              </a:rPr>
              <a:t>由 flagger 把對不上的欄位整理成例外清單與簽核表，標註疑似原因與過／留建議</a:t>
            </a:r>
          </a:p>
        </p:txBody>
      </p:sp>
    </p:spTree>
    <p:extLst>
      <p:ext uri="{BB962C8B-B14F-4D97-AF65-F5344CB8AC3E}">
        <p14:creationId xmlns:p14="http://schemas.microsoft.com/office/powerpoint/2010/main" val="26239312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5E48F1-A2F8-47E0-A5FE-2A0A4621E7F5}"/>
              </a:ext>
            </a:extLst>
          </p:cNvPr>
          <p:cNvSpPr txBox="1"/>
          <p:nvPr/>
        </p:nvSpPr>
        <p:spPr>
          <a:xfrm>
            <a:off x="304800" y="228600"/>
            <a:ext cx="8128000" cy="6604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zh-TW" sz="3400" b="1" dirty="0">
                <a:solidFill>
                  <a:srgbClr val="1B8EA6"/>
                </a:solidFill>
              </a:rPr>
              <a:t>Valuation Reviewer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350853C7-B415-4605-B74C-70BCCE94FF7F}"/>
              </a:ext>
            </a:extLst>
          </p:cNvPr>
          <p:cNvSpPr/>
          <p:nvPr/>
        </p:nvSpPr>
        <p:spPr>
          <a:xfrm>
            <a:off x="9042400" y="279400"/>
            <a:ext cx="2844800" cy="457200"/>
          </a:xfrm>
          <a:prstGeom prst="roundRect">
            <a:avLst/>
          </a:prstGeom>
          <a:solidFill>
            <a:srgbClr val="E8B5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000" b="1">
                <a:solidFill>
                  <a:srgbClr val="FFFFFF"/>
                </a:solidFill>
              </a:rPr>
              <a:t>適用對象：基金行政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D52DCAD0-41D8-4D43-810C-074FCB9FDFFC}"/>
              </a:ext>
            </a:extLst>
          </p:cNvPr>
          <p:cNvSpPr/>
          <p:nvPr/>
        </p:nvSpPr>
        <p:spPr>
          <a:xfrm>
            <a:off x="304800" y="1041400"/>
            <a:ext cx="1016000" cy="457200"/>
          </a:xfrm>
          <a:prstGeom prst="roundRect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600" b="1" dirty="0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5" name="descBox">
            <a:extLst>
              <a:ext uri="{FF2B5EF4-FFF2-40B4-BE49-F238E27FC236}">
                <a16:creationId xmlns:a16="http://schemas.microsoft.com/office/drawing/2014/main" id="{E306E6DB-1021-472A-AA85-781FA1A779E9}"/>
              </a:ext>
            </a:extLst>
          </p:cNvPr>
          <p:cNvSpPr txBox="1"/>
          <p:nvPr/>
        </p:nvSpPr>
        <p:spPr>
          <a:xfrm>
            <a:off x="1473200" y="10160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zh-TW" altLang="en-US" sz="1600" dirty="0">
                <a:solidFill>
                  <a:srgbClr val="1F2A44"/>
                </a:solidFill>
              </a:rPr>
              <a:t>投組估值複核助理，季末複核投資標的估值並計算收益分配，最終產出給出資人的報告包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480E125-5C2C-4518-AC2B-6E4F4BB2A821}"/>
              </a:ext>
            </a:extLst>
          </p:cNvPr>
          <p:cNvSpPr/>
          <p:nvPr/>
        </p:nvSpPr>
        <p:spPr>
          <a:xfrm>
            <a:off x="3048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2200" b="1" dirty="0">
                <a:solidFill>
                  <a:srgbClr val="FFFFFF"/>
                </a:solidFill>
              </a:rPr>
              <a:t>Agent </a:t>
            </a:r>
            <a:r>
              <a:rPr lang="zh-TW" altLang="en-US" sz="2200" b="1" dirty="0">
                <a:solidFill>
                  <a:srgbClr val="FFFFFF"/>
                </a:solidFill>
              </a:rPr>
              <a:t>運作流程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C2356A-14AC-4BC5-B13F-CABBA997CDD3}"/>
              </a:ext>
            </a:extLst>
          </p:cNvPr>
          <p:cNvSpPr/>
          <p:nvPr/>
        </p:nvSpPr>
        <p:spPr>
          <a:xfrm>
            <a:off x="42672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步驟說明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FEF3B04-6910-4E33-ADE5-0DE565053831}"/>
              </a:ext>
            </a:extLst>
          </p:cNvPr>
          <p:cNvSpPr/>
          <p:nvPr/>
        </p:nvSpPr>
        <p:spPr>
          <a:xfrm>
            <a:off x="8229600" y="1752600"/>
            <a:ext cx="3657600" cy="381000"/>
          </a:xfrm>
          <a:prstGeom prst="rect">
            <a:avLst/>
          </a:prstGeom>
          <a:solidFill>
            <a:srgbClr val="1F2A4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zh-TW" altLang="en-US" sz="2200" b="1">
                <a:solidFill>
                  <a:srgbClr val="FFFFFF"/>
                </a:solidFill>
              </a:rPr>
              <a:t>實際產出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1947C3D2-879E-4020-AFA6-574BF9B0AF04}"/>
              </a:ext>
            </a:extLst>
          </p:cNvPr>
          <p:cNvSpPr/>
          <p:nvPr/>
        </p:nvSpPr>
        <p:spPr>
          <a:xfrm>
            <a:off x="304800" y="2235200"/>
            <a:ext cx="3657600" cy="9271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1F381FE7-79B4-466E-891A-1E6443A75D51}"/>
              </a:ext>
            </a:extLst>
          </p:cNvPr>
          <p:cNvSpPr/>
          <p:nvPr/>
        </p:nvSpPr>
        <p:spPr>
          <a:xfrm>
            <a:off x="381000" y="2520950"/>
            <a:ext cx="355600" cy="355600"/>
          </a:xfrm>
          <a:prstGeom prst="ellipse">
            <a:avLst/>
          </a:prstGeom>
          <a:solidFill>
            <a:srgbClr val="00B05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step0">
            <a:extLst>
              <a:ext uri="{FF2B5EF4-FFF2-40B4-BE49-F238E27FC236}">
                <a16:creationId xmlns:a16="http://schemas.microsoft.com/office/drawing/2014/main" id="{D8EA4C21-C360-48B8-BCCA-31A91C4FD5BB}"/>
              </a:ext>
            </a:extLst>
          </p:cNvPr>
          <p:cNvSpPr txBox="1"/>
          <p:nvPr/>
        </p:nvSpPr>
        <p:spPr>
          <a:xfrm>
            <a:off x="838200" y="2235200"/>
            <a:ext cx="3048000" cy="927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讀估值資料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從各被投資公司估值報告讀出回報的估值數字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E4D06FEE-F20F-4C16-8A1C-72E4BE81197A}"/>
              </a:ext>
            </a:extLst>
          </p:cNvPr>
          <p:cNvSpPr/>
          <p:nvPr/>
        </p:nvSpPr>
        <p:spPr>
          <a:xfrm>
            <a:off x="304800" y="3289300"/>
            <a:ext cx="3657600" cy="9271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64FC7F29-C07F-4A28-BE6B-CC4AD712E9CD}"/>
              </a:ext>
            </a:extLst>
          </p:cNvPr>
          <p:cNvSpPr/>
          <p:nvPr/>
        </p:nvSpPr>
        <p:spPr>
          <a:xfrm>
            <a:off x="381000" y="357505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step1">
            <a:extLst>
              <a:ext uri="{FF2B5EF4-FFF2-40B4-BE49-F238E27FC236}">
                <a16:creationId xmlns:a16="http://schemas.microsoft.com/office/drawing/2014/main" id="{EA484A52-68D3-4812-ACBE-5F50373F736A}"/>
              </a:ext>
            </a:extLst>
          </p:cNvPr>
          <p:cNvSpPr txBox="1"/>
          <p:nvPr/>
        </p:nvSpPr>
        <p:spPr>
          <a:xfrm>
            <a:off x="838200" y="3289300"/>
            <a:ext cx="3048000" cy="927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複核估值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拿數字對照公司估值政策，檢查合不合理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34241FD-E4C5-4658-AEF9-685F75FEDD02}"/>
              </a:ext>
            </a:extLst>
          </p:cNvPr>
          <p:cNvSpPr/>
          <p:nvPr/>
        </p:nvSpPr>
        <p:spPr>
          <a:xfrm>
            <a:off x="304800" y="4343400"/>
            <a:ext cx="3657600" cy="9271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FE77734E-BF17-4528-8653-686EABB59FE0}"/>
              </a:ext>
            </a:extLst>
          </p:cNvPr>
          <p:cNvSpPr/>
          <p:nvPr/>
        </p:nvSpPr>
        <p:spPr>
          <a:xfrm>
            <a:off x="381000" y="462915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step2">
            <a:extLst>
              <a:ext uri="{FF2B5EF4-FFF2-40B4-BE49-F238E27FC236}">
                <a16:creationId xmlns:a16="http://schemas.microsoft.com/office/drawing/2014/main" id="{80F53066-C6A7-4EBD-B2A3-8815AEC43ECD}"/>
              </a:ext>
            </a:extLst>
          </p:cNvPr>
          <p:cNvSpPr txBox="1"/>
          <p:nvPr/>
        </p:nvSpPr>
        <p:spPr>
          <a:xfrm>
            <a:off x="838200" y="4343400"/>
            <a:ext cx="3048000" cy="927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計算收益分配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算基金淨值、carry 與每位 LP 分得多少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745C473F-0E25-4068-9239-57C173D228F8}"/>
              </a:ext>
            </a:extLst>
          </p:cNvPr>
          <p:cNvSpPr/>
          <p:nvPr/>
        </p:nvSpPr>
        <p:spPr>
          <a:xfrm>
            <a:off x="304800" y="5397500"/>
            <a:ext cx="3657600" cy="927100"/>
          </a:xfrm>
          <a:prstGeom prst="roundRect">
            <a:avLst/>
          </a:prstGeom>
          <a:solidFill>
            <a:srgbClr val="EEF1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97A6FD79-C8F5-4AEE-A75D-022EB4DF8832}"/>
              </a:ext>
            </a:extLst>
          </p:cNvPr>
          <p:cNvSpPr/>
          <p:nvPr/>
        </p:nvSpPr>
        <p:spPr>
          <a:xfrm>
            <a:off x="381000" y="5683250"/>
            <a:ext cx="355600" cy="355600"/>
          </a:xfrm>
          <a:prstGeom prst="ellipse">
            <a:avLst/>
          </a:prstGeom>
          <a:solidFill>
            <a:srgbClr val="00B0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altLang="zh-TW"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step3">
            <a:extLst>
              <a:ext uri="{FF2B5EF4-FFF2-40B4-BE49-F238E27FC236}">
                <a16:creationId xmlns:a16="http://schemas.microsoft.com/office/drawing/2014/main" id="{40A0DB60-99B4-42E8-B0D1-3AEE3E62A429}"/>
              </a:ext>
            </a:extLst>
          </p:cNvPr>
          <p:cNvSpPr txBox="1"/>
          <p:nvPr/>
        </p:nvSpPr>
        <p:spPr>
          <a:xfrm>
            <a:off x="838200" y="5397500"/>
            <a:ext cx="3048000" cy="927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F2A44"/>
                </a:solidFill>
              </a:rPr>
              <a:t>備妥出資人報告</a:t>
            </a:r>
          </a:p>
          <a:p>
            <a:pPr>
              <a:lnSpc>
                <a:spcPts val="1200"/>
              </a:lnSpc>
              <a:spcBef>
                <a:spcPts val="200"/>
              </a:spcBef>
              <a:buNone/>
            </a:pPr>
            <a:r>
              <a:rPr lang="zh-TW" sz="1100" dirty="0">
                <a:solidFill>
                  <a:srgbClr val="8A93A6"/>
                </a:solidFill>
              </a:rPr>
              <a:t>整理成 LP 報告包，待 IR＋CCO 簽核</a:t>
            </a:r>
          </a:p>
        </p:txBody>
      </p:sp>
      <p:sp>
        <p:nvSpPr>
          <p:cNvPr id="21" name="bulletBox">
            <a:extLst>
              <a:ext uri="{FF2B5EF4-FFF2-40B4-BE49-F238E27FC236}">
                <a16:creationId xmlns:a16="http://schemas.microsoft.com/office/drawing/2014/main" id="{39D149DA-6193-46F2-388E-09EC7BFA8467}"/>
              </a:ext>
            </a:extLst>
          </p:cNvPr>
          <p:cNvSpPr txBox="1"/>
          <p:nvPr/>
        </p:nvSpPr>
        <p:spPr>
          <a:xfrm>
            <a:off x="4343400" y="2362200"/>
            <a:ext cx="3505200" cy="61595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450"/>
              </a:lnSpc>
              <a:spcAft>
                <a:spcPts val="600"/>
              </a:spcAft>
              <a:buFont typeface="Arial"/>
              <a:buChar char="•"/>
            </a:pPr>
            <a:r>
              <a:rPr lang="zh-TW" sz="1200" b="1" dirty="0">
                <a:solidFill>
                  <a:srgbClr val="1B8EA6"/>
                </a:solidFill>
              </a:rPr>
              <a:t>隔離讀取：</a:t>
            </a:r>
            <a:r>
              <a:rPr lang="zh-TW" sz="1200" dirty="0">
                <a:solidFill>
                  <a:srgbClr val="1F2A44"/>
                </a:solidFill>
              </a:rPr>
              <a:t>由 package-reader（只讀／搜尋、無 MCP）解析估值輸入，GP 包屬不可信故隔離</a:t>
            </a:r>
          </a:p>
        </p:txBody>
      </p:sp>
      <p:sp>
        <p:nvSpPr>
          <p:cNvPr id="22" name="bulletBox">
            <a:extLst>
              <a:ext uri="{FF2B5EF4-FFF2-40B4-BE49-F238E27FC236}">
                <a16:creationId xmlns:a16="http://schemas.microsoft.com/office/drawing/2014/main" id="{9D190162-B64C-BC19-F8A4-25D6A2F152BC}"/>
              </a:ext>
            </a:extLst>
          </p:cNvPr>
          <p:cNvSpPr txBox="1"/>
          <p:nvPr/>
        </p:nvSpPr>
        <p:spPr>
          <a:xfrm>
            <a:off x="4343400" y="3405766"/>
            <a:ext cx="3505200" cy="61595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450"/>
              </a:lnSpc>
              <a:spcAft>
                <a:spcPts val="600"/>
              </a:spcAft>
              <a:buFont typeface="Arial"/>
              <a:buChar char="•"/>
            </a:pPr>
            <a:r>
              <a:rPr lang="zh-TW" sz="1200" b="1" dirty="0">
                <a:solidFill>
                  <a:srgbClr val="1B8EA6"/>
                </a:solidFill>
              </a:rPr>
              <a:t>對照政策複核：</a:t>
            </a:r>
            <a:r>
              <a:rPr lang="zh-TW" sz="1200" dirty="0">
                <a:solidFill>
                  <a:srgbClr val="1F2A44"/>
                </a:solidFill>
              </a:rPr>
              <a:t>透過 portfolio MCP（唯讀）以 returns-analysis、portfolio-monitoring 把 marks 對照政策</a:t>
            </a:r>
          </a:p>
        </p:txBody>
      </p:sp>
      <p:sp>
        <p:nvSpPr>
          <p:cNvPr id="23" name="bulletBox">
            <a:extLst>
              <a:ext uri="{FF2B5EF4-FFF2-40B4-BE49-F238E27FC236}">
                <a16:creationId xmlns:a16="http://schemas.microsoft.com/office/drawing/2014/main" id="{BF8D7B40-1B55-4174-9715-5184E2711B7C}"/>
              </a:ext>
            </a:extLst>
          </p:cNvPr>
          <p:cNvSpPr txBox="1"/>
          <p:nvPr/>
        </p:nvSpPr>
        <p:spPr>
          <a:xfrm>
            <a:off x="4368800" y="4553174"/>
            <a:ext cx="3505200" cy="554766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450"/>
              </a:lnSpc>
              <a:spcAft>
                <a:spcPts val="600"/>
              </a:spcAft>
              <a:buFont typeface="Arial"/>
              <a:buChar char="•"/>
            </a:pPr>
            <a:r>
              <a:rPr lang="zh-TW" sz="1200" b="1" dirty="0">
                <a:solidFill>
                  <a:srgbClr val="1B8EA6"/>
                </a:solidFill>
              </a:rPr>
              <a:t>收益分配計算：</a:t>
            </a:r>
            <a:r>
              <a:rPr lang="zh-TW" sz="1200" dirty="0">
                <a:solidFill>
                  <a:srgbClr val="1F2A44"/>
                </a:solidFill>
              </a:rPr>
              <a:t>計算基金層 NAV、績效分成（carry）與 LP 分配（ic-memo）</a:t>
            </a:r>
          </a:p>
        </p:txBody>
      </p:sp>
      <p:sp>
        <p:nvSpPr>
          <p:cNvPr id="26" name="bulletBox">
            <a:extLst>
              <a:ext uri="{FF2B5EF4-FFF2-40B4-BE49-F238E27FC236}">
                <a16:creationId xmlns:a16="http://schemas.microsoft.com/office/drawing/2014/main" id="{41947279-BFAD-09CE-287B-8FEA77D632DC}"/>
              </a:ext>
            </a:extLst>
          </p:cNvPr>
          <p:cNvSpPr txBox="1"/>
          <p:nvPr/>
        </p:nvSpPr>
        <p:spPr>
          <a:xfrm>
            <a:off x="4343400" y="5589719"/>
            <a:ext cx="3505200" cy="446442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ts val="1450"/>
              </a:lnSpc>
              <a:spcAft>
                <a:spcPts val="600"/>
              </a:spcAft>
              <a:buFont typeface="Arial"/>
              <a:buChar char="•"/>
            </a:pPr>
            <a:r>
              <a:rPr lang="zh-TW" sz="1200" b="1" dirty="0">
                <a:solidFill>
                  <a:srgbClr val="1B8EA6"/>
                </a:solidFill>
              </a:rPr>
              <a:t>報告生成備審：</a:t>
            </a:r>
            <a:r>
              <a:rPr lang="zh-TW" sz="1200" dirty="0">
                <a:solidFill>
                  <a:srgbClr val="1F2A44"/>
                </a:solidFill>
              </a:rPr>
              <a:t>交由 publisher 以 xlsx-author 備妥 LP 報告包，IR＋CCO 簽核後才分送</a:t>
            </a:r>
          </a:p>
        </p:txBody>
      </p:sp>
    </p:spTree>
    <p:extLst>
      <p:ext uri="{BB962C8B-B14F-4D97-AF65-F5344CB8AC3E}">
        <p14:creationId xmlns:p14="http://schemas.microsoft.com/office/powerpoint/2010/main" val="21324243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8207B8-D7EA-C5EC-7526-56E02614A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結語 </a:t>
            </a:r>
            <a:r>
              <a:rPr lang="en-US" altLang="zh-TW"/>
              <a:t>· </a:t>
            </a:r>
            <a:r>
              <a:rPr lang="zh-TW" altLang="en-US"/>
              <a:t>設計理念</a:t>
            </a:r>
          </a:p>
        </p:txBody>
      </p:sp>
      <p:sp>
        <p:nvSpPr>
          <p:cNvPr id="900" name="b"/>
          <p:cNvSpPr/>
          <p:nvPr/>
        </p:nvSpPr>
        <p:spPr>
          <a:xfrm>
            <a:off x="457200" y="1752600"/>
            <a:ext cx="11277600" cy="11684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txBody>
          <a:bodyPr lIns="114300" tIns="91440" rIns="91440" bIns="91440" anchor="ctr"/>
          <a:lstStyle/>
          <a:p>
            <a:pPr algn="ctr"/>
            <a:r>
              <a:rPr lang="zh-TW" sz="2000" b="1" dirty="0">
                <a:solidFill>
                  <a:srgbClr val="FFFFFF"/>
                </a:solidFill>
              </a:rPr>
              <a:t>十個 Agent —— 覆蓋一家金融公司</a:t>
            </a:r>
          </a:p>
          <a:p>
            <a:pPr algn="ctr">
              <a:spcBef>
                <a:spcPts val="300"/>
              </a:spcBef>
            </a:pPr>
            <a:r>
              <a:rPr lang="zh-TW" sz="2000" b="1" dirty="0">
                <a:solidFill>
                  <a:srgbClr val="FFFFFF"/>
                </a:solidFill>
              </a:rPr>
              <a:t>從「贏得業務 → 開戶 → 基金營運 → 對出資人交代」的完整生命週期</a:t>
            </a:r>
          </a:p>
        </p:txBody>
      </p:sp>
      <p:sp>
        <p:nvSpPr>
          <p:cNvPr id="901" name="b"/>
          <p:cNvSpPr/>
          <p:nvPr/>
        </p:nvSpPr>
        <p:spPr>
          <a:xfrm>
            <a:off x="457200" y="3251200"/>
            <a:ext cx="5461000" cy="2006600"/>
          </a:xfrm>
          <a:prstGeom prst="rect">
            <a:avLst/>
          </a:prstGeom>
          <a:solidFill>
            <a:srgbClr val="EEF2FA"/>
          </a:solidFill>
          <a:ln w="9525">
            <a:solidFill>
              <a:srgbClr val="1B8EA6">
                <a:alpha val="45000"/>
              </a:srgbClr>
            </a:solidFill>
          </a:ln>
        </p:spPr>
        <p:txBody>
          <a:bodyPr lIns="114300" tIns="91440" rIns="91440" bIns="91440" anchor="ctr"/>
          <a:lstStyle/>
          <a:p>
            <a:r>
              <a:rPr lang="zh-TW" sz="1500" b="1" dirty="0">
                <a:solidFill>
                  <a:srgbClr val="1B8EA6"/>
                </a:solidFill>
              </a:rPr>
              <a:t>原則一</a:t>
            </a:r>
          </a:p>
          <a:p>
            <a:pPr>
              <a:spcBef>
                <a:spcPts val="400"/>
              </a:spcBef>
            </a:pPr>
            <a:r>
              <a:rPr lang="zh-TW" sz="2000" b="1" dirty="0">
                <a:solidFill>
                  <a:srgbClr val="1F2A44"/>
                </a:solidFill>
              </a:rPr>
              <a:t>風險越高,隔離越嚴</a:t>
            </a:r>
          </a:p>
          <a:p>
            <a:pPr>
              <a:spcBef>
                <a:spcPts val="600"/>
              </a:spcBef>
            </a:pPr>
            <a:r>
              <a:rPr lang="zh-TW" sz="1500" dirty="0">
                <a:solidFill>
                  <a:srgbClr val="33405C"/>
                </a:solidFill>
              </a:rPr>
              <a:t>前台／研究放寬,主代理可直接寫入檔案;後台／合規嚴格,主代理一律無寫入檔案。</a:t>
            </a:r>
          </a:p>
        </p:txBody>
      </p:sp>
      <p:sp>
        <p:nvSpPr>
          <p:cNvPr id="902" name="b"/>
          <p:cNvSpPr/>
          <p:nvPr/>
        </p:nvSpPr>
        <p:spPr>
          <a:xfrm>
            <a:off x="6273800" y="3251200"/>
            <a:ext cx="5461000" cy="2006600"/>
          </a:xfrm>
          <a:prstGeom prst="rect">
            <a:avLst/>
          </a:prstGeom>
          <a:solidFill>
            <a:srgbClr val="F7EBED"/>
          </a:solidFill>
          <a:ln w="9525">
            <a:solidFill>
              <a:srgbClr val="D5526A">
                <a:alpha val="45000"/>
              </a:srgbClr>
            </a:solidFill>
          </a:ln>
        </p:spPr>
        <p:txBody>
          <a:bodyPr lIns="114300" tIns="91440" rIns="91440" bIns="91440" anchor="ctr"/>
          <a:lstStyle/>
          <a:p>
            <a:r>
              <a:rPr lang="zh-TW" sz="1500" b="1" dirty="0">
                <a:solidFill>
                  <a:srgbClr val="D5526A"/>
                </a:solidFill>
              </a:rPr>
              <a:t>原則二</a:t>
            </a:r>
          </a:p>
          <a:p>
            <a:pPr>
              <a:spcBef>
                <a:spcPts val="400"/>
              </a:spcBef>
            </a:pPr>
            <a:r>
              <a:rPr lang="zh-TW" sz="2000" b="1" dirty="0">
                <a:solidFill>
                  <a:srgbClr val="1F2A44"/>
                </a:solidFill>
              </a:rPr>
              <a:t>人,永遠是最後一關</a:t>
            </a:r>
          </a:p>
          <a:p>
            <a:pPr>
              <a:spcBef>
                <a:spcPts val="600"/>
              </a:spcBef>
            </a:pPr>
            <a:r>
              <a:rPr lang="zh-TW" sz="1500" dirty="0">
                <a:solidFill>
                  <a:srgbClr val="33405C"/>
                </a:solidFill>
              </a:rPr>
              <a:t>所有 agent 只起草／建議,從不自決 —— 開戶、過帳、發布、分送皆由人簽核。</a:t>
            </a:r>
          </a:p>
        </p:txBody>
      </p:sp>
      <p:sp>
        <p:nvSpPr>
          <p:cNvPr id="903" name="b"/>
          <p:cNvSpPr/>
          <p:nvPr/>
        </p:nvSpPr>
        <p:spPr>
          <a:xfrm>
            <a:off x="457200" y="5537200"/>
            <a:ext cx="11277600" cy="508000"/>
          </a:xfrm>
          <a:prstGeom prst="rect">
            <a:avLst/>
          </a:prstGeom>
          <a:noFill/>
          <a:ln>
            <a:noFill/>
          </a:ln>
        </p:spPr>
        <p:txBody>
          <a:bodyPr lIns="0" tIns="91440" rIns="91440" bIns="91440" anchor="ctr"/>
          <a:lstStyle/>
          <a:p>
            <a:pPr algn="ctr"/>
            <a:r>
              <a:rPr lang="zh-TW" sz="1400" dirty="0">
                <a:solidFill>
                  <a:srgbClr val="5B6B8C"/>
                </a:solidFill>
              </a:rPr>
              <a:t>每個 Agent 的完整 工作流程／風險把關／技術架構/上線清單,見同資料夾各別 .md 文件</a:t>
            </a:r>
          </a:p>
        </p:txBody>
      </p:sp>
    </p:spTree>
    <p:extLst>
      <p:ext uri="{BB962C8B-B14F-4D97-AF65-F5344CB8AC3E}">
        <p14:creationId xmlns:p14="http://schemas.microsoft.com/office/powerpoint/2010/main" val="1439738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 [1781699526319]">
  <a:themeElements>
    <a:clrScheme name="Office">
      <a:dk1>
        <a:srgbClr val="1F2A44"/>
      </a:dk1>
      <a:lt1>
        <a:srgbClr val="FFFFFF"/>
      </a:lt1>
      <a:dk2>
        <a:srgbClr val="33405C"/>
      </a:dk2>
      <a:lt2>
        <a:srgbClr val="EEF1F6"/>
      </a:lt2>
      <a:accent1>
        <a:srgbClr val="1B8EA6"/>
      </a:accent1>
      <a:accent2>
        <a:srgbClr val="34A56E"/>
      </a:accent2>
      <a:accent3>
        <a:srgbClr val="4FB4D6"/>
      </a:accent3>
      <a:accent4>
        <a:srgbClr val="2F9D87"/>
      </a:accent4>
      <a:accent5>
        <a:srgbClr val="213A5C"/>
      </a:accent5>
      <a:accent6>
        <a:srgbClr val="E8B547"/>
      </a:accent6>
      <a:hlink>
        <a:srgbClr val="1B8EA6"/>
      </a:hlink>
      <a:folHlink>
        <a:srgbClr val="5B6B8C"/>
      </a:folHlink>
    </a:clrScheme>
    <a:fontScheme name="Office">
      <a:majorFont>
        <a:latin typeface="Calibri" panose="02110004020202020204"/>
        <a:ea typeface="微軟正黑體"/>
        <a:cs typeface=""/>
        <a:font script="Jpan" typeface="游ゴシック Light"/>
        <a:font script="Hang" typeface="맑은 고딕"/>
        <a:font script="Hans" typeface="微軟正黑體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微軟正黑體"/>
        <a:cs typeface=""/>
        <a:font script="Jpan" typeface="游ゴシック"/>
        <a:font script="Hang" typeface="맑은 고딕"/>
        <a:font script="Hans" typeface="微軟正黑體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E9E00C8-88C5-4361-800A-68EC200AE0B0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f420b967-1518-4d0a-bed5-3ff2ba27064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4182</Words>
  <Application>Microsoft Office PowerPoint</Application>
  <PresentationFormat>寬螢幕</PresentationFormat>
  <Paragraphs>462</Paragraphs>
  <Slides>22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佈景主題 [1781699526319]</vt:lpstr>
      <vt:lpstr>一套金融 AI Agent 班底</vt:lpstr>
      <vt:lpstr>第一段　高層總覽</vt:lpstr>
      <vt:lpstr>PowerPoint 簡報</vt:lpstr>
      <vt:lpstr>一個商業故事:晨曦資本的一季</vt:lpstr>
      <vt:lpstr>兩條設計規律</vt:lpstr>
      <vt:lpstr>第二段　技術概要</vt:lpstr>
      <vt:lpstr>一個來源,兩個輸出</vt:lpstr>
      <vt:lpstr>Claude外掛　vs　雲端託管</vt:lpstr>
      <vt:lpstr>十個 Agent 各需要哪些 外部系統連接器</vt:lpstr>
      <vt:lpstr>佈署與維護</vt:lpstr>
      <vt:lpstr>第三段　十個 Agent 重點摘要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結語 · 設計理念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a802216 arthur</dc:creator>
  <cp:lastModifiedBy>a802216 arthur</cp:lastModifiedBy>
  <cp:revision>6</cp:revision>
  <dcterms:created xsi:type="dcterms:W3CDTF">2026-06-16T08:59:37Z</dcterms:created>
  <dcterms:modified xsi:type="dcterms:W3CDTF">2026-06-18T02:17:08Z</dcterms:modified>
</cp:coreProperties>
</file>